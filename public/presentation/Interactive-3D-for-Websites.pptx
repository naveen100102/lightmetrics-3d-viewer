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251a2767f2943ba" /><Relationship Type="http://schemas.openxmlformats.org/officeDocument/2006/relationships/extended-properties" Target="/docProps/app.xml" Id="Rd6461d4c5f1f4c77" /><Relationship Type="http://schemas.openxmlformats.org/officeDocument/2006/relationships/officeDocument" Target="/ppt/presentation.xml" Id="R9371e6882c2c45f7" /></Relationships>
</file>

<file path=ppt/presentation.xml><?xml version="1.0" encoding="utf-8"?>
<p:presentation xmlns:p="http://schemas.openxmlformats.org/presentationml/2006/main">
  <p:sldMasterIdLst>
    <p:sldMasterId xmlns:r="http://schemas.openxmlformats.org/officeDocument/2006/relationships" id="2147483648" r:id="R62af892fe8c140de"/>
  </p:sldMasterIdLst>
  <p:notesMasterIdLst>
    <p:notesMasterId xmlns:r="http://schemas.openxmlformats.org/officeDocument/2006/relationships" r:id="R71f9a5891d3041d5"/>
  </p:notesMasterIdLst>
  <p:sldIdLst>
    <p:sldId xmlns:r="http://schemas.openxmlformats.org/officeDocument/2006/relationships" id="256" r:id="R28d688d9675b46e7"/>
    <p:sldId xmlns:r="http://schemas.openxmlformats.org/officeDocument/2006/relationships" id="257" r:id="Ra923a0abe8cb41b9"/>
    <p:sldId xmlns:r="http://schemas.openxmlformats.org/officeDocument/2006/relationships" id="258" r:id="Rd98f5b5800fd4806"/>
    <p:sldId xmlns:r="http://schemas.openxmlformats.org/officeDocument/2006/relationships" id="259" r:id="R3e0f329020ba4b35"/>
    <p:sldId xmlns:r="http://schemas.openxmlformats.org/officeDocument/2006/relationships" id="260" r:id="Ra5562da869c542cc"/>
    <p:sldId xmlns:r="http://schemas.openxmlformats.org/officeDocument/2006/relationships" id="261" r:id="Rd78ff2d68fa04629"/>
    <p:sldId xmlns:r="http://schemas.openxmlformats.org/officeDocument/2006/relationships" id="262" r:id="R129becc54f2e4d0b"/>
    <p:sldId xmlns:r="http://schemas.openxmlformats.org/officeDocument/2006/relationships" id="263" r:id="Rc8fddadbc8d349c9"/>
    <p:sldId xmlns:r="http://schemas.openxmlformats.org/officeDocument/2006/relationships" id="264" r:id="R3772357ec4d9404e"/>
    <p:sldId xmlns:r="http://schemas.openxmlformats.org/officeDocument/2006/relationships" id="265" r:id="Rc7df4fee3d074ead"/>
    <p:sldId xmlns:r="http://schemas.openxmlformats.org/officeDocument/2006/relationships" id="266" r:id="R2bff10d005354a4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835a44ca8884290" /><Relationship Type="http://schemas.openxmlformats.org/officeDocument/2006/relationships/slideMaster" Target="/ppt/slideMasters/slideMaster1.xml" Id="R62af892fe8c140de" /><Relationship Type="http://schemas.openxmlformats.org/officeDocument/2006/relationships/notesMaster" Target="/ppt/notesMasters/notesMaster1.xml" Id="R71f9a5891d3041d5" /><Relationship Type="http://schemas.openxmlformats.org/officeDocument/2006/relationships/presProps" Target="/ppt/presProps.xml" Id="R184aa7bda84c4e62" /><Relationship Type="http://schemas.openxmlformats.org/officeDocument/2006/relationships/tableStyles" Target="/ppt/tableStyles.xml" Id="Rda4eb2a1d1a44365" /><Relationship Type="http://schemas.openxmlformats.org/officeDocument/2006/relationships/slide" Target="/ppt/slides/slide1.xml" Id="R28d688d9675b46e7" /><Relationship Type="http://schemas.openxmlformats.org/officeDocument/2006/relationships/slide" Target="/ppt/slides/slide2.xml" Id="Ra923a0abe8cb41b9" /><Relationship Type="http://schemas.openxmlformats.org/officeDocument/2006/relationships/slide" Target="/ppt/slides/slide3.xml" Id="Rd98f5b5800fd4806" /><Relationship Type="http://schemas.openxmlformats.org/officeDocument/2006/relationships/slide" Target="/ppt/slides/slide4.xml" Id="R3e0f329020ba4b35" /><Relationship Type="http://schemas.openxmlformats.org/officeDocument/2006/relationships/slide" Target="/ppt/slides/slide5.xml" Id="Ra5562da869c542cc" /><Relationship Type="http://schemas.openxmlformats.org/officeDocument/2006/relationships/slide" Target="/ppt/slides/slide6.xml" Id="Rd78ff2d68fa04629" /><Relationship Type="http://schemas.openxmlformats.org/officeDocument/2006/relationships/slide" Target="/ppt/slides/slide7.xml" Id="R129becc54f2e4d0b" /><Relationship Type="http://schemas.openxmlformats.org/officeDocument/2006/relationships/slide" Target="/ppt/slides/slide8.xml" Id="Rc8fddadbc8d349c9" /><Relationship Type="http://schemas.openxmlformats.org/officeDocument/2006/relationships/slide" Target="/ppt/slides/slide9.xml" Id="R3772357ec4d9404e" /><Relationship Type="http://schemas.openxmlformats.org/officeDocument/2006/relationships/slide" Target="/ppt/slides/slide10.xml" Id="Rc7df4fee3d074ead" /><Relationship Type="http://schemas.openxmlformats.org/officeDocument/2006/relationships/slide" Target="/ppt/slides/slide11.xml" Id="R2bff10d005354a4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1a9275b9394ca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04103a70bb442be" /><Relationship Type="http://schemas.openxmlformats.org/officeDocument/2006/relationships/notesMaster" Target="/ppt/notesMasters/notesMaster1.xml" Id="Rc619e1bfd77142b2" /></Relationships>
</file>

<file path=ppt/notesSlides/_rels/notesSlide2.xml.rels>&#65279;<?xml version="1.0" encoding="utf-8"?><Relationships xmlns="http://schemas.openxmlformats.org/package/2006/relationships"><Relationship Type="http://schemas.openxmlformats.org/officeDocument/2006/relationships/slide" Target="/ppt/slides/slide2.xml" Id="R6920b9c6167a4a5b" /><Relationship Type="http://schemas.openxmlformats.org/officeDocument/2006/relationships/notesMaster" Target="/ppt/notesMasters/notesMaster1.xml" Id="R8ba3c45306044d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ff74bbf91ea4b7e" /><Relationship Type="http://schemas.openxmlformats.org/officeDocument/2006/relationships/notesMaster" Target="/ppt/notesMasters/notesMaster1.xml" Id="R4d95ac6903114c2b" /></Relationships>
</file>

<file path=ppt/notesSlides/_rels/notesSlide4.xml.rels>&#65279;<?xml version="1.0" encoding="utf-8"?><Relationships xmlns="http://schemas.openxmlformats.org/package/2006/relationships"><Relationship Type="http://schemas.openxmlformats.org/officeDocument/2006/relationships/slide" Target="/ppt/slides/slide4.xml" Id="R7fa09e847f9949e7" /><Relationship Type="http://schemas.openxmlformats.org/officeDocument/2006/relationships/notesMaster" Target="/ppt/notesMasters/notesMaster1.xml" Id="Rb232b3ae83fc42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b45abf1d124934" /><Relationship Type="http://schemas.openxmlformats.org/officeDocument/2006/relationships/notesMaster" Target="/ppt/notesMasters/notesMaster1.xml" Id="Ra9756f813fbe4d5e" /></Relationships>
</file>

<file path=ppt/notesSlides/_rels/notesSlide6.xml.rels>&#65279;<?xml version="1.0" encoding="utf-8"?><Relationships xmlns="http://schemas.openxmlformats.org/package/2006/relationships"><Relationship Type="http://schemas.openxmlformats.org/officeDocument/2006/relationships/slide" Target="/ppt/slides/slide6.xml" Id="Rdaffbb63cfb14ea5" /><Relationship Type="http://schemas.openxmlformats.org/officeDocument/2006/relationships/notesMaster" Target="/ppt/notesMasters/notesMaster1.xml" Id="R11b8cec2b84643a4" /></Relationships>
</file>

<file path=ppt/notesSlides/_rels/notesSlide7.xml.rels>&#65279;<?xml version="1.0" encoding="utf-8"?><Relationships xmlns="http://schemas.openxmlformats.org/package/2006/relationships"><Relationship Type="http://schemas.openxmlformats.org/officeDocument/2006/relationships/slide" Target="/ppt/slides/slide7.xml" Id="R03694547527d4e12" /><Relationship Type="http://schemas.openxmlformats.org/officeDocument/2006/relationships/notesMaster" Target="/ppt/notesMasters/notesMaster1.xml" Id="R17ed0e536930464e" /></Relationships>
</file>

<file path=ppt/notesSlides/_rels/notesSlide8.xml.rels>&#65279;<?xml version="1.0" encoding="utf-8"?><Relationships xmlns="http://schemas.openxmlformats.org/package/2006/relationships"><Relationship Type="http://schemas.openxmlformats.org/officeDocument/2006/relationships/slide" Target="/ppt/slides/slide8.xml" Id="Rad96b5b60533426c" /><Relationship Type="http://schemas.openxmlformats.org/officeDocument/2006/relationships/notesMaster" Target="/ppt/notesMasters/notesMaster1.xml" Id="R70e6ee0ec831413c" /></Relationships>
</file>

<file path=ppt/notesSlides/_rels/notesSlide9.xml.rels>&#65279;<?xml version="1.0" encoding="utf-8"?><Relationships xmlns="http://schemas.openxmlformats.org/package/2006/relationships"><Relationship Type="http://schemas.openxmlformats.org/officeDocument/2006/relationships/slide" Target="/ppt/slides/slide9.xml" Id="R89174c48d2e5471e" /><Relationship Type="http://schemas.openxmlformats.org/officeDocument/2006/relationships/notesMaster" Target="/ppt/notesMasters/notesMaster1.xml" Id="R86d14f38e680497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fc01e635294571" /><Relationship Type="http://schemas.openxmlformats.org/officeDocument/2006/relationships/notesMaster" Target="/ppt/notesMasters/notesMaster1.xml" Id="R8881fa50d02748c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84f60a2272943d1" /><Relationship Type="http://schemas.openxmlformats.org/officeDocument/2006/relationships/notesMaster" Target="/ppt/notesMasters/notesMaster1.xml" Id="R7f7b514ab7a945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This talk explains the production decisions behind a useful 3D website. We will use a product viewer as the example, but the same layers apply to interactive brand scenes and applications. The focus is on tool roles, tradeoffs and the handoff. Suggested total time: roughly eight minutes.</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The tools belong to different layers. Blender is the authoring workspace. GLB packages geometry, materials and supported animation for delivery. Three.js, a component or an engine loads the content and manages interaction. WebGL or WebGPU draws through the device GPU. HTML and CSS surround the canvas with readable content and accessible controls. A source file and a delivery file serve different purposes.</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https://www.khronos.org/gltf/</a:t>
            </a:r>
          </a:p>
          <a:p xmlns:a="http://schemas.openxmlformats.org/drawingml/2006/main">
            <a:r>
              <a:t>https://threejs.org/manual/pages/creating-a-scene.html</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Blender owns the source asset. First match the silhouette and proportions. Then prepare materials and name parts that the developer will select or animate. Bake unsupported complex shading into textures where needed. Export a GLB and compare it in the target browser lighting. A normal map can suggest small surface detail but cannot change a silhouette. Keep both the editable source and the approved export. The image is a supplied product reference, not a claim of an exact reconstructed model.</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https://www.khronos.org/gltf/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Consider a visitor clicking the lens. The page receives pointer input. A raycaster tests which scene object is under that pointer. The application updates the selected feature, moves the camera if needed and reveals an HTML explanation. The renderer draws the changed scene. OrbitControls handles common camera navigation and GLTFLoader loads the asset. The team writes the product-specific behavior. This is a proposed interaction example.</a:t>
            </a:r>
          </a:p>
          <a:p xmlns:a="http://schemas.openxmlformats.org/drawingml/2006/main">
            <a:r>
              <a:t/>
            </a:r>
          </a:p>
          <a:p xmlns:a="http://schemas.openxmlformats.org/drawingml/2006/main">
            <a:r>
              <a:t>Sources</a:t>
            </a:r>
          </a:p>
          <a:p xmlns:a="http://schemas.openxmlformats.org/drawingml/2006/main">
            <a:r>
              <a:t>https://threejs.org/manual/pages/creating-a-scene.html</a:t>
            </a:r>
          </a:p>
          <a:p xmlns:a="http://schemas.openxmlformats.org/drawingml/2006/main">
            <a:r>
              <a:t>https://threejs.org/docs/pages/Raycaster.html</a:t>
            </a:r>
          </a:p>
          <a:p xmlns:a="http://schemas.openxmlformats.org/drawingml/2006/main">
            <a:r>
              <a:t>https://threejs.org/docs/pages/GLTFLoader.html</a:t>
            </a:r>
          </a:p>
          <a:p xmlns:a="http://schemas.openxmlformats.org/drawingml/2006/main">
            <a:r>
              <a:t>https://threejs.org/docs/pages/OrbitControls.html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WebGL and WebGPU are browser APIs rather than modeling tools. WebGL is the established route for interactive graphics. WebGPU supports a more modern rendering and compute model, but availability and benefits depend on the workload and device. Most teams use them through an engine. Three.js WebGPURenderer can fall back to WebGL 2, but features and custom shaders still require compatibility review. Switching APIs does not repair a heavy asset or guarantee higher speed.</a:t>
            </a:r>
          </a:p>
          <a:p xmlns:a="http://schemas.openxmlformats.org/drawingml/2006/main">
            <a:r>
              <a:t/>
            </a:r>
          </a:p>
          <a:p xmlns:a="http://schemas.openxmlformats.org/drawingml/2006/main">
            <a:r>
              <a:t>Sources</a:t>
            </a:r>
          </a:p>
          <a:p xmlns:a="http://schemas.openxmlformats.org/drawingml/2006/main">
            <a:r>
              <a:t>https://developer.mozilla.org/en-US/docs/Web/API/WebGL_API</a:t>
            </a:r>
          </a:p>
          <a:p xmlns:a="http://schemas.openxmlformats.org/drawingml/2006/main">
            <a:r>
              <a:t>https://developer.mozilla.org/en-US/docs/Web/API/WebGPU_API</a:t>
            </a:r>
          </a:p>
          <a:p xmlns:a="http://schemas.openxmlformats.org/drawingml/2006/main">
            <a:r>
              <a:t>https://threejs.org/manual/pages/webgpurenderer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This table offers starting recommendations rather than a performance ranking. Choose model-viewer when the product page needs standard inspection. Spline suits visual scene exploration, with export constraints to check. Three.js offers detailed control but needs custom engineering. React Three Fiber is a way to author Three.js within an existing React app, not an alternative asset tool. Babylon.js or PlayCanvas merit a prototype for game-like apps or richer simulations. Match the choice to the hardest interaction and the maintainers.</a:t>
            </a:r>
          </a:p>
          <a:p xmlns:a="http://schemas.openxmlformats.org/drawingml/2006/main">
            <a:r>
              <a:t/>
            </a:r>
          </a:p>
          <a:p xmlns:a="http://schemas.openxmlformats.org/drawingml/2006/main">
            <a:r>
              <a:t>Sources</a:t>
            </a:r>
          </a:p>
          <a:p xmlns:a="http://schemas.openxmlformats.org/drawingml/2006/main">
            <a:r>
              <a:t>https://modelviewer.dev/docs/</a:t>
            </a:r>
          </a:p>
          <a:p xmlns:a="http://schemas.openxmlformats.org/drawingml/2006/main">
            <a:r>
              <a:t>https://docs.spline.design/exporting-your-scene/web/exporting-as-spline-viewer</a:t>
            </a:r>
          </a:p>
          <a:p xmlns:a="http://schemas.openxmlformats.org/drawingml/2006/main">
            <a:r>
              <a:t>https://threejs.org/manual/pages/creating-a-scene.html</a:t>
            </a:r>
          </a:p>
          <a:p xmlns:a="http://schemas.openxmlformats.org/drawingml/2006/main">
            <a:r>
              <a:t>https://r3f.docs.pmnd.rs/getting-started/introduction</a:t>
            </a:r>
          </a:p>
          <a:p xmlns:a="http://schemas.openxmlformats.org/drawingml/2006/main">
            <a:r>
              <a:t>https://www.babylonjs.com/</a:t>
            </a:r>
          </a:p>
          <a:p xmlns:a="http://schemas.openxmlformats.org/drawingml/2006/main">
            <a:r>
              <a:t>https://developer.playcanvas.com/user-manual/editor/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 timeline describes a planned sequence, but a visitor can drag, reverse scroll or leave midway. The motion handoff must define what happens after interruption. This example uses an open-cover clip authored in Blender and played in the browser. The table is an interaction specification, not a implemented product feature. Three.js AnimationMixer plays animation clips. Ensure essential information remains available with reduced motion.</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https://threejs.org/docs/pages/AnimationMixer.html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 component such as model-viewer or Spline Viewer lives inside the page and offers its own API. An iframe embeds a complete separately hosted viewer, convenient for reuse but more isolated from the host page. Direct JavaScript integration places the scene in the app and provides closer access to page state, at the cost of lifecycle and resize code. Webflow can use custom embeds. All routes need correct public asset URLs and testing on the published page.</a:t>
            </a:r>
          </a:p>
          <a:p xmlns:a="http://schemas.openxmlformats.org/drawingml/2006/main">
            <a:r>
              <a:t/>
            </a:r>
          </a:p>
          <a:p xmlns:a="http://schemas.openxmlformats.org/drawingml/2006/main">
            <a:r>
              <a:t>Sources</a:t>
            </a:r>
          </a:p>
          <a:p xmlns:a="http://schemas.openxmlformats.org/drawingml/2006/main">
            <a:r>
              <a:t>https://modelviewer.dev/docs/</a:t>
            </a:r>
          </a:p>
          <a:p xmlns:a="http://schemas.openxmlformats.org/drawingml/2006/main">
            <a:r>
              <a:t>https://docs.spline.design/exporting-your-scene/web/exporting-as-spline-viewer</a:t>
            </a:r>
          </a:p>
          <a:p xmlns:a="http://schemas.openxmlformats.org/drawingml/2006/main">
            <a:r>
              <a:t>https://help.webflow.com/hc/en-us/articles/33961332238611-Custom-code-embed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A small download can still be expensive to draw. Diagnose the stage that is slow. Network problems suggest reducing transfer size or delaying loading. CPU work includes parsing, decoding and scene updates. GPU cost grows with pixels, materials, shadows and effects. Measure on a representative phone. If aiming for 60 frames per second, each frame has roughly 16.7 milliseconds; that is a target calculation, not a performance claim about this viewer. Keep a poster fallback and HTML descriptions.</a:t>
            </a:r>
          </a:p>
          <a:p xmlns:a="http://schemas.openxmlformats.org/drawingml/2006/main">
            <a:r>
              <a:t/>
            </a:r>
          </a:p>
          <a:p xmlns:a="http://schemas.openxmlformats.org/drawingml/2006/main">
            <a:r>
              <a:t>Sources</a:t>
            </a:r>
          </a:p>
          <a:p xmlns:a="http://schemas.openxmlformats.org/drawingml/2006/main">
            <a:r>
              <a:t>https://developer.mozilla.org/en-US/docs/Web/API/WebGL_API/WebGL_best_practices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The workflow is strongest when each discipline hands over something concrete. Designers specify states rather than only a screenshot. Motion designers specify clip names and interruption rules. Artists provide an approved export with named parts and scale. Developers integrate and test devices, errors and fallback behavior. Review together in the browser because the exported result may look different from the authoring application. This is a recommended workflow.</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https://threejs.org/docs/pages/GLTFLoader.html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A good first release has one accurate asset and a useful interaction. For a simple product page, a viewer component may be sufficient. For custom behavior, use a deliberate asset workflow and Three.js. If the team is exploring a visual concept, prototype in Spline before committing to implementation. Keep a poster fallback, readable content and basic controls. These are recommendations derived from the tools’ documented capabilities. Total suggested narration time is approximately eight and a half minutes.</a:t>
            </a:r>
          </a:p>
          <a:p xmlns:a="http://schemas.openxmlformats.org/drawingml/2006/main">
            <a:r>
              <a:t/>
            </a:r>
          </a:p>
          <a:p xmlns:a="http://schemas.openxmlformats.org/drawingml/2006/main">
            <a:r>
              <a:t>Sources</a:t>
            </a:r>
          </a:p>
          <a:p xmlns:a="http://schemas.openxmlformats.org/drawingml/2006/main">
            <a:r>
              <a:t>https://modelviewer.dev/docs/</a:t>
            </a:r>
          </a:p>
          <a:p xmlns:a="http://schemas.openxmlformats.org/drawingml/2006/main">
            <a:r>
              <a:t>https://threejs.org/manual/pages/creating-a-scene.html</a:t>
            </a:r>
          </a:p>
          <a:p xmlns:a="http://schemas.openxmlformats.org/drawingml/2006/main">
            <a:r>
              <a:t>https://docs.spline.design/exporting-your-scene/web/exporting-as-spline-viewer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f0def5f778243b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426dfe5213d470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d31f4bfa9ba427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80b36af9a14a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0e061826933467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7338771b1e46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87930C-7127-4CA1-AC4C-24FC8ED7A96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B86E745-A48C-4AE9-9875-2CB7D7F59B2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C324D8D-969B-486C-BC24-769EE7B84B0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E1AAAE4-D182-457D-8E21-80BED65462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06DE1C7-D143-485B-920D-3D4CAC66A08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A907E84-CB6B-45D4-AA5E-C146DC7A95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2B4A23B-E38F-422D-9CE8-F387D2BC70D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5C2F092-815B-4A35-AB0C-F9D30581BC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0CE8F4-3ED3-4AC4-80F7-54BE4BCA11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2FE09C-D6FD-4A44-A46A-1EDC765B05A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efc5ac92ce4d4b" /><Relationship Type="http://schemas.openxmlformats.org/officeDocument/2006/relationships/slideLayout" Target="/ppt/slideLayouts/slideLayout1.xml" Id="R526c1de7496241df" /><Relationship Type="http://schemas.openxmlformats.org/officeDocument/2006/relationships/slideLayout" Target="/ppt/slideLayouts/slideLayout2.xml" Id="R59a03d103a724e75" /><Relationship Type="http://schemas.openxmlformats.org/officeDocument/2006/relationships/slideLayout" Target="/ppt/slideLayouts/slideLayout3.xml" Id="R5289c3db0cde490b" /><Relationship Type="http://schemas.openxmlformats.org/officeDocument/2006/relationships/slideLayout" Target="/ppt/slideLayouts/slideLayout4.xml" Id="R3b66f8aef2994ab8" /><Relationship Type="http://schemas.openxmlformats.org/officeDocument/2006/relationships/slideLayout" Target="/ppt/slideLayouts/slideLayout5.xml" Id="Rca7a2e451735489b" /><Relationship Type="http://schemas.openxmlformats.org/officeDocument/2006/relationships/slideLayout" Target="/ppt/slideLayouts/slideLayout6.xml" Id="Rf15b0581c76840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26c1de7496241df"/>
    <p:sldLayoutId xmlns:r="http://schemas.openxmlformats.org/officeDocument/2006/relationships" id="2147483650" r:id="R59a03d103a724e75"/>
    <p:sldLayoutId xmlns:r="http://schemas.openxmlformats.org/officeDocument/2006/relationships" id="2147483651" r:id="R5289c3db0cde490b"/>
    <p:sldLayoutId xmlns:r="http://schemas.openxmlformats.org/officeDocument/2006/relationships" id="2147483652" r:id="R3b66f8aef2994ab8"/>
    <p:sldLayoutId xmlns:r="http://schemas.openxmlformats.org/officeDocument/2006/relationships" id="2147483653" r:id="Rca7a2e451735489b"/>
    <p:sldLayoutId xmlns:r="http://schemas.openxmlformats.org/officeDocument/2006/relationships" id="2147483654" r:id="Rf15b0581c76840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0f4b119494141dd" /><Relationship Type="http://schemas.openxmlformats.org/officeDocument/2006/relationships/image" Target="/ppt/media/image.png" Id="R40b06413fe7743a5" /><Relationship Type="http://schemas.openxmlformats.org/officeDocument/2006/relationships/notesSlide" Target="/ppt/notesSlides/notesSlide1.xml" Id="R80a717395490480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615058f322d4fb8" /><Relationship Type="http://schemas.openxmlformats.org/officeDocument/2006/relationships/notesSlide" Target="/ppt/notesSlides/notesSlide2.xml" Id="Rcd8546e47ce0440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0c1fb807cc54f74" /><Relationship Type="http://schemas.openxmlformats.org/officeDocument/2006/relationships/image" Target="/ppt/media/image2.png" Id="R166e19809b894eda" /><Relationship Type="http://schemas.openxmlformats.org/officeDocument/2006/relationships/notesSlide" Target="/ppt/notesSlides/notesSlide3.xml" Id="R758c3b39277c49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a2fd9dff23440d" /><Relationship Type="http://schemas.openxmlformats.org/officeDocument/2006/relationships/notesSlide" Target="/ppt/notesSlides/notesSlide4.xml" Id="R4b4ae05117754e4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097f874d6644cb1" /><Relationship Type="http://schemas.openxmlformats.org/officeDocument/2006/relationships/notesSlide" Target="/ppt/notesSlides/notesSlide5.xml" Id="Rf2a6fe0fdd614d4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bb05ddff9904b8e" /><Relationship Type="http://schemas.openxmlformats.org/officeDocument/2006/relationships/notesSlide" Target="/ppt/notesSlides/notesSlide6.xml" Id="R3eb253f42c0c4f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09c9fbe79644953" /><Relationship Type="http://schemas.openxmlformats.org/officeDocument/2006/relationships/notesSlide" Target="/ppt/notesSlides/notesSlide7.xml" Id="R5be0be6c95aa450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56cc0a0347d4a7c" /><Relationship Type="http://schemas.openxmlformats.org/officeDocument/2006/relationships/notesSlide" Target="/ppt/notesSlides/notesSlide8.xml" Id="R45596b2eeeb044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77c028fafcb49f2" /><Relationship Type="http://schemas.openxmlformats.org/officeDocument/2006/relationships/notesSlide" Target="/ppt/notesSlides/notesSlide9.xml" Id="Rd667b345291f48d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d67f66e437845ef" /><Relationship Type="http://schemas.openxmlformats.org/officeDocument/2006/relationships/notesSlide" Target="/ppt/notesSlides/notesSlide10.xml" Id="R4a4cf03a2fc542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1b76464740040c8" /><Relationship Type="http://schemas.openxmlformats.org/officeDocument/2006/relationships/notesSlide" Target="/ppt/notesSlides/notesSlide11.xml" Id="R06a97ca597754ace" /></Relationships>
</file>

<file path=ppt/slides/slide1.xml><?xml version="1.0" encoding="utf-8"?>
<p:sld xmlns:p="http://schemas.openxmlformats.org/presentationml/2006/main">
  <p:cSld>
    <p:bg>
      <p:bgPr>
        <a:solidFill xmlns:a="http://schemas.openxmlformats.org/drawingml/2006/main">
          <a:srgbClr val="15191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61E8FD-4F4B-42E8-9391-5E33C3720CB3}"/>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A FIELD GUIDE FOR CREATIVE AND TECHNICAL TEAMS</a:t>
            </a:r>
          </a:p>
        </p:txBody>
      </p:sp>
      <p:sp>
        <p:nvSpPr>
          <p:cNvPr id="2" name="">
            <a:extLst xmlns:a="http://schemas.openxmlformats.org/drawingml/2006/main">
              <a:ext uri="{FF2B5EF4-FFF2-40B4-BE49-F238E27FC236}">
                <a16:creationId xmlns:a16="http://schemas.microsoft.com/office/drawing/2014/main" id="{551DDAEE-F218-4812-8418-D6303A35037B}"/>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01 / 11</a:t>
            </a:r>
          </a:p>
        </p:txBody>
      </p:sp>
      <p:sp>
        <p:nvSpPr>
          <p:cNvPr id="3" name="">
            <a:extLst xmlns:a="http://schemas.openxmlformats.org/drawingml/2006/main">
              <a:ext uri="{FF2B5EF4-FFF2-40B4-BE49-F238E27FC236}">
                <a16:creationId xmlns:a16="http://schemas.microsoft.com/office/drawing/2014/main" id="{6613F86D-4D50-47AB-96EC-1F9B5ADE4233}"/>
              </a:ext>
            </a:extLst>
          </p:cNvPr>
          <p:cNvSpPr>
            <a:spLocks xmlns:a="http://schemas.openxmlformats.org/drawingml/2006/main" noGrp="1"/>
          </p:cNvSpPr>
          <p:nvPr/>
        </p:nvSpPr>
        <p:spPr>
          <a:xfrm xmlns:a="http://schemas.openxmlformats.org/drawingml/2006/main">
            <a:off x="495300" y="1276350"/>
            <a:ext cx="7143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FFFFF"/>
                </a:solidFill>
                <a:latin typeface="Arial"/>
                <a:ea typeface="Arial"/>
                <a:cs typeface="Arial"/>
              </a:defRPr>
            </a:defPPr>
          </a:lstStyle>
          <a:p xmlns:a="http://schemas.openxmlformats.org/drawingml/2006/main">
            <a:pPr>
              <a:defRPr sz="8100" b="1">
                <a:solidFill>
                  <a:srgbClr val="FFFFFF"/>
                </a:solidFill>
                <a:latin typeface="Arial"/>
                <a:ea typeface="Arial"/>
                <a:cs typeface="Arial"/>
              </a:defRPr>
            </a:pPr>
            <a:r>
              <a:rPr sz="8100" b="1">
                <a:solidFill>
                  <a:srgbClr val="FFFFFF"/>
                </a:solidFill>
                <a:latin typeface="Arial"/>
                <a:ea typeface="Arial"/>
                <a:cs typeface="Arial"/>
              </a:rPr>
              <a:t>3D ON</a:t>
            </a:r>
          </a:p>
          <a:p xmlns:a="http://schemas.openxmlformats.org/drawingml/2006/main">
            <a:pPr>
              <a:defRPr sz="8100" b="1">
                <a:solidFill>
                  <a:srgbClr val="FFFFFF"/>
                </a:solidFill>
                <a:latin typeface="Arial"/>
                <a:ea typeface="Arial"/>
                <a:cs typeface="Arial"/>
              </a:defRPr>
            </a:pPr>
            <a:r>
              <a:rPr sz="8100" b="1">
                <a:solidFill>
                  <a:srgbClr val="FFFFFF"/>
                </a:solidFill>
                <a:latin typeface="Arial"/>
                <a:ea typeface="Arial"/>
                <a:cs typeface="Arial"/>
              </a:rPr>
              <a:t>THE WEB</a:t>
            </a:r>
          </a:p>
        </p:txBody>
      </p:sp>
      <p:sp>
        <p:nvSpPr>
          <p:cNvPr id="4" name="">
            <a:extLst xmlns:a="http://schemas.openxmlformats.org/drawingml/2006/main">
              <a:ext uri="{FF2B5EF4-FFF2-40B4-BE49-F238E27FC236}">
                <a16:creationId xmlns:a16="http://schemas.microsoft.com/office/drawing/2014/main" id="{4D91489B-ACE4-41A4-8D22-CCEFF6195A18}"/>
              </a:ext>
            </a:extLst>
          </p:cNvPr>
          <p:cNvSpPr>
            <a:spLocks xmlns:a="http://schemas.openxmlformats.org/drawingml/2006/main" noGrp="1"/>
          </p:cNvSpPr>
          <p:nvPr/>
        </p:nvSpPr>
        <p:spPr>
          <a:xfrm xmlns:a="http://schemas.openxmlformats.org/drawingml/2006/main">
            <a:off x="552450" y="4438650"/>
            <a:ext cx="5905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0">
                <a:solidFill>
                  <a:srgbClr val="A7AFB8"/>
                </a:solidFill>
                <a:latin typeface="Arial"/>
                <a:ea typeface="Arial"/>
                <a:cs typeface="Arial"/>
              </a:defRPr>
            </a:defPPr>
          </a:lstStyle>
          <a:p xmlns:a="http://schemas.openxmlformats.org/drawingml/2006/main">
            <a:pPr>
              <a:defRPr sz="2625" b="0">
                <a:solidFill>
                  <a:srgbClr val="A7AFB8"/>
                </a:solidFill>
                <a:latin typeface="Arial"/>
                <a:ea typeface="Arial"/>
                <a:cs typeface="Arial"/>
              </a:defRPr>
            </a:pPr>
            <a:r>
              <a:rPr sz="2625" b="0">
                <a:solidFill>
                  <a:srgbClr val="A7AFB8"/>
                </a:solidFill>
                <a:latin typeface="Arial"/>
                <a:ea typeface="Arial"/>
                <a:cs typeface="Arial"/>
              </a:rPr>
              <a:t>From a source model</a:t>
            </a:r>
          </a:p>
          <a:p xmlns:a="http://schemas.openxmlformats.org/drawingml/2006/main">
            <a:pPr>
              <a:defRPr sz="2625" b="0">
                <a:solidFill>
                  <a:srgbClr val="A7AFB8"/>
                </a:solidFill>
                <a:latin typeface="Arial"/>
                <a:ea typeface="Arial"/>
                <a:cs typeface="Arial"/>
              </a:defRPr>
            </a:pPr>
            <a:r>
              <a:rPr sz="2625" b="0">
                <a:solidFill>
                  <a:srgbClr val="A7AFB8"/>
                </a:solidFill>
                <a:latin typeface="Arial"/>
                <a:ea typeface="Arial"/>
                <a:cs typeface="Arial"/>
              </a:rPr>
              <a:t>to a live experience.</a:t>
            </a:r>
          </a:p>
        </p:txBody>
      </p:sp>
      <p:pic>
        <p:nvPicPr>
          <p:cNvPr id="5" name="">
            <a:extLst xmlns:a="http://schemas.openxmlformats.org/drawingml/2006/main">
              <a:ext uri="{FF2B5EF4-FFF2-40B4-BE49-F238E27FC236}">
                <a16:creationId xmlns:a16="http://schemas.microsoft.com/office/drawing/2014/main" id="{FB8ACA17-B4D1-4BEA-A7EF-49CA76BF035B}"/>
              </a:ext>
            </a:extLst>
          </p:cNvPr>
          <p:cNvPicPr>
            <a:picLocks xmlns:a="http://schemas.openxmlformats.org/drawingml/2006/main" noChangeAspect="1"/>
          </p:cNvPicPr>
          <p:nvPr/>
        </p:nvPicPr>
        <p:blipFill>
          <a:blip xmlns:r="http://schemas.openxmlformats.org/officeDocument/2006/relationships" xmlns:a="http://schemas.openxmlformats.org/drawingml/2006/main" r:embed="R40b06413fe7743a5"/>
          <a:stretch xmlns:a="http://schemas.openxmlformats.org/drawingml/2006/main"/>
        </p:blipFill>
        <p:spPr>
          <a:xfrm xmlns:a="http://schemas.openxmlformats.org/drawingml/2006/main">
            <a:off x="7191375" y="1314450"/>
            <a:ext cx="4229100" cy="42291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2D4A88B2-8B43-4F77-8925-EA69214D8692}"/>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CDF36A"/>
                </a:solidFill>
                <a:latin typeface="Arial"/>
                <a:ea typeface="Arial"/>
                <a:cs typeface="Arial"/>
              </a:defRPr>
            </a:defPPr>
          </a:lstStyle>
          <a:p xmlns:a="http://schemas.openxmlformats.org/drawingml/2006/main">
            <a:pPr>
              <a:defRPr sz="1425" b="0">
                <a:solidFill>
                  <a:srgbClr val="CDF36A"/>
                </a:solidFill>
                <a:latin typeface="Arial"/>
                <a:ea typeface="Arial"/>
                <a:cs typeface="Arial"/>
              </a:defRPr>
            </a:pPr>
            <a:r>
              <a:rPr sz="1425" b="0">
                <a:solidFill>
                  <a:srgbClr val="CDF36A"/>
                </a:solidFill>
                <a:latin typeface="Arial"/>
                <a:ea typeface="Arial"/>
                <a:cs typeface="Arial"/>
              </a:rPr>
              <a:t>BLENDER    /    THREE.JS    /    WEBGL    /    THE ALTERNATIVES</a:t>
            </a:r>
          </a:p>
        </p:txBody>
      </p:sp>
    </p:spTree>
    <p:extLst>
      <p:ext uri="{BB962C8B-B14F-4D97-AF65-F5344CB8AC3E}">
        <p14:creationId xmlns:p14="http://schemas.microsoft.com/office/powerpoint/2010/main" val="1261487897"/>
      </p:ext>
    </p:extLst>
  </p:cSld>
</p:sld>
</file>

<file path=ppt/slides/slide2.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A5AA0DC-AFEB-41DD-9FC4-F717D92784DE}"/>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01 / THE MENTAL MODEL</a:t>
            </a:r>
          </a:p>
        </p:txBody>
      </p:sp>
      <p:sp>
        <p:nvSpPr>
          <p:cNvPr id="2" name="">
            <a:extLst xmlns:a="http://schemas.openxmlformats.org/drawingml/2006/main">
              <a:ext uri="{FF2B5EF4-FFF2-40B4-BE49-F238E27FC236}">
                <a16:creationId xmlns:a16="http://schemas.microsoft.com/office/drawing/2014/main" id="{F4CF1221-E7AD-4C0A-A455-B87F72E3B164}"/>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02 / 11</a:t>
            </a:r>
          </a:p>
        </p:txBody>
      </p:sp>
      <p:sp>
        <p:nvSpPr>
          <p:cNvPr id="3" name="">
            <a:extLst xmlns:a="http://schemas.openxmlformats.org/drawingml/2006/main">
              <a:ext uri="{FF2B5EF4-FFF2-40B4-BE49-F238E27FC236}">
                <a16:creationId xmlns:a16="http://schemas.microsoft.com/office/drawing/2014/main" id="{1D2AFEB7-00E6-4459-A451-ED0A22CD7D20}"/>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Four layers. Different jobs.</a:t>
            </a:r>
          </a:p>
        </p:txBody>
      </p:sp>
      <p:sp>
        <p:nvSpPr>
          <p:cNvPr id="4" name="">
            <a:extLst xmlns:a="http://schemas.openxmlformats.org/drawingml/2006/main">
              <a:ext uri="{FF2B5EF4-FFF2-40B4-BE49-F238E27FC236}">
                <a16:creationId xmlns:a16="http://schemas.microsoft.com/office/drawing/2014/main" id="{A20A56C3-AF72-470D-A43D-6F43C8B5500E}"/>
              </a:ext>
            </a:extLst>
          </p:cNvPr>
          <p:cNvSpPr>
            <a:spLocks xmlns:a="http://schemas.openxmlformats.org/drawingml/2006/main" noGrp="1"/>
          </p:cNvSpPr>
          <p:nvPr/>
        </p:nvSpPr>
        <p:spPr>
          <a:xfrm xmlns:a="http://schemas.openxmlformats.org/drawingml/2006/main">
            <a:off x="523875" y="2305050"/>
            <a:ext cx="714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2455E8"/>
                </a:solidFill>
                <a:latin typeface="Arial"/>
                <a:ea typeface="Arial"/>
                <a:cs typeface="Arial"/>
              </a:defRPr>
            </a:defPPr>
          </a:lstStyle>
          <a:p xmlns:a="http://schemas.openxmlformats.org/drawingml/2006/main">
            <a:pPr>
              <a:defRPr sz="3000" b="0">
                <a:solidFill>
                  <a:srgbClr val="2455E8"/>
                </a:solidFill>
                <a:latin typeface="Arial"/>
                <a:ea typeface="Arial"/>
                <a:cs typeface="Arial"/>
              </a:defRPr>
            </a:pPr>
            <a:r>
              <a:rPr sz="3000" b="0">
                <a:solidFill>
                  <a:srgbClr val="2455E8"/>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98DE85B1-041D-4729-BDF4-E5140B86905B}"/>
              </a:ext>
            </a:extLst>
          </p:cNvPr>
          <p:cNvSpPr>
            <a:spLocks xmlns:a="http://schemas.openxmlformats.org/drawingml/2006/main" noGrp="1"/>
          </p:cNvSpPr>
          <p:nvPr/>
        </p:nvSpPr>
        <p:spPr>
          <a:xfrm xmlns:a="http://schemas.openxmlformats.org/drawingml/2006/main">
            <a:off x="1476375" y="2352675"/>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26B74"/>
                </a:solidFill>
                <a:latin typeface="Arial"/>
                <a:ea typeface="Arial"/>
                <a:cs typeface="Arial"/>
              </a:defRPr>
            </a:defPPr>
          </a:lstStyle>
          <a:p xmlns:a="http://schemas.openxmlformats.org/drawingml/2006/main">
            <a:pPr>
              <a:defRPr sz="1350" b="1">
                <a:solidFill>
                  <a:srgbClr val="626B74"/>
                </a:solidFill>
                <a:latin typeface="Arial"/>
                <a:ea typeface="Arial"/>
                <a:cs typeface="Arial"/>
              </a:defRPr>
            </a:pPr>
            <a:r>
              <a:rPr sz="1350" b="1">
                <a:solidFill>
                  <a:srgbClr val="626B74"/>
                </a:solidFill>
                <a:latin typeface="Arial"/>
                <a:ea typeface="Arial"/>
                <a:cs typeface="Arial"/>
              </a:rPr>
              <a:t>AUTHOR</a:t>
            </a:r>
          </a:p>
        </p:txBody>
      </p:sp>
      <p:sp>
        <p:nvSpPr>
          <p:cNvPr id="6" name="">
            <a:extLst xmlns:a="http://schemas.openxmlformats.org/drawingml/2006/main">
              <a:ext uri="{FF2B5EF4-FFF2-40B4-BE49-F238E27FC236}">
                <a16:creationId xmlns:a16="http://schemas.microsoft.com/office/drawing/2014/main" id="{7933E738-8549-4642-B8A2-346D25441FEB}"/>
              </a:ext>
            </a:extLst>
          </p:cNvPr>
          <p:cNvSpPr>
            <a:spLocks xmlns:a="http://schemas.openxmlformats.org/drawingml/2006/main" noGrp="1"/>
          </p:cNvSpPr>
          <p:nvPr/>
        </p:nvSpPr>
        <p:spPr>
          <a:xfrm xmlns:a="http://schemas.openxmlformats.org/drawingml/2006/main">
            <a:off x="3381375" y="2305050"/>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5191D"/>
                </a:solidFill>
                <a:latin typeface="Arial"/>
                <a:ea typeface="Arial"/>
                <a:cs typeface="Arial"/>
              </a:defRPr>
            </a:defPPr>
          </a:lstStyle>
          <a:p xmlns:a="http://schemas.openxmlformats.org/drawingml/2006/main">
            <a:pPr>
              <a:defRPr sz="2625" b="1">
                <a:solidFill>
                  <a:srgbClr val="15191D"/>
                </a:solidFill>
                <a:latin typeface="Arial"/>
                <a:ea typeface="Arial"/>
                <a:cs typeface="Arial"/>
              </a:defRPr>
            </a:pPr>
            <a:r>
              <a:rPr sz="2625" b="1">
                <a:solidFill>
                  <a:srgbClr val="15191D"/>
                </a:solidFill>
                <a:latin typeface="Arial"/>
                <a:ea typeface="Arial"/>
                <a:cs typeface="Arial"/>
              </a:rPr>
              <a:t>Blender</a:t>
            </a:r>
          </a:p>
        </p:txBody>
      </p:sp>
      <p:sp>
        <p:nvSpPr>
          <p:cNvPr id="7" name="">
            <a:extLst xmlns:a="http://schemas.openxmlformats.org/drawingml/2006/main">
              <a:ext uri="{FF2B5EF4-FFF2-40B4-BE49-F238E27FC236}">
                <a16:creationId xmlns:a16="http://schemas.microsoft.com/office/drawing/2014/main" id="{55D9EC8A-03FC-4350-99E0-BA2809ABAC2C}"/>
              </a:ext>
            </a:extLst>
          </p:cNvPr>
          <p:cNvSpPr>
            <a:spLocks xmlns:a="http://schemas.openxmlformats.org/drawingml/2006/main" noGrp="1"/>
          </p:cNvSpPr>
          <p:nvPr/>
        </p:nvSpPr>
        <p:spPr>
          <a:xfrm xmlns:a="http://schemas.openxmlformats.org/drawingml/2006/main">
            <a:off x="7905750" y="2352675"/>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Shape, surface and motion</a:t>
            </a:r>
          </a:p>
        </p:txBody>
      </p:sp>
      <p:sp>
        <p:nvSpPr>
          <p:cNvPr id="8" name="">
            <a:extLst xmlns:a="http://schemas.openxmlformats.org/drawingml/2006/main">
              <a:ext uri="{FF2B5EF4-FFF2-40B4-BE49-F238E27FC236}">
                <a16:creationId xmlns:a16="http://schemas.microsoft.com/office/drawing/2014/main" id="{47A71D6B-FE86-47C9-A20D-80C9E9729EDC}"/>
              </a:ext>
            </a:extLst>
          </p:cNvPr>
          <p:cNvSpPr>
            <a:spLocks xmlns:a="http://schemas.openxmlformats.org/drawingml/2006/main" noGrp="1"/>
          </p:cNvSpPr>
          <p:nvPr/>
        </p:nvSpPr>
        <p:spPr>
          <a:xfrm xmlns:a="http://schemas.openxmlformats.org/drawingml/2006/main">
            <a:off x="523875" y="3209925"/>
            <a:ext cx="714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2455E8"/>
                </a:solidFill>
                <a:latin typeface="Arial"/>
                <a:ea typeface="Arial"/>
                <a:cs typeface="Arial"/>
              </a:defRPr>
            </a:defPPr>
          </a:lstStyle>
          <a:p xmlns:a="http://schemas.openxmlformats.org/drawingml/2006/main">
            <a:pPr>
              <a:defRPr sz="3000" b="0">
                <a:solidFill>
                  <a:srgbClr val="2455E8"/>
                </a:solidFill>
                <a:latin typeface="Arial"/>
                <a:ea typeface="Arial"/>
                <a:cs typeface="Arial"/>
              </a:defRPr>
            </a:pPr>
            <a:r>
              <a:rPr sz="3000" b="0">
                <a:solidFill>
                  <a:srgbClr val="2455E8"/>
                </a:solidFill>
                <a:latin typeface="Arial"/>
                <a:ea typeface="Arial"/>
                <a:cs typeface="Arial"/>
              </a:rPr>
              <a:t>02</a:t>
            </a:r>
          </a:p>
        </p:txBody>
      </p:sp>
      <p:sp>
        <p:nvSpPr>
          <p:cNvPr id="9" name="">
            <a:extLst xmlns:a="http://schemas.openxmlformats.org/drawingml/2006/main">
              <a:ext uri="{FF2B5EF4-FFF2-40B4-BE49-F238E27FC236}">
                <a16:creationId xmlns:a16="http://schemas.microsoft.com/office/drawing/2014/main" id="{CBB5785A-58F4-4E5B-82AF-C285599A095F}"/>
              </a:ext>
            </a:extLst>
          </p:cNvPr>
          <p:cNvSpPr>
            <a:spLocks xmlns:a="http://schemas.openxmlformats.org/drawingml/2006/main" noGrp="1"/>
          </p:cNvSpPr>
          <p:nvPr/>
        </p:nvSpPr>
        <p:spPr>
          <a:xfrm xmlns:a="http://schemas.openxmlformats.org/drawingml/2006/main">
            <a:off x="1476375" y="32575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26B74"/>
                </a:solidFill>
                <a:latin typeface="Arial"/>
                <a:ea typeface="Arial"/>
                <a:cs typeface="Arial"/>
              </a:defRPr>
            </a:defPPr>
          </a:lstStyle>
          <a:p xmlns:a="http://schemas.openxmlformats.org/drawingml/2006/main">
            <a:pPr>
              <a:defRPr sz="1350" b="1">
                <a:solidFill>
                  <a:srgbClr val="626B74"/>
                </a:solidFill>
                <a:latin typeface="Arial"/>
                <a:ea typeface="Arial"/>
                <a:cs typeface="Arial"/>
              </a:defRPr>
            </a:pPr>
            <a:r>
              <a:rPr sz="1350" b="1">
                <a:solidFill>
                  <a:srgbClr val="626B74"/>
                </a:solidFill>
                <a:latin typeface="Arial"/>
                <a:ea typeface="Arial"/>
                <a:cs typeface="Arial"/>
              </a:rPr>
              <a:t>DELIVER</a:t>
            </a:r>
          </a:p>
        </p:txBody>
      </p:sp>
      <p:sp>
        <p:nvSpPr>
          <p:cNvPr id="10" name="">
            <a:extLst xmlns:a="http://schemas.openxmlformats.org/drawingml/2006/main">
              <a:ext uri="{FF2B5EF4-FFF2-40B4-BE49-F238E27FC236}">
                <a16:creationId xmlns:a16="http://schemas.microsoft.com/office/drawing/2014/main" id="{28A58150-5BD5-4288-9475-A0A79ABB8F10}"/>
              </a:ext>
            </a:extLst>
          </p:cNvPr>
          <p:cNvSpPr>
            <a:spLocks xmlns:a="http://schemas.openxmlformats.org/drawingml/2006/main" noGrp="1"/>
          </p:cNvSpPr>
          <p:nvPr/>
        </p:nvSpPr>
        <p:spPr>
          <a:xfrm xmlns:a="http://schemas.openxmlformats.org/drawingml/2006/main">
            <a:off x="3381375" y="320992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5191D"/>
                </a:solidFill>
                <a:latin typeface="Arial"/>
                <a:ea typeface="Arial"/>
                <a:cs typeface="Arial"/>
              </a:defRPr>
            </a:defPPr>
          </a:lstStyle>
          <a:p xmlns:a="http://schemas.openxmlformats.org/drawingml/2006/main">
            <a:pPr>
              <a:defRPr sz="2625" b="1">
                <a:solidFill>
                  <a:srgbClr val="15191D"/>
                </a:solidFill>
                <a:latin typeface="Arial"/>
                <a:ea typeface="Arial"/>
                <a:cs typeface="Arial"/>
              </a:defRPr>
            </a:pPr>
            <a:r>
              <a:rPr sz="2625" b="1">
                <a:solidFill>
                  <a:srgbClr val="15191D"/>
                </a:solidFill>
                <a:latin typeface="Arial"/>
                <a:ea typeface="Arial"/>
                <a:cs typeface="Arial"/>
              </a:rPr>
              <a:t>GLB / glTF</a:t>
            </a:r>
          </a:p>
        </p:txBody>
      </p:sp>
      <p:sp>
        <p:nvSpPr>
          <p:cNvPr id="11" name="">
            <a:extLst xmlns:a="http://schemas.openxmlformats.org/drawingml/2006/main">
              <a:ext uri="{FF2B5EF4-FFF2-40B4-BE49-F238E27FC236}">
                <a16:creationId xmlns:a16="http://schemas.microsoft.com/office/drawing/2014/main" id="{1E381A75-3CEE-4E99-A96D-6D93107910D2}"/>
              </a:ext>
            </a:extLst>
          </p:cNvPr>
          <p:cNvSpPr>
            <a:spLocks xmlns:a="http://schemas.openxmlformats.org/drawingml/2006/main" noGrp="1"/>
          </p:cNvSpPr>
          <p:nvPr/>
        </p:nvSpPr>
        <p:spPr>
          <a:xfrm xmlns:a="http://schemas.openxmlformats.org/drawingml/2006/main">
            <a:off x="7905750" y="3257550"/>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The asset the website loads</a:t>
            </a:r>
          </a:p>
        </p:txBody>
      </p:sp>
      <p:sp>
        <p:nvSpPr>
          <p:cNvPr id="12" name="">
            <a:extLst xmlns:a="http://schemas.openxmlformats.org/drawingml/2006/main">
              <a:ext uri="{FF2B5EF4-FFF2-40B4-BE49-F238E27FC236}">
                <a16:creationId xmlns:a16="http://schemas.microsoft.com/office/drawing/2014/main" id="{3A7E9832-D72E-41E3-A06E-8293BBE7126E}"/>
              </a:ext>
            </a:extLst>
          </p:cNvPr>
          <p:cNvSpPr>
            <a:spLocks xmlns:a="http://schemas.openxmlformats.org/drawingml/2006/main" noGrp="1"/>
          </p:cNvSpPr>
          <p:nvPr/>
        </p:nvSpPr>
        <p:spPr>
          <a:xfrm xmlns:a="http://schemas.openxmlformats.org/drawingml/2006/main">
            <a:off x="523875" y="4114800"/>
            <a:ext cx="714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2455E8"/>
                </a:solidFill>
                <a:latin typeface="Arial"/>
                <a:ea typeface="Arial"/>
                <a:cs typeface="Arial"/>
              </a:defRPr>
            </a:defPPr>
          </a:lstStyle>
          <a:p xmlns:a="http://schemas.openxmlformats.org/drawingml/2006/main">
            <a:pPr>
              <a:defRPr sz="3000" b="0">
                <a:solidFill>
                  <a:srgbClr val="2455E8"/>
                </a:solidFill>
                <a:latin typeface="Arial"/>
                <a:ea typeface="Arial"/>
                <a:cs typeface="Arial"/>
              </a:defRPr>
            </a:pPr>
            <a:r>
              <a:rPr sz="3000" b="0">
                <a:solidFill>
                  <a:srgbClr val="2455E8"/>
                </a:solidFill>
                <a:latin typeface="Arial"/>
                <a:ea typeface="Arial"/>
                <a:cs typeface="Arial"/>
              </a:rPr>
              <a:t>03</a:t>
            </a:r>
          </a:p>
        </p:txBody>
      </p:sp>
      <p:sp>
        <p:nvSpPr>
          <p:cNvPr id="13" name="">
            <a:extLst xmlns:a="http://schemas.openxmlformats.org/drawingml/2006/main">
              <a:ext uri="{FF2B5EF4-FFF2-40B4-BE49-F238E27FC236}">
                <a16:creationId xmlns:a16="http://schemas.microsoft.com/office/drawing/2014/main" id="{E02AB58A-4C52-409F-B918-3D6EBA5C9F27}"/>
              </a:ext>
            </a:extLst>
          </p:cNvPr>
          <p:cNvSpPr>
            <a:spLocks xmlns:a="http://schemas.openxmlformats.org/drawingml/2006/main" noGrp="1"/>
          </p:cNvSpPr>
          <p:nvPr/>
        </p:nvSpPr>
        <p:spPr>
          <a:xfrm xmlns:a="http://schemas.openxmlformats.org/drawingml/2006/main">
            <a:off x="1476375" y="4162425"/>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26B74"/>
                </a:solidFill>
                <a:latin typeface="Arial"/>
                <a:ea typeface="Arial"/>
                <a:cs typeface="Arial"/>
              </a:defRPr>
            </a:defPPr>
          </a:lstStyle>
          <a:p xmlns:a="http://schemas.openxmlformats.org/drawingml/2006/main">
            <a:pPr>
              <a:defRPr sz="1350" b="1">
                <a:solidFill>
                  <a:srgbClr val="626B74"/>
                </a:solidFill>
                <a:latin typeface="Arial"/>
                <a:ea typeface="Arial"/>
                <a:cs typeface="Arial"/>
              </a:defRPr>
            </a:pPr>
            <a:r>
              <a:rPr sz="1350" b="1">
                <a:solidFill>
                  <a:srgbClr val="626B74"/>
                </a:solidFill>
                <a:latin typeface="Arial"/>
                <a:ea typeface="Arial"/>
                <a:cs typeface="Arial"/>
              </a:rPr>
              <a:t>INTERACT</a:t>
            </a:r>
          </a:p>
        </p:txBody>
      </p:sp>
      <p:sp>
        <p:nvSpPr>
          <p:cNvPr id="14" name="">
            <a:extLst xmlns:a="http://schemas.openxmlformats.org/drawingml/2006/main">
              <a:ext uri="{FF2B5EF4-FFF2-40B4-BE49-F238E27FC236}">
                <a16:creationId xmlns:a16="http://schemas.microsoft.com/office/drawing/2014/main" id="{47BEBB14-D0AD-4C6E-9F90-23FB94171E2C}"/>
              </a:ext>
            </a:extLst>
          </p:cNvPr>
          <p:cNvSpPr>
            <a:spLocks xmlns:a="http://schemas.openxmlformats.org/drawingml/2006/main" noGrp="1"/>
          </p:cNvSpPr>
          <p:nvPr/>
        </p:nvSpPr>
        <p:spPr>
          <a:xfrm xmlns:a="http://schemas.openxmlformats.org/drawingml/2006/main">
            <a:off x="3381375" y="4114800"/>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5191D"/>
                </a:solidFill>
                <a:latin typeface="Arial"/>
                <a:ea typeface="Arial"/>
                <a:cs typeface="Arial"/>
              </a:defRPr>
            </a:defPPr>
          </a:lstStyle>
          <a:p xmlns:a="http://schemas.openxmlformats.org/drawingml/2006/main">
            <a:pPr>
              <a:defRPr sz="2625" b="1">
                <a:solidFill>
                  <a:srgbClr val="15191D"/>
                </a:solidFill>
                <a:latin typeface="Arial"/>
                <a:ea typeface="Arial"/>
                <a:cs typeface="Arial"/>
              </a:defRPr>
            </a:pPr>
            <a:r>
              <a:rPr sz="2625" b="1">
                <a:solidFill>
                  <a:srgbClr val="15191D"/>
                </a:solidFill>
                <a:latin typeface="Arial"/>
                <a:ea typeface="Arial"/>
                <a:cs typeface="Arial"/>
              </a:rPr>
              <a:t>Three.js / viewer</a:t>
            </a:r>
          </a:p>
        </p:txBody>
      </p:sp>
      <p:sp>
        <p:nvSpPr>
          <p:cNvPr id="15" name="">
            <a:extLst xmlns:a="http://schemas.openxmlformats.org/drawingml/2006/main">
              <a:ext uri="{FF2B5EF4-FFF2-40B4-BE49-F238E27FC236}">
                <a16:creationId xmlns:a16="http://schemas.microsoft.com/office/drawing/2014/main" id="{FFC9F0C0-A37B-4E90-A153-E2EF54333F80}"/>
              </a:ext>
            </a:extLst>
          </p:cNvPr>
          <p:cNvSpPr>
            <a:spLocks xmlns:a="http://schemas.openxmlformats.org/drawingml/2006/main" noGrp="1"/>
          </p:cNvSpPr>
          <p:nvPr/>
        </p:nvSpPr>
        <p:spPr>
          <a:xfrm xmlns:a="http://schemas.openxmlformats.org/drawingml/2006/main">
            <a:off x="7905750" y="4162425"/>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Camera, controls and state</a:t>
            </a:r>
          </a:p>
        </p:txBody>
      </p:sp>
      <p:sp>
        <p:nvSpPr>
          <p:cNvPr id="16" name="">
            <a:extLst xmlns:a="http://schemas.openxmlformats.org/drawingml/2006/main">
              <a:ext uri="{FF2B5EF4-FFF2-40B4-BE49-F238E27FC236}">
                <a16:creationId xmlns:a16="http://schemas.microsoft.com/office/drawing/2014/main" id="{5624272D-FACA-48E0-B80A-DB20ED321B30}"/>
              </a:ext>
            </a:extLst>
          </p:cNvPr>
          <p:cNvSpPr>
            <a:spLocks xmlns:a="http://schemas.openxmlformats.org/drawingml/2006/main" noGrp="1"/>
          </p:cNvSpPr>
          <p:nvPr/>
        </p:nvSpPr>
        <p:spPr>
          <a:xfrm xmlns:a="http://schemas.openxmlformats.org/drawingml/2006/main">
            <a:off x="523875" y="5019675"/>
            <a:ext cx="714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0">
                <a:solidFill>
                  <a:srgbClr val="2455E8"/>
                </a:solidFill>
                <a:latin typeface="Arial"/>
                <a:ea typeface="Arial"/>
                <a:cs typeface="Arial"/>
              </a:defRPr>
            </a:defPPr>
          </a:lstStyle>
          <a:p xmlns:a="http://schemas.openxmlformats.org/drawingml/2006/main">
            <a:pPr>
              <a:defRPr sz="3000" b="0">
                <a:solidFill>
                  <a:srgbClr val="2455E8"/>
                </a:solidFill>
                <a:latin typeface="Arial"/>
                <a:ea typeface="Arial"/>
                <a:cs typeface="Arial"/>
              </a:defRPr>
            </a:pPr>
            <a:r>
              <a:rPr sz="3000" b="0">
                <a:solidFill>
                  <a:srgbClr val="2455E8"/>
                </a:solidFill>
                <a:latin typeface="Arial"/>
                <a:ea typeface="Arial"/>
                <a:cs typeface="Arial"/>
              </a:rPr>
              <a:t>04</a:t>
            </a:r>
          </a:p>
        </p:txBody>
      </p:sp>
      <p:sp>
        <p:nvSpPr>
          <p:cNvPr id="17" name="">
            <a:extLst xmlns:a="http://schemas.openxmlformats.org/drawingml/2006/main">
              <a:ext uri="{FF2B5EF4-FFF2-40B4-BE49-F238E27FC236}">
                <a16:creationId xmlns:a16="http://schemas.microsoft.com/office/drawing/2014/main" id="{0CD2B7D7-BE40-4F10-AD93-5179690F41E4}"/>
              </a:ext>
            </a:extLst>
          </p:cNvPr>
          <p:cNvSpPr>
            <a:spLocks xmlns:a="http://schemas.openxmlformats.org/drawingml/2006/main" noGrp="1"/>
          </p:cNvSpPr>
          <p:nvPr/>
        </p:nvSpPr>
        <p:spPr>
          <a:xfrm xmlns:a="http://schemas.openxmlformats.org/drawingml/2006/main">
            <a:off x="1476375" y="506730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626B74"/>
                </a:solidFill>
                <a:latin typeface="Arial"/>
                <a:ea typeface="Arial"/>
                <a:cs typeface="Arial"/>
              </a:defRPr>
            </a:defPPr>
          </a:lstStyle>
          <a:p xmlns:a="http://schemas.openxmlformats.org/drawingml/2006/main">
            <a:pPr>
              <a:defRPr sz="1350" b="1">
                <a:solidFill>
                  <a:srgbClr val="626B74"/>
                </a:solidFill>
                <a:latin typeface="Arial"/>
                <a:ea typeface="Arial"/>
                <a:cs typeface="Arial"/>
              </a:defRPr>
            </a:pPr>
            <a:r>
              <a:rPr sz="1350" b="1">
                <a:solidFill>
                  <a:srgbClr val="626B74"/>
                </a:solidFill>
                <a:latin typeface="Arial"/>
                <a:ea typeface="Arial"/>
                <a:cs typeface="Arial"/>
              </a:rPr>
              <a:t>RENDER</a:t>
            </a:r>
          </a:p>
        </p:txBody>
      </p:sp>
      <p:sp>
        <p:nvSpPr>
          <p:cNvPr id="18" name="">
            <a:extLst xmlns:a="http://schemas.openxmlformats.org/drawingml/2006/main">
              <a:ext uri="{FF2B5EF4-FFF2-40B4-BE49-F238E27FC236}">
                <a16:creationId xmlns:a16="http://schemas.microsoft.com/office/drawing/2014/main" id="{AFB1A37E-FEFC-4DCF-89C4-D30479A4E20D}"/>
              </a:ext>
            </a:extLst>
          </p:cNvPr>
          <p:cNvSpPr>
            <a:spLocks xmlns:a="http://schemas.openxmlformats.org/drawingml/2006/main" noGrp="1"/>
          </p:cNvSpPr>
          <p:nvPr/>
        </p:nvSpPr>
        <p:spPr>
          <a:xfrm xmlns:a="http://schemas.openxmlformats.org/drawingml/2006/main">
            <a:off x="3381375" y="50196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5191D"/>
                </a:solidFill>
                <a:latin typeface="Arial"/>
                <a:ea typeface="Arial"/>
                <a:cs typeface="Arial"/>
              </a:defRPr>
            </a:defPPr>
          </a:lstStyle>
          <a:p xmlns:a="http://schemas.openxmlformats.org/drawingml/2006/main">
            <a:pPr>
              <a:defRPr sz="2625" b="1">
                <a:solidFill>
                  <a:srgbClr val="15191D"/>
                </a:solidFill>
                <a:latin typeface="Arial"/>
                <a:ea typeface="Arial"/>
                <a:cs typeface="Arial"/>
              </a:defRPr>
            </a:pPr>
            <a:r>
              <a:rPr sz="2625" b="1">
                <a:solidFill>
                  <a:srgbClr val="15191D"/>
                </a:solidFill>
                <a:latin typeface="Arial"/>
                <a:ea typeface="Arial"/>
                <a:cs typeface="Arial"/>
              </a:rPr>
              <a:t>WebGL / WebGPU</a:t>
            </a:r>
          </a:p>
        </p:txBody>
      </p:sp>
      <p:sp>
        <p:nvSpPr>
          <p:cNvPr id="19" name="">
            <a:extLst xmlns:a="http://schemas.openxmlformats.org/drawingml/2006/main">
              <a:ext uri="{FF2B5EF4-FFF2-40B4-BE49-F238E27FC236}">
                <a16:creationId xmlns:a16="http://schemas.microsoft.com/office/drawing/2014/main" id="{BC4527DC-5020-4327-BC5C-A92720584374}"/>
              </a:ext>
            </a:extLst>
          </p:cNvPr>
          <p:cNvSpPr>
            <a:spLocks xmlns:a="http://schemas.openxmlformats.org/drawingml/2006/main" noGrp="1"/>
          </p:cNvSpPr>
          <p:nvPr/>
        </p:nvSpPr>
        <p:spPr>
          <a:xfrm xmlns:a="http://schemas.openxmlformats.org/drawingml/2006/main">
            <a:off x="7905750" y="5067300"/>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GPU instructions and pixels</a:t>
            </a:r>
          </a:p>
        </p:txBody>
      </p:sp>
      <p:sp>
        <p:nvSpPr>
          <p:cNvPr id="20" name="">
            <a:extLst xmlns:a="http://schemas.openxmlformats.org/drawingml/2006/main">
              <a:ext uri="{FF2B5EF4-FFF2-40B4-BE49-F238E27FC236}">
                <a16:creationId xmlns:a16="http://schemas.microsoft.com/office/drawing/2014/main" id="{08DE0E84-72B2-4F0E-83A7-AC6DCEC64AC5}"/>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The website also needs HTML content, responsive layout and usable controls.</a:t>
            </a:r>
          </a:p>
        </p:txBody>
      </p:sp>
    </p:spTree>
    <p:extLst>
      <p:ext uri="{BB962C8B-B14F-4D97-AF65-F5344CB8AC3E}">
        <p14:creationId xmlns:p14="http://schemas.microsoft.com/office/powerpoint/2010/main" val="1430310139"/>
      </p:ext>
    </p:extLst>
  </p:cSld>
</p:sld>
</file>

<file path=ppt/slides/slide3.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9B9423D-4F41-4C26-9393-FB3E7CA4AA40}"/>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02 / AUTHORING</a:t>
            </a:r>
          </a:p>
        </p:txBody>
      </p:sp>
      <p:sp>
        <p:nvSpPr>
          <p:cNvPr id="2" name="">
            <a:extLst xmlns:a="http://schemas.openxmlformats.org/drawingml/2006/main">
              <a:ext uri="{FF2B5EF4-FFF2-40B4-BE49-F238E27FC236}">
                <a16:creationId xmlns:a16="http://schemas.microsoft.com/office/drawing/2014/main" id="{3FD1D10C-3595-4BF8-A9A2-08D8A08B4294}"/>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03 / 11</a:t>
            </a:r>
          </a:p>
        </p:txBody>
      </p:sp>
      <p:sp>
        <p:nvSpPr>
          <p:cNvPr id="3" name="">
            <a:extLst xmlns:a="http://schemas.openxmlformats.org/drawingml/2006/main">
              <a:ext uri="{FF2B5EF4-FFF2-40B4-BE49-F238E27FC236}">
                <a16:creationId xmlns:a16="http://schemas.microsoft.com/office/drawing/2014/main" id="{296FF6BD-FDC4-4058-B981-ECF4A7656D1E}"/>
              </a:ext>
            </a:extLst>
          </p:cNvPr>
          <p:cNvSpPr>
            <a:spLocks xmlns:a="http://schemas.openxmlformats.org/drawingml/2006/main" noGrp="1"/>
          </p:cNvSpPr>
          <p:nvPr/>
        </p:nvSpPr>
        <p:spPr>
          <a:xfrm xmlns:a="http://schemas.openxmlformats.org/drawingml/2006/main">
            <a:off x="523875" y="981075"/>
            <a:ext cx="571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2455E8"/>
                </a:solidFill>
                <a:latin typeface="Arial"/>
                <a:ea typeface="Arial"/>
                <a:cs typeface="Arial"/>
              </a:defRPr>
            </a:defPPr>
          </a:lstStyle>
          <a:p xmlns:a="http://schemas.openxmlformats.org/drawingml/2006/main">
            <a:pPr>
              <a:defRPr sz="4800" b="1">
                <a:solidFill>
                  <a:srgbClr val="2455E8"/>
                </a:solidFill>
                <a:latin typeface="Arial"/>
                <a:ea typeface="Arial"/>
                <a:cs typeface="Arial"/>
              </a:defRPr>
            </a:pPr>
            <a:r>
              <a:rPr sz="4800" b="1">
                <a:solidFill>
                  <a:srgbClr val="2455E8"/>
                </a:solidFill>
                <a:latin typeface="Arial"/>
                <a:ea typeface="Arial"/>
                <a:cs typeface="Arial"/>
              </a:rPr>
              <a:t>BLENDER</a:t>
            </a:r>
          </a:p>
        </p:txBody>
      </p:sp>
      <p:sp>
        <p:nvSpPr>
          <p:cNvPr id="4" name="">
            <a:extLst xmlns:a="http://schemas.openxmlformats.org/drawingml/2006/main">
              <a:ext uri="{FF2B5EF4-FFF2-40B4-BE49-F238E27FC236}">
                <a16:creationId xmlns:a16="http://schemas.microsoft.com/office/drawing/2014/main" id="{5FE98441-C24A-40CE-A296-FBFD6A650236}"/>
              </a:ext>
            </a:extLst>
          </p:cNvPr>
          <p:cNvSpPr>
            <a:spLocks xmlns:a="http://schemas.openxmlformats.org/drawingml/2006/main" noGrp="1"/>
          </p:cNvSpPr>
          <p:nvPr/>
        </p:nvSpPr>
        <p:spPr>
          <a:xfrm xmlns:a="http://schemas.openxmlformats.org/drawingml/2006/main">
            <a:off x="533400" y="1876425"/>
            <a:ext cx="6572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75" b="1">
                <a:solidFill>
                  <a:srgbClr val="15191D"/>
                </a:solidFill>
                <a:latin typeface="Arial"/>
                <a:ea typeface="Arial"/>
                <a:cs typeface="Arial"/>
              </a:defRPr>
            </a:defPPr>
          </a:lstStyle>
          <a:p xmlns:a="http://schemas.openxmlformats.org/drawingml/2006/main">
            <a:pPr>
              <a:defRPr sz="3675" b="1">
                <a:solidFill>
                  <a:srgbClr val="15191D"/>
                </a:solidFill>
                <a:latin typeface="Arial"/>
                <a:ea typeface="Arial"/>
                <a:cs typeface="Arial"/>
              </a:defRPr>
            </a:pPr>
            <a:r>
              <a:rPr sz="3675" b="1">
                <a:solidFill>
                  <a:srgbClr val="15191D"/>
                </a:solidFill>
                <a:latin typeface="Arial"/>
                <a:ea typeface="Arial"/>
                <a:cs typeface="Arial"/>
              </a:rPr>
              <a:t>The source asset</a:t>
            </a:r>
          </a:p>
          <a:p xmlns:a="http://schemas.openxmlformats.org/drawingml/2006/main">
            <a:pPr>
              <a:defRPr sz="3675" b="1">
                <a:solidFill>
                  <a:srgbClr val="15191D"/>
                </a:solidFill>
                <a:latin typeface="Arial"/>
                <a:ea typeface="Arial"/>
                <a:cs typeface="Arial"/>
              </a:defRPr>
            </a:pPr>
            <a:r>
              <a:rPr sz="3675" b="1">
                <a:solidFill>
                  <a:srgbClr val="15191D"/>
                </a:solidFill>
                <a:latin typeface="Arial"/>
                <a:ea typeface="Arial"/>
                <a:cs typeface="Arial"/>
              </a:rPr>
              <a:t>sets the quality ceiling.</a:t>
            </a:r>
          </a:p>
        </p:txBody>
      </p:sp>
      <p:pic>
        <p:nvPicPr>
          <p:cNvPr id="5" name="">
            <a:extLst xmlns:a="http://schemas.openxmlformats.org/drawingml/2006/main">
              <a:ext uri="{FF2B5EF4-FFF2-40B4-BE49-F238E27FC236}">
                <a16:creationId xmlns:a16="http://schemas.microsoft.com/office/drawing/2014/main" id="{ECB0D54E-6921-4F7A-9B03-BB66EDAA81BB}"/>
              </a:ext>
            </a:extLst>
          </p:cNvPr>
          <p:cNvPicPr>
            <a:picLocks xmlns:a="http://schemas.openxmlformats.org/drawingml/2006/main" noChangeAspect="1"/>
          </p:cNvPicPr>
          <p:nvPr/>
        </p:nvPicPr>
        <p:blipFill>
          <a:blip xmlns:r="http://schemas.openxmlformats.org/officeDocument/2006/relationships" xmlns:a="http://schemas.openxmlformats.org/drawingml/2006/main" r:embed="R166e19809b894eda"/>
          <a:stretch xmlns:a="http://schemas.openxmlformats.org/drawingml/2006/main"/>
        </p:blipFill>
        <p:spPr>
          <a:xfrm xmlns:a="http://schemas.openxmlformats.org/drawingml/2006/main">
            <a:off x="8101013" y="1885950"/>
            <a:ext cx="2590800" cy="25908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77D7D94-871D-4D36-AE08-94C4888C1988}"/>
              </a:ext>
            </a:extLst>
          </p:cNvPr>
          <p:cNvSpPr>
            <a:spLocks xmlns:a="http://schemas.openxmlformats.org/drawingml/2006/main" noGrp="1"/>
          </p:cNvSpPr>
          <p:nvPr/>
        </p:nvSpPr>
        <p:spPr>
          <a:xfrm xmlns:a="http://schemas.openxmlformats.org/drawingml/2006/main">
            <a:off x="542925" y="45720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455E8"/>
                </a:solidFill>
                <a:latin typeface="Arial"/>
                <a:ea typeface="Arial"/>
                <a:cs typeface="Arial"/>
              </a:defRPr>
            </a:defPPr>
          </a:lstStyle>
          <a:p xmlns:a="http://schemas.openxmlformats.org/drawingml/2006/main">
            <a:pPr>
              <a:defRPr sz="2250" b="1">
                <a:solidFill>
                  <a:srgbClr val="2455E8"/>
                </a:solidFill>
                <a:latin typeface="Arial"/>
                <a:ea typeface="Arial"/>
                <a:cs typeface="Arial"/>
              </a:defRPr>
            </a:pPr>
            <a:r>
              <a:rPr sz="2250" b="1">
                <a:solidFill>
                  <a:srgbClr val="2455E8"/>
                </a:solidFill>
                <a:latin typeface="Arial"/>
                <a:ea typeface="Arial"/>
                <a:cs typeface="Arial"/>
              </a:rPr>
              <a:t>Geometry</a:t>
            </a:r>
          </a:p>
        </p:txBody>
      </p:sp>
      <p:sp>
        <p:nvSpPr>
          <p:cNvPr id="7" name="">
            <a:extLst xmlns:a="http://schemas.openxmlformats.org/drawingml/2006/main">
              <a:ext uri="{FF2B5EF4-FFF2-40B4-BE49-F238E27FC236}">
                <a16:creationId xmlns:a16="http://schemas.microsoft.com/office/drawing/2014/main" id="{3E3D41F3-628D-4728-AE56-F781CD4EE333}"/>
              </a:ext>
            </a:extLst>
          </p:cNvPr>
          <p:cNvSpPr>
            <a:spLocks xmlns:a="http://schemas.openxmlformats.org/drawingml/2006/main" noGrp="1"/>
          </p:cNvSpPr>
          <p:nvPr/>
        </p:nvSpPr>
        <p:spPr>
          <a:xfrm xmlns:a="http://schemas.openxmlformats.org/drawingml/2006/main">
            <a:off x="542925" y="5105400"/>
            <a:ext cx="34004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Accurate proportions.</a:t>
            </a:r>
          </a:p>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Separate moving parts.</a:t>
            </a:r>
          </a:p>
        </p:txBody>
      </p:sp>
      <p:sp>
        <p:nvSpPr>
          <p:cNvPr id="8" name="">
            <a:extLst xmlns:a="http://schemas.openxmlformats.org/drawingml/2006/main">
              <a:ext uri="{FF2B5EF4-FFF2-40B4-BE49-F238E27FC236}">
                <a16:creationId xmlns:a16="http://schemas.microsoft.com/office/drawing/2014/main" id="{F37EEB27-230B-4931-A299-5EE144731966}"/>
              </a:ext>
            </a:extLst>
          </p:cNvPr>
          <p:cNvSpPr>
            <a:spLocks xmlns:a="http://schemas.openxmlformats.org/drawingml/2006/main" noGrp="1"/>
          </p:cNvSpPr>
          <p:nvPr/>
        </p:nvSpPr>
        <p:spPr>
          <a:xfrm xmlns:a="http://schemas.openxmlformats.org/drawingml/2006/main">
            <a:off x="4305300" y="45720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455E8"/>
                </a:solidFill>
                <a:latin typeface="Arial"/>
                <a:ea typeface="Arial"/>
                <a:cs typeface="Arial"/>
              </a:defRPr>
            </a:defPPr>
          </a:lstStyle>
          <a:p xmlns:a="http://schemas.openxmlformats.org/drawingml/2006/main">
            <a:pPr>
              <a:defRPr sz="2250" b="1">
                <a:solidFill>
                  <a:srgbClr val="2455E8"/>
                </a:solidFill>
                <a:latin typeface="Arial"/>
                <a:ea typeface="Arial"/>
                <a:cs typeface="Arial"/>
              </a:defRPr>
            </a:pPr>
            <a:r>
              <a:rPr sz="2250" b="1">
                <a:solidFill>
                  <a:srgbClr val="2455E8"/>
                </a:solidFill>
                <a:latin typeface="Arial"/>
                <a:ea typeface="Arial"/>
                <a:cs typeface="Arial"/>
              </a:rPr>
              <a:t>Materials</a:t>
            </a:r>
          </a:p>
        </p:txBody>
      </p:sp>
      <p:sp>
        <p:nvSpPr>
          <p:cNvPr id="9" name="">
            <a:extLst xmlns:a="http://schemas.openxmlformats.org/drawingml/2006/main">
              <a:ext uri="{FF2B5EF4-FFF2-40B4-BE49-F238E27FC236}">
                <a16:creationId xmlns:a16="http://schemas.microsoft.com/office/drawing/2014/main" id="{8497E877-5945-4681-AC4E-53DB0401677C}"/>
              </a:ext>
            </a:extLst>
          </p:cNvPr>
          <p:cNvSpPr>
            <a:spLocks xmlns:a="http://schemas.openxmlformats.org/drawingml/2006/main" noGrp="1"/>
          </p:cNvSpPr>
          <p:nvPr/>
        </p:nvSpPr>
        <p:spPr>
          <a:xfrm xmlns:a="http://schemas.openxmlformats.org/drawingml/2006/main">
            <a:off x="4305300" y="5105400"/>
            <a:ext cx="34004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Web-compatible surfaces.</a:t>
            </a:r>
          </a:p>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Bake complex shading.</a:t>
            </a:r>
          </a:p>
        </p:txBody>
      </p:sp>
      <p:sp>
        <p:nvSpPr>
          <p:cNvPr id="10" name="">
            <a:extLst xmlns:a="http://schemas.openxmlformats.org/drawingml/2006/main">
              <a:ext uri="{FF2B5EF4-FFF2-40B4-BE49-F238E27FC236}">
                <a16:creationId xmlns:a16="http://schemas.microsoft.com/office/drawing/2014/main" id="{CCB53B2B-C498-49C3-9AEF-CE7C14F55DD4}"/>
              </a:ext>
            </a:extLst>
          </p:cNvPr>
          <p:cNvSpPr>
            <a:spLocks xmlns:a="http://schemas.openxmlformats.org/drawingml/2006/main" noGrp="1"/>
          </p:cNvSpPr>
          <p:nvPr/>
        </p:nvSpPr>
        <p:spPr>
          <a:xfrm xmlns:a="http://schemas.openxmlformats.org/drawingml/2006/main">
            <a:off x="8067675" y="4572000"/>
            <a:ext cx="3476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2455E8"/>
                </a:solidFill>
                <a:latin typeface="Arial"/>
                <a:ea typeface="Arial"/>
                <a:cs typeface="Arial"/>
              </a:defRPr>
            </a:defPPr>
          </a:lstStyle>
          <a:p xmlns:a="http://schemas.openxmlformats.org/drawingml/2006/main">
            <a:pPr>
              <a:defRPr sz="2250" b="1">
                <a:solidFill>
                  <a:srgbClr val="2455E8"/>
                </a:solidFill>
                <a:latin typeface="Arial"/>
                <a:ea typeface="Arial"/>
                <a:cs typeface="Arial"/>
              </a:defRPr>
            </a:pPr>
            <a:r>
              <a:rPr sz="2250" b="1">
                <a:solidFill>
                  <a:srgbClr val="2455E8"/>
                </a:solidFill>
                <a:latin typeface="Arial"/>
                <a:ea typeface="Arial"/>
                <a:cs typeface="Arial"/>
              </a:rPr>
              <a:t>Export</a:t>
            </a:r>
          </a:p>
        </p:txBody>
      </p:sp>
      <p:sp>
        <p:nvSpPr>
          <p:cNvPr id="11" name="">
            <a:extLst xmlns:a="http://schemas.openxmlformats.org/drawingml/2006/main">
              <a:ext uri="{FF2B5EF4-FFF2-40B4-BE49-F238E27FC236}">
                <a16:creationId xmlns:a16="http://schemas.microsoft.com/office/drawing/2014/main" id="{426EA8D8-C33C-4C53-9307-84C338CE5C2D}"/>
              </a:ext>
            </a:extLst>
          </p:cNvPr>
          <p:cNvSpPr>
            <a:spLocks xmlns:a="http://schemas.openxmlformats.org/drawingml/2006/main" noGrp="1"/>
          </p:cNvSpPr>
          <p:nvPr/>
        </p:nvSpPr>
        <p:spPr>
          <a:xfrm xmlns:a="http://schemas.openxmlformats.org/drawingml/2006/main">
            <a:off x="8067675" y="5105400"/>
            <a:ext cx="34004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91D"/>
                </a:solidFill>
                <a:latin typeface="Arial"/>
                <a:ea typeface="Arial"/>
                <a:cs typeface="Arial"/>
              </a:defRPr>
            </a:defPPr>
          </a:lstStyle>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Named parts and clips.</a:t>
            </a:r>
          </a:p>
          <a:p xmlns:a="http://schemas.openxmlformats.org/drawingml/2006/main">
            <a:pPr>
              <a:defRPr sz="1875" b="0">
                <a:solidFill>
                  <a:srgbClr val="15191D"/>
                </a:solidFill>
                <a:latin typeface="Arial"/>
                <a:ea typeface="Arial"/>
                <a:cs typeface="Arial"/>
              </a:defRPr>
            </a:pPr>
            <a:r>
              <a:rPr sz="1875" b="0">
                <a:solidFill>
                  <a:srgbClr val="15191D"/>
                </a:solidFill>
                <a:latin typeface="Arial"/>
                <a:ea typeface="Arial"/>
                <a:cs typeface="Arial"/>
              </a:rPr>
              <a:t>Review the GLB in-browser.</a:t>
            </a:r>
          </a:p>
        </p:txBody>
      </p:sp>
      <p:sp>
        <p:nvSpPr>
          <p:cNvPr id="12" name="">
            <a:extLst xmlns:a="http://schemas.openxmlformats.org/drawingml/2006/main">
              <a:ext uri="{FF2B5EF4-FFF2-40B4-BE49-F238E27FC236}">
                <a16:creationId xmlns:a16="http://schemas.microsoft.com/office/drawing/2014/main" id="{3FD06189-59AC-452C-8DDF-9A8BAB6E5115}"/>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Handoff: editable source + approved GLB + reference views.</a:t>
            </a:r>
          </a:p>
        </p:txBody>
      </p:sp>
    </p:spTree>
    <p:extLst>
      <p:ext uri="{BB962C8B-B14F-4D97-AF65-F5344CB8AC3E}">
        <p14:creationId xmlns:p14="http://schemas.microsoft.com/office/powerpoint/2010/main" val="316736024"/>
      </p:ext>
    </p:extLst>
  </p:cSld>
</p:sld>
</file>

<file path=ppt/slides/slide4.xml><?xml version="1.0" encoding="utf-8"?>
<p:sld xmlns:p="http://schemas.openxmlformats.org/presentationml/2006/main">
  <p:cSld>
    <p:bg>
      <p:bgPr>
        <a:solidFill xmlns:a="http://schemas.openxmlformats.org/drawingml/2006/main">
          <a:srgbClr val="15191D"/>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A16C1DB-6C4C-4B2B-8C10-1C3AE3F8C97B}"/>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03 / THE RUNTIME</a:t>
            </a:r>
          </a:p>
        </p:txBody>
      </p:sp>
      <p:sp>
        <p:nvSpPr>
          <p:cNvPr id="2" name="">
            <a:extLst xmlns:a="http://schemas.openxmlformats.org/drawingml/2006/main">
              <a:ext uri="{FF2B5EF4-FFF2-40B4-BE49-F238E27FC236}">
                <a16:creationId xmlns:a16="http://schemas.microsoft.com/office/drawing/2014/main" id="{3AE701AD-CA0D-4D57-B912-1538A29CDD76}"/>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04 / 11</a:t>
            </a:r>
          </a:p>
        </p:txBody>
      </p:sp>
      <p:sp>
        <p:nvSpPr>
          <p:cNvPr id="3" name="">
            <a:extLst xmlns:a="http://schemas.openxmlformats.org/drawingml/2006/main">
              <a:ext uri="{FF2B5EF4-FFF2-40B4-BE49-F238E27FC236}">
                <a16:creationId xmlns:a16="http://schemas.microsoft.com/office/drawing/2014/main" id="{5B6E441F-1E4E-47CE-B390-33FA9EA0DCDF}"/>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FFFFFF"/>
                </a:solidFill>
                <a:latin typeface="Arial"/>
                <a:ea typeface="Arial"/>
                <a:cs typeface="Arial"/>
              </a:defRPr>
            </a:defPPr>
          </a:lstStyle>
          <a:p xmlns:a="http://schemas.openxmlformats.org/drawingml/2006/main">
            <a:pPr>
              <a:defRPr sz="4275" b="1">
                <a:solidFill>
                  <a:srgbClr val="FFFFFF"/>
                </a:solidFill>
                <a:latin typeface="Arial"/>
                <a:ea typeface="Arial"/>
                <a:cs typeface="Arial"/>
              </a:defRPr>
            </a:pPr>
            <a:r>
              <a:rPr sz="4275" b="1">
                <a:solidFill>
                  <a:srgbClr val="FFFFFF"/>
                </a:solidFill>
                <a:latin typeface="Arial"/>
                <a:ea typeface="Arial"/>
                <a:cs typeface="Arial"/>
              </a:rPr>
              <a:t>Three.js turns input</a:t>
            </a:r>
          </a:p>
          <a:p xmlns:a="http://schemas.openxmlformats.org/drawingml/2006/main">
            <a:pPr>
              <a:defRPr sz="4275" b="1">
                <a:solidFill>
                  <a:srgbClr val="FFFFFF"/>
                </a:solidFill>
                <a:latin typeface="Arial"/>
                <a:ea typeface="Arial"/>
                <a:cs typeface="Arial"/>
              </a:defRPr>
            </a:pPr>
            <a:r>
              <a:rPr sz="4275" b="1">
                <a:solidFill>
                  <a:srgbClr val="FFFFFF"/>
                </a:solidFill>
                <a:latin typeface="Arial"/>
                <a:ea typeface="Arial"/>
                <a:cs typeface="Arial"/>
              </a:rPr>
              <a:t>into a scene change.</a:t>
            </a:r>
          </a:p>
        </p:txBody>
      </p:sp>
      <p:sp>
        <p:nvSpPr>
          <p:cNvPr id="4" name="">
            <a:extLst xmlns:a="http://schemas.openxmlformats.org/drawingml/2006/main">
              <a:ext uri="{FF2B5EF4-FFF2-40B4-BE49-F238E27FC236}">
                <a16:creationId xmlns:a16="http://schemas.microsoft.com/office/drawing/2014/main" id="{CAA8755B-ABE0-4659-ABA4-B1840141A1CB}"/>
              </a:ext>
            </a:extLst>
          </p:cNvPr>
          <p:cNvSpPr>
            <a:spLocks xmlns:a="http://schemas.openxmlformats.org/drawingml/2006/main" noGrp="1"/>
          </p:cNvSpPr>
          <p:nvPr/>
        </p:nvSpPr>
        <p:spPr>
          <a:xfrm xmlns:a="http://schemas.openxmlformats.org/drawingml/2006/main">
            <a:off x="533400" y="3209925"/>
            <a:ext cx="257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CDF36A"/>
                </a:solidFill>
                <a:latin typeface="Arial"/>
                <a:ea typeface="Arial"/>
                <a:cs typeface="Arial"/>
              </a:defRPr>
            </a:defPPr>
          </a:lstStyle>
          <a:p xmlns:a="http://schemas.openxmlformats.org/drawingml/2006/main">
            <a:pPr>
              <a:defRPr sz="5700" b="1">
                <a:solidFill>
                  <a:srgbClr val="CDF36A"/>
                </a:solidFill>
                <a:latin typeface="Arial"/>
                <a:ea typeface="Arial"/>
                <a:cs typeface="Arial"/>
              </a:defRPr>
            </a:pPr>
            <a:r>
              <a:rPr sz="5700" b="1">
                <a:solidFill>
                  <a:srgbClr val="CDF36A"/>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0EEE3761-0A82-40FF-BA35-CAAF2D09151B}"/>
              </a:ext>
            </a:extLst>
          </p:cNvPr>
          <p:cNvSpPr>
            <a:spLocks xmlns:a="http://schemas.openxmlformats.org/drawingml/2006/main" noGrp="1"/>
          </p:cNvSpPr>
          <p:nvPr/>
        </p:nvSpPr>
        <p:spPr>
          <a:xfrm xmlns:a="http://schemas.openxmlformats.org/drawingml/2006/main">
            <a:off x="533400" y="4238625"/>
            <a:ext cx="2571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7AFB8"/>
                </a:solidFill>
                <a:latin typeface="Arial"/>
                <a:ea typeface="Arial"/>
                <a:cs typeface="Arial"/>
              </a:defRPr>
            </a:defPPr>
          </a:lstStyle>
          <a:p xmlns:a="http://schemas.openxmlformats.org/drawingml/2006/main">
            <a:pPr>
              <a:defRPr sz="1425" b="1">
                <a:solidFill>
                  <a:srgbClr val="A7AFB8"/>
                </a:solidFill>
                <a:latin typeface="Arial"/>
                <a:ea typeface="Arial"/>
                <a:cs typeface="Arial"/>
              </a:defRPr>
            </a:pPr>
            <a:r>
              <a:rPr sz="1425" b="1">
                <a:solidFill>
                  <a:srgbClr val="A7AFB8"/>
                </a:solidFill>
                <a:latin typeface="Arial"/>
                <a:ea typeface="Arial"/>
                <a:cs typeface="Arial"/>
              </a:rPr>
              <a:t>INPUT</a:t>
            </a:r>
          </a:p>
        </p:txBody>
      </p:sp>
      <p:sp>
        <p:nvSpPr>
          <p:cNvPr id="6" name="">
            <a:extLst xmlns:a="http://schemas.openxmlformats.org/drawingml/2006/main">
              <a:ext uri="{FF2B5EF4-FFF2-40B4-BE49-F238E27FC236}">
                <a16:creationId xmlns:a16="http://schemas.microsoft.com/office/drawing/2014/main" id="{FEAD1748-20D3-4FAE-9844-453BC1A98A8B}"/>
              </a:ext>
            </a:extLst>
          </p:cNvPr>
          <p:cNvSpPr>
            <a:spLocks xmlns:a="http://schemas.openxmlformats.org/drawingml/2006/main" noGrp="1"/>
          </p:cNvSpPr>
          <p:nvPr/>
        </p:nvSpPr>
        <p:spPr>
          <a:xfrm xmlns:a="http://schemas.openxmlformats.org/drawingml/2006/main">
            <a:off x="533400" y="4686300"/>
            <a:ext cx="26289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FFFFF"/>
                </a:solidFill>
                <a:latin typeface="Arial"/>
                <a:ea typeface="Arial"/>
                <a:cs typeface="Arial"/>
              </a:defRPr>
            </a:defPPr>
          </a:lstStyle>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Click a lens</a:t>
            </a:r>
          </a:p>
        </p:txBody>
      </p:sp>
      <p:sp>
        <p:nvSpPr>
          <p:cNvPr id="7" name="">
            <a:extLst xmlns:a="http://schemas.openxmlformats.org/drawingml/2006/main">
              <a:ext uri="{FF2B5EF4-FFF2-40B4-BE49-F238E27FC236}">
                <a16:creationId xmlns:a16="http://schemas.microsoft.com/office/drawing/2014/main" id="{E8A44552-0805-43A0-AE5C-C6B6E95D0901}"/>
              </a:ext>
            </a:extLst>
          </p:cNvPr>
          <p:cNvSpPr>
            <a:spLocks xmlns:a="http://schemas.openxmlformats.org/drawingml/2006/main" noGrp="1"/>
          </p:cNvSpPr>
          <p:nvPr/>
        </p:nvSpPr>
        <p:spPr>
          <a:xfrm xmlns:a="http://schemas.openxmlformats.org/drawingml/2006/main">
            <a:off x="3438525" y="3209925"/>
            <a:ext cx="257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CDF36A"/>
                </a:solidFill>
                <a:latin typeface="Arial"/>
                <a:ea typeface="Arial"/>
                <a:cs typeface="Arial"/>
              </a:defRPr>
            </a:defPPr>
          </a:lstStyle>
          <a:p xmlns:a="http://schemas.openxmlformats.org/drawingml/2006/main">
            <a:pPr>
              <a:defRPr sz="5700" b="1">
                <a:solidFill>
                  <a:srgbClr val="CDF36A"/>
                </a:solidFill>
                <a:latin typeface="Arial"/>
                <a:ea typeface="Arial"/>
                <a:cs typeface="Arial"/>
              </a:defRPr>
            </a:pPr>
            <a:r>
              <a:rPr sz="5700" b="1">
                <a:solidFill>
                  <a:srgbClr val="CDF36A"/>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7FF8F87E-F2B4-410C-8E0F-ECAE6CBBAB49}"/>
              </a:ext>
            </a:extLst>
          </p:cNvPr>
          <p:cNvSpPr>
            <a:spLocks xmlns:a="http://schemas.openxmlformats.org/drawingml/2006/main" noGrp="1"/>
          </p:cNvSpPr>
          <p:nvPr/>
        </p:nvSpPr>
        <p:spPr>
          <a:xfrm xmlns:a="http://schemas.openxmlformats.org/drawingml/2006/main">
            <a:off x="3438525" y="4238625"/>
            <a:ext cx="2571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7AFB8"/>
                </a:solidFill>
                <a:latin typeface="Arial"/>
                <a:ea typeface="Arial"/>
                <a:cs typeface="Arial"/>
              </a:defRPr>
            </a:defPPr>
          </a:lstStyle>
          <a:p xmlns:a="http://schemas.openxmlformats.org/drawingml/2006/main">
            <a:pPr>
              <a:defRPr sz="1425" b="1">
                <a:solidFill>
                  <a:srgbClr val="A7AFB8"/>
                </a:solidFill>
                <a:latin typeface="Arial"/>
                <a:ea typeface="Arial"/>
                <a:cs typeface="Arial"/>
              </a:defRPr>
            </a:pPr>
            <a:r>
              <a:rPr sz="1425" b="1">
                <a:solidFill>
                  <a:srgbClr val="A7AFB8"/>
                </a:solidFill>
                <a:latin typeface="Arial"/>
                <a:ea typeface="Arial"/>
                <a:cs typeface="Arial"/>
              </a:rPr>
              <a:t>PICK</a:t>
            </a:r>
          </a:p>
        </p:txBody>
      </p:sp>
      <p:sp>
        <p:nvSpPr>
          <p:cNvPr id="9" name="">
            <a:extLst xmlns:a="http://schemas.openxmlformats.org/drawingml/2006/main">
              <a:ext uri="{FF2B5EF4-FFF2-40B4-BE49-F238E27FC236}">
                <a16:creationId xmlns:a16="http://schemas.microsoft.com/office/drawing/2014/main" id="{BC731479-BE5A-452F-B1CA-A0A2DBC05AE2}"/>
              </a:ext>
            </a:extLst>
          </p:cNvPr>
          <p:cNvSpPr>
            <a:spLocks xmlns:a="http://schemas.openxmlformats.org/drawingml/2006/main" noGrp="1"/>
          </p:cNvSpPr>
          <p:nvPr/>
        </p:nvSpPr>
        <p:spPr>
          <a:xfrm xmlns:a="http://schemas.openxmlformats.org/drawingml/2006/main">
            <a:off x="3438525" y="4686300"/>
            <a:ext cx="26289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FFFFF"/>
                </a:solidFill>
                <a:latin typeface="Arial"/>
                <a:ea typeface="Arial"/>
                <a:cs typeface="Arial"/>
              </a:defRPr>
            </a:defPPr>
          </a:lstStyle>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Identify the part</a:t>
            </a:r>
          </a:p>
        </p:txBody>
      </p:sp>
      <p:sp>
        <p:nvSpPr>
          <p:cNvPr id="10" name="">
            <a:extLst xmlns:a="http://schemas.openxmlformats.org/drawingml/2006/main">
              <a:ext uri="{FF2B5EF4-FFF2-40B4-BE49-F238E27FC236}">
                <a16:creationId xmlns:a16="http://schemas.microsoft.com/office/drawing/2014/main" id="{07CAE27D-2B90-4A3D-88EA-60965EBBEE65}"/>
              </a:ext>
            </a:extLst>
          </p:cNvPr>
          <p:cNvSpPr>
            <a:spLocks xmlns:a="http://schemas.openxmlformats.org/drawingml/2006/main" noGrp="1"/>
          </p:cNvSpPr>
          <p:nvPr/>
        </p:nvSpPr>
        <p:spPr>
          <a:xfrm xmlns:a="http://schemas.openxmlformats.org/drawingml/2006/main">
            <a:off x="6343650" y="3209925"/>
            <a:ext cx="257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CDF36A"/>
                </a:solidFill>
                <a:latin typeface="Arial"/>
                <a:ea typeface="Arial"/>
                <a:cs typeface="Arial"/>
              </a:defRPr>
            </a:defPPr>
          </a:lstStyle>
          <a:p xmlns:a="http://schemas.openxmlformats.org/drawingml/2006/main">
            <a:pPr>
              <a:defRPr sz="5700" b="1">
                <a:solidFill>
                  <a:srgbClr val="CDF36A"/>
                </a:solidFill>
                <a:latin typeface="Arial"/>
                <a:ea typeface="Arial"/>
                <a:cs typeface="Arial"/>
              </a:defRPr>
            </a:pPr>
            <a:r>
              <a:rPr sz="5700" b="1">
                <a:solidFill>
                  <a:srgbClr val="CDF36A"/>
                </a:solidFill>
                <a:latin typeface="Arial"/>
                <a:ea typeface="Arial"/>
                <a:cs typeface="Arial"/>
              </a:rPr>
              <a:t>03</a:t>
            </a:r>
          </a:p>
        </p:txBody>
      </p:sp>
      <p:sp>
        <p:nvSpPr>
          <p:cNvPr id="11" name="">
            <a:extLst xmlns:a="http://schemas.openxmlformats.org/drawingml/2006/main">
              <a:ext uri="{FF2B5EF4-FFF2-40B4-BE49-F238E27FC236}">
                <a16:creationId xmlns:a16="http://schemas.microsoft.com/office/drawing/2014/main" id="{DDD7D9E6-2087-42C4-B8EE-1E1BD382B133}"/>
              </a:ext>
            </a:extLst>
          </p:cNvPr>
          <p:cNvSpPr>
            <a:spLocks xmlns:a="http://schemas.openxmlformats.org/drawingml/2006/main" noGrp="1"/>
          </p:cNvSpPr>
          <p:nvPr/>
        </p:nvSpPr>
        <p:spPr>
          <a:xfrm xmlns:a="http://schemas.openxmlformats.org/drawingml/2006/main">
            <a:off x="6343650" y="4238625"/>
            <a:ext cx="2571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7AFB8"/>
                </a:solidFill>
                <a:latin typeface="Arial"/>
                <a:ea typeface="Arial"/>
                <a:cs typeface="Arial"/>
              </a:defRPr>
            </a:defPPr>
          </a:lstStyle>
          <a:p xmlns:a="http://schemas.openxmlformats.org/drawingml/2006/main">
            <a:pPr>
              <a:defRPr sz="1425" b="1">
                <a:solidFill>
                  <a:srgbClr val="A7AFB8"/>
                </a:solidFill>
                <a:latin typeface="Arial"/>
                <a:ea typeface="Arial"/>
                <a:cs typeface="Arial"/>
              </a:defRPr>
            </a:pPr>
            <a:r>
              <a:rPr sz="1425" b="1">
                <a:solidFill>
                  <a:srgbClr val="A7AFB8"/>
                </a:solidFill>
                <a:latin typeface="Arial"/>
                <a:ea typeface="Arial"/>
                <a:cs typeface="Arial"/>
              </a:rPr>
              <a:t>UPDATE</a:t>
            </a:r>
          </a:p>
        </p:txBody>
      </p:sp>
      <p:sp>
        <p:nvSpPr>
          <p:cNvPr id="12" name="">
            <a:extLst xmlns:a="http://schemas.openxmlformats.org/drawingml/2006/main">
              <a:ext uri="{FF2B5EF4-FFF2-40B4-BE49-F238E27FC236}">
                <a16:creationId xmlns:a16="http://schemas.microsoft.com/office/drawing/2014/main" id="{F480B211-24F7-483F-9830-A3728A67089F}"/>
              </a:ext>
            </a:extLst>
          </p:cNvPr>
          <p:cNvSpPr>
            <a:spLocks xmlns:a="http://schemas.openxmlformats.org/drawingml/2006/main" noGrp="1"/>
          </p:cNvSpPr>
          <p:nvPr/>
        </p:nvSpPr>
        <p:spPr>
          <a:xfrm xmlns:a="http://schemas.openxmlformats.org/drawingml/2006/main">
            <a:off x="6343650" y="4686300"/>
            <a:ext cx="26289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FFFFF"/>
                </a:solidFill>
                <a:latin typeface="Arial"/>
                <a:ea typeface="Arial"/>
                <a:cs typeface="Arial"/>
              </a:defRPr>
            </a:defPPr>
          </a:lstStyle>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Focus + explain</a:t>
            </a:r>
          </a:p>
        </p:txBody>
      </p:sp>
      <p:sp>
        <p:nvSpPr>
          <p:cNvPr id="13" name="">
            <a:extLst xmlns:a="http://schemas.openxmlformats.org/drawingml/2006/main">
              <a:ext uri="{FF2B5EF4-FFF2-40B4-BE49-F238E27FC236}">
                <a16:creationId xmlns:a16="http://schemas.microsoft.com/office/drawing/2014/main" id="{0988C703-2482-445C-A02D-4F1EBCB1E6F6}"/>
              </a:ext>
            </a:extLst>
          </p:cNvPr>
          <p:cNvSpPr>
            <a:spLocks xmlns:a="http://schemas.openxmlformats.org/drawingml/2006/main" noGrp="1"/>
          </p:cNvSpPr>
          <p:nvPr/>
        </p:nvSpPr>
        <p:spPr>
          <a:xfrm xmlns:a="http://schemas.openxmlformats.org/drawingml/2006/main">
            <a:off x="9248775" y="3209925"/>
            <a:ext cx="2571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CDF36A"/>
                </a:solidFill>
                <a:latin typeface="Arial"/>
                <a:ea typeface="Arial"/>
                <a:cs typeface="Arial"/>
              </a:defRPr>
            </a:defPPr>
          </a:lstStyle>
          <a:p xmlns:a="http://schemas.openxmlformats.org/drawingml/2006/main">
            <a:pPr>
              <a:defRPr sz="5700" b="1">
                <a:solidFill>
                  <a:srgbClr val="CDF36A"/>
                </a:solidFill>
                <a:latin typeface="Arial"/>
                <a:ea typeface="Arial"/>
                <a:cs typeface="Arial"/>
              </a:defRPr>
            </a:pPr>
            <a:r>
              <a:rPr sz="5700" b="1">
                <a:solidFill>
                  <a:srgbClr val="CDF36A"/>
                </a:solidFill>
                <a:latin typeface="Arial"/>
                <a:ea typeface="Arial"/>
                <a:cs typeface="Arial"/>
              </a:rPr>
              <a:t>04</a:t>
            </a:r>
          </a:p>
        </p:txBody>
      </p:sp>
      <p:sp>
        <p:nvSpPr>
          <p:cNvPr id="14" name="">
            <a:extLst xmlns:a="http://schemas.openxmlformats.org/drawingml/2006/main">
              <a:ext uri="{FF2B5EF4-FFF2-40B4-BE49-F238E27FC236}">
                <a16:creationId xmlns:a16="http://schemas.microsoft.com/office/drawing/2014/main" id="{80972BFE-F869-4A0E-853C-4874A05F9D7A}"/>
              </a:ext>
            </a:extLst>
          </p:cNvPr>
          <p:cNvSpPr>
            <a:spLocks xmlns:a="http://schemas.openxmlformats.org/drawingml/2006/main" noGrp="1"/>
          </p:cNvSpPr>
          <p:nvPr/>
        </p:nvSpPr>
        <p:spPr>
          <a:xfrm xmlns:a="http://schemas.openxmlformats.org/drawingml/2006/main">
            <a:off x="9248775" y="4238625"/>
            <a:ext cx="2571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1">
                <a:solidFill>
                  <a:srgbClr val="A7AFB8"/>
                </a:solidFill>
                <a:latin typeface="Arial"/>
                <a:ea typeface="Arial"/>
                <a:cs typeface="Arial"/>
              </a:defRPr>
            </a:defPPr>
          </a:lstStyle>
          <a:p xmlns:a="http://schemas.openxmlformats.org/drawingml/2006/main">
            <a:pPr>
              <a:defRPr sz="1425" b="1">
                <a:solidFill>
                  <a:srgbClr val="A7AFB8"/>
                </a:solidFill>
                <a:latin typeface="Arial"/>
                <a:ea typeface="Arial"/>
                <a:cs typeface="Arial"/>
              </a:defRPr>
            </a:pPr>
            <a:r>
              <a:rPr sz="1425" b="1">
                <a:solidFill>
                  <a:srgbClr val="A7AFB8"/>
                </a:solidFill>
                <a:latin typeface="Arial"/>
                <a:ea typeface="Arial"/>
                <a:cs typeface="Arial"/>
              </a:rPr>
              <a:t>RENDER</a:t>
            </a:r>
          </a:p>
        </p:txBody>
      </p:sp>
      <p:sp>
        <p:nvSpPr>
          <p:cNvPr id="15" name="">
            <a:extLst xmlns:a="http://schemas.openxmlformats.org/drawingml/2006/main">
              <a:ext uri="{FF2B5EF4-FFF2-40B4-BE49-F238E27FC236}">
                <a16:creationId xmlns:a16="http://schemas.microsoft.com/office/drawing/2014/main" id="{DBADF8AC-28F7-44A0-958E-160ABBE318C8}"/>
              </a:ext>
            </a:extLst>
          </p:cNvPr>
          <p:cNvSpPr>
            <a:spLocks xmlns:a="http://schemas.openxmlformats.org/drawingml/2006/main" noGrp="1"/>
          </p:cNvSpPr>
          <p:nvPr/>
        </p:nvSpPr>
        <p:spPr>
          <a:xfrm xmlns:a="http://schemas.openxmlformats.org/drawingml/2006/main">
            <a:off x="9248775" y="4686300"/>
            <a:ext cx="26289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FFFFFF"/>
                </a:solidFill>
                <a:latin typeface="Arial"/>
                <a:ea typeface="Arial"/>
                <a:cs typeface="Arial"/>
              </a:defRPr>
            </a:defPPr>
          </a:lstStyle>
          <a:p xmlns:a="http://schemas.openxmlformats.org/drawingml/2006/main">
            <a:pPr>
              <a:defRPr sz="2175" b="1">
                <a:solidFill>
                  <a:srgbClr val="FFFFFF"/>
                </a:solidFill>
                <a:latin typeface="Arial"/>
                <a:ea typeface="Arial"/>
                <a:cs typeface="Arial"/>
              </a:defRPr>
            </a:pPr>
            <a:r>
              <a:rPr sz="2175" b="1">
                <a:solidFill>
                  <a:srgbClr val="FFFFFF"/>
                </a:solidFill>
                <a:latin typeface="Arial"/>
                <a:ea typeface="Arial"/>
                <a:cs typeface="Arial"/>
              </a:rPr>
              <a:t>Draw the new view</a:t>
            </a:r>
          </a:p>
        </p:txBody>
      </p:sp>
      <p:sp>
        <p:nvSpPr>
          <p:cNvPr id="16" name="">
            <a:extLst xmlns:a="http://schemas.openxmlformats.org/drawingml/2006/main">
              <a:ext uri="{FF2B5EF4-FFF2-40B4-BE49-F238E27FC236}">
                <a16:creationId xmlns:a16="http://schemas.microsoft.com/office/drawing/2014/main" id="{F2D30DEA-3392-49CC-9314-B94582546E31}"/>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CDF36A"/>
                </a:solidFill>
                <a:latin typeface="Arial"/>
                <a:ea typeface="Arial"/>
                <a:cs typeface="Arial"/>
              </a:defRPr>
            </a:defPPr>
          </a:lstStyle>
          <a:p xmlns:a="http://schemas.openxmlformats.org/drawingml/2006/main">
            <a:pPr>
              <a:defRPr sz="1425" b="0">
                <a:solidFill>
                  <a:srgbClr val="CDF36A"/>
                </a:solidFill>
                <a:latin typeface="Arial"/>
                <a:ea typeface="Arial"/>
                <a:cs typeface="Arial"/>
              </a:defRPr>
            </a:pPr>
            <a:r>
              <a:rPr sz="1425" b="0">
                <a:solidFill>
                  <a:srgbClr val="CDF36A"/>
                </a:solidFill>
                <a:latin typeface="Arial"/>
                <a:ea typeface="Arial"/>
                <a:cs typeface="Arial"/>
              </a:rPr>
              <a:t>Best fit: custom hotspots, material variants and branded camera behavior.</a:t>
            </a:r>
          </a:p>
        </p:txBody>
      </p:sp>
    </p:spTree>
    <p:extLst>
      <p:ext uri="{BB962C8B-B14F-4D97-AF65-F5344CB8AC3E}">
        <p14:creationId xmlns:p14="http://schemas.microsoft.com/office/powerpoint/2010/main" val="482724278"/>
      </p:ext>
    </p:extLst>
  </p:cSld>
</p:sld>
</file>

<file path=ppt/slides/slide5.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B639157-9BA0-4DA6-8E59-F0DBDBC41854}"/>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04 / THE GRAPHICS LAYER</a:t>
            </a:r>
          </a:p>
        </p:txBody>
      </p:sp>
      <p:sp>
        <p:nvSpPr>
          <p:cNvPr id="2" name="">
            <a:extLst xmlns:a="http://schemas.openxmlformats.org/drawingml/2006/main">
              <a:ext uri="{FF2B5EF4-FFF2-40B4-BE49-F238E27FC236}">
                <a16:creationId xmlns:a16="http://schemas.microsoft.com/office/drawing/2014/main" id="{E8673AD6-887E-40CA-B5BA-10B1A321A9C5}"/>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05 / 11</a:t>
            </a:r>
          </a:p>
        </p:txBody>
      </p:sp>
      <p:sp>
        <p:nvSpPr>
          <p:cNvPr id="3" name="">
            <a:extLst xmlns:a="http://schemas.openxmlformats.org/drawingml/2006/main">
              <a:ext uri="{FF2B5EF4-FFF2-40B4-BE49-F238E27FC236}">
                <a16:creationId xmlns:a16="http://schemas.microsoft.com/office/drawing/2014/main" id="{6A6A67E5-AB78-4213-AA9E-FDD3858BA386}"/>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WebGL or WebGPU?</a:t>
            </a:r>
          </a:p>
        </p:txBody>
      </p:sp>
      <p:sp>
        <p:nvSpPr>
          <p:cNvPr id="4" name="">
            <a:extLst xmlns:a="http://schemas.openxmlformats.org/drawingml/2006/main">
              <a:ext uri="{FF2B5EF4-FFF2-40B4-BE49-F238E27FC236}">
                <a16:creationId xmlns:a16="http://schemas.microsoft.com/office/drawing/2014/main" id="{612FD40C-30F0-4BF1-A833-44E6D515CA6B}"/>
              </a:ext>
            </a:extLst>
          </p:cNvPr>
          <p:cNvSpPr>
            <a:spLocks xmlns:a="http://schemas.openxmlformats.org/drawingml/2006/main" noGrp="1"/>
          </p:cNvSpPr>
          <p:nvPr/>
        </p:nvSpPr>
        <p:spPr>
          <a:xfrm xmlns:a="http://schemas.openxmlformats.org/drawingml/2006/main">
            <a:off x="523875" y="209550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26B74"/>
                </a:solidFill>
                <a:latin typeface="Arial"/>
                <a:ea typeface="Arial"/>
                <a:cs typeface="Arial"/>
              </a:defRPr>
            </a:defPPr>
          </a:lstStyle>
          <a:p xmlns:a="http://schemas.openxmlformats.org/drawingml/2006/main">
            <a:pPr>
              <a:defRPr sz="1875" b="0">
                <a:solidFill>
                  <a:srgbClr val="626B74"/>
                </a:solidFill>
                <a:latin typeface="Arial"/>
                <a:ea typeface="Arial"/>
                <a:cs typeface="Arial"/>
              </a:defRPr>
            </a:pPr>
            <a:r>
              <a:rPr sz="1875" b="0">
                <a:solidFill>
                  <a:srgbClr val="626B74"/>
                </a:solidFill>
                <a:latin typeface="Arial"/>
                <a:ea typeface="Arial"/>
                <a:cs typeface="Arial"/>
              </a:rPr>
              <a:t>Choose through your engine, then verify on your target devices.</a:t>
            </a:r>
          </a:p>
        </p:txBody>
      </p:sp>
      <p:graphicFrame>
        <p:nvGraphicFramePr>
          <p:cNvPr id="5" name="">
            <a:extLst xmlns:a="http://schemas.openxmlformats.org/drawingml/2006/main">
              <a:ext uri="{FF2B5EF4-FFF2-40B4-BE49-F238E27FC236}">
                <a16:creationId xmlns:a16="http://schemas.microsoft.com/office/drawing/2014/main" id="{4072D0FA-F627-490B-A814-B46F8665549F}"/>
              </a:ext>
            </a:extLst>
          </p:cNvPr>
          <p:cNvGraphicFramePr/>
          <p:nvPr/>
        </p:nvGraphicFramePr>
        <p:xfrm>
          <a:off xmlns:a="http://schemas.openxmlformats.org/drawingml/2006/main" x="495300" y="2905125"/>
          <a:ext xmlns:a="http://schemas.openxmlformats.org/drawingml/2006/main" cx="11201400" cy="2914650"/>
        </p:xfrm>
        <a:graphic xmlns:a="http://schemas.openxmlformats.org/drawingml/2006/main">
          <a:graphicData uri="http://schemas.openxmlformats.org/drawingml/2006/table">
            <a:tbl>
              <a:tblPr/>
              <a:tblGrid>
                <a:gridCol w="2571750"/>
                <a:gridCol w="4191000"/>
                <a:gridCol w="4438650"/>
              </a:tblGrid>
              <a:tr h="728663">
                <a:tc>
                  <a:txBody>
                    <a:bodyPr/>
                    <a:lstStyle/>
                    <a:p>
                      <a:r>
                        <a:rPr sz="1575" b="1">
                          <a:solidFill>
                            <a:srgbClr val="FFFFFF"/>
                          </a:solidFill>
                          <a:latin typeface="Arial"/>
                          <a:ea typeface="Arial"/>
                          <a:cs typeface="Arial"/>
                        </a:rPr>
                        <a:t>Decision</a:t>
                      </a:r>
                    </a:p>
                  </a:txBody>
                  <a:tcPr marL="142875" marR="142875" marT="76200" marB="76200">
                    <a:solidFill>
                      <a:srgbClr val="15191D"/>
                    </a:solidFill>
                  </a:tcPr>
                </a:tc>
                <a:tc>
                  <a:txBody>
                    <a:bodyPr/>
                    <a:lstStyle/>
                    <a:p>
                      <a:r>
                        <a:rPr sz="1575" b="1">
                          <a:solidFill>
                            <a:srgbClr val="FFFFFF"/>
                          </a:solidFill>
                          <a:latin typeface="Arial"/>
                          <a:ea typeface="Arial"/>
                          <a:cs typeface="Arial"/>
                        </a:rPr>
                        <a:t>WebGL</a:t>
                      </a:r>
                    </a:p>
                  </a:txBody>
                  <a:tcPr marL="142875" marR="142875" marT="76200" marB="76200">
                    <a:solidFill>
                      <a:srgbClr val="15191D"/>
                    </a:solidFill>
                  </a:tcPr>
                </a:tc>
                <a:tc>
                  <a:txBody>
                    <a:bodyPr/>
                    <a:lstStyle/>
                    <a:p>
                      <a:r>
                        <a:rPr sz="1575" b="1">
                          <a:solidFill>
                            <a:srgbClr val="FFFFFF"/>
                          </a:solidFill>
                          <a:latin typeface="Arial"/>
                          <a:ea typeface="Arial"/>
                          <a:cs typeface="Arial"/>
                        </a:rPr>
                        <a:t>WebGPU</a:t>
                      </a:r>
                    </a:p>
                  </a:txBody>
                  <a:tcPr marL="142875" marR="142875" marT="76200" marB="76200">
                    <a:solidFill>
                      <a:srgbClr val="15191D"/>
                    </a:solidFill>
                  </a:tcPr>
                </a:tc>
              </a:tr>
              <a:tr h="728663">
                <a:tc>
                  <a:txBody>
                    <a:bodyPr/>
                    <a:lstStyle/>
                    <a:p>
                      <a:r>
                        <a:rPr sz="1725">
                          <a:solidFill>
                            <a:srgbClr val="15191D"/>
                          </a:solidFill>
                          <a:latin typeface="Arial"/>
                          <a:ea typeface="Arial"/>
                          <a:cs typeface="Arial"/>
                        </a:rPr>
                        <a:t>Core role</a:t>
                      </a:r>
                    </a:p>
                  </a:txBody>
                  <a:tcPr marL="142875" marR="142875" marT="76200" marB="76200">
                    <a:solidFill>
                      <a:srgbClr val="F7F8FA"/>
                    </a:solidFill>
                  </a:tcPr>
                </a:tc>
                <a:tc>
                  <a:txBody>
                    <a:bodyPr/>
                    <a:lstStyle/>
                    <a:p>
                      <a:r>
                        <a:rPr sz="1725">
                          <a:solidFill>
                            <a:srgbClr val="15191D"/>
                          </a:solidFill>
                          <a:latin typeface="Arial"/>
                          <a:ea typeface="Arial"/>
                          <a:cs typeface="Arial"/>
                        </a:rPr>
                        <a:t>Established graphics API</a:t>
                      </a:r>
                    </a:p>
                  </a:txBody>
                  <a:tcPr marL="142875" marR="142875" marT="76200" marB="76200">
                    <a:solidFill>
                      <a:srgbClr val="F7F8FA"/>
                    </a:solidFill>
                  </a:tcPr>
                </a:tc>
                <a:tc>
                  <a:txBody>
                    <a:bodyPr/>
                    <a:lstStyle/>
                    <a:p>
                      <a:r>
                        <a:rPr sz="1725">
                          <a:solidFill>
                            <a:srgbClr val="15191D"/>
                          </a:solidFill>
                          <a:latin typeface="Arial"/>
                          <a:ea typeface="Arial"/>
                          <a:cs typeface="Arial"/>
                        </a:rPr>
                        <a:t>Modern rendering + compute</a:t>
                      </a:r>
                    </a:p>
                  </a:txBody>
                  <a:tcPr marL="142875" marR="142875" marT="76200" marB="76200">
                    <a:solidFill>
                      <a:srgbClr val="F7F8FA"/>
                    </a:solidFill>
                  </a:tcPr>
                </a:tc>
              </a:tr>
              <a:tr h="728663">
                <a:tc>
                  <a:txBody>
                    <a:bodyPr/>
                    <a:lstStyle/>
                    <a:p>
                      <a:r>
                        <a:rPr sz="1725">
                          <a:solidFill>
                            <a:srgbClr val="15191D"/>
                          </a:solidFill>
                          <a:latin typeface="Arial"/>
                          <a:ea typeface="Arial"/>
                          <a:cs typeface="Arial"/>
                        </a:rPr>
                        <a:t>Typical route</a:t>
                      </a:r>
                    </a:p>
                  </a:txBody>
                  <a:tcPr marL="142875" marR="142875" marT="76200" marB="76200">
                    <a:solidFill>
                      <a:srgbClr val="F7F8FA"/>
                    </a:solidFill>
                  </a:tcPr>
                </a:tc>
                <a:tc>
                  <a:txBody>
                    <a:bodyPr/>
                    <a:lstStyle/>
                    <a:p>
                      <a:r>
                        <a:rPr sz="1725">
                          <a:solidFill>
                            <a:srgbClr val="15191D"/>
                          </a:solidFill>
                          <a:latin typeface="Arial"/>
                          <a:ea typeface="Arial"/>
                          <a:cs typeface="Arial"/>
                        </a:rPr>
                        <a:t>Three.js or another engine</a:t>
                      </a:r>
                    </a:p>
                  </a:txBody>
                  <a:tcPr marL="142875" marR="142875" marT="76200" marB="76200">
                    <a:solidFill>
                      <a:srgbClr val="F7F8FA"/>
                    </a:solidFill>
                  </a:tcPr>
                </a:tc>
                <a:tc>
                  <a:txBody>
                    <a:bodyPr/>
                    <a:lstStyle/>
                    <a:p>
                      <a:r>
                        <a:rPr sz="1725">
                          <a:solidFill>
                            <a:srgbClr val="15191D"/>
                          </a:solidFill>
                          <a:latin typeface="Arial"/>
                          <a:ea typeface="Arial"/>
                          <a:cs typeface="Arial"/>
                        </a:rPr>
                        <a:t>A supporting engine / renderer</a:t>
                      </a:r>
                    </a:p>
                  </a:txBody>
                  <a:tcPr marL="142875" marR="142875" marT="76200" marB="76200">
                    <a:solidFill>
                      <a:srgbClr val="F7F8FA"/>
                    </a:solidFill>
                  </a:tcPr>
                </a:tc>
              </a:tr>
              <a:tr h="728663">
                <a:tc>
                  <a:txBody>
                    <a:bodyPr/>
                    <a:lstStyle/>
                    <a:p>
                      <a:r>
                        <a:rPr sz="1725">
                          <a:solidFill>
                            <a:srgbClr val="15191D"/>
                          </a:solidFill>
                          <a:latin typeface="Arial"/>
                          <a:ea typeface="Arial"/>
                          <a:cs typeface="Arial"/>
                        </a:rPr>
                        <a:t>Main check</a:t>
                      </a:r>
                    </a:p>
                  </a:txBody>
                  <a:tcPr marL="142875" marR="142875" marT="76200" marB="76200">
                    <a:solidFill>
                      <a:srgbClr val="F7F8FA"/>
                    </a:solidFill>
                  </a:tcPr>
                </a:tc>
                <a:tc>
                  <a:txBody>
                    <a:bodyPr/>
                    <a:lstStyle/>
                    <a:p>
                      <a:r>
                        <a:rPr sz="1725">
                          <a:solidFill>
                            <a:srgbClr val="15191D"/>
                          </a:solidFill>
                          <a:latin typeface="Arial"/>
                          <a:ea typeface="Arial"/>
                          <a:cs typeface="Arial"/>
                        </a:rPr>
                        <a:t>Device limits and scene cost</a:t>
                      </a:r>
                    </a:p>
                  </a:txBody>
                  <a:tcPr marL="142875" marR="142875" marT="76200" marB="76200">
                    <a:solidFill>
                      <a:srgbClr val="F7F8FA"/>
                    </a:solidFill>
                  </a:tcPr>
                </a:tc>
                <a:tc>
                  <a:txBody>
                    <a:bodyPr/>
                    <a:lstStyle/>
                    <a:p>
                      <a:r>
                        <a:rPr sz="1725">
                          <a:solidFill>
                            <a:srgbClr val="15191D"/>
                          </a:solidFill>
                          <a:latin typeface="Arial"/>
                          <a:ea typeface="Arial"/>
                          <a:cs typeface="Arial"/>
                        </a:rPr>
                        <a:t>Support and feature compatibility</a:t>
                      </a:r>
                    </a:p>
                  </a:txBody>
                  <a:tcPr marL="142875" marR="142875" marT="76200" marB="76200">
                    <a:solidFill>
                      <a:srgbClr val="F7F8FA"/>
                    </a:solidFill>
                  </a:tcPr>
                </a:tc>
              </a:tr>
            </a:tbl>
          </a:graphicData>
        </a:graphic>
      </p:graphicFrame>
      <p:sp>
        <p:nvSpPr>
          <p:cNvPr id="6" name="">
            <a:extLst xmlns:a="http://schemas.openxmlformats.org/drawingml/2006/main">
              <a:ext uri="{FF2B5EF4-FFF2-40B4-BE49-F238E27FC236}">
                <a16:creationId xmlns:a16="http://schemas.microsoft.com/office/drawing/2014/main" id="{22C26BE2-6577-4D26-9509-8815F627FD28}"/>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A newer graphics API does not automatically make a product viewer faster.</a:t>
            </a:r>
          </a:p>
        </p:txBody>
      </p:sp>
    </p:spTree>
    <p:extLst>
      <p:ext uri="{BB962C8B-B14F-4D97-AF65-F5344CB8AC3E}">
        <p14:creationId xmlns:p14="http://schemas.microsoft.com/office/powerpoint/2010/main" val="895564150"/>
      </p:ext>
    </p:extLst>
  </p:cSld>
</p:sld>
</file>

<file path=ppt/slides/slide6.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5B573A6-306B-4204-A75E-4328CDB6BA8B}"/>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05 / THE DECISION</a:t>
            </a:r>
          </a:p>
        </p:txBody>
      </p:sp>
      <p:sp>
        <p:nvSpPr>
          <p:cNvPr id="2" name="">
            <a:extLst xmlns:a="http://schemas.openxmlformats.org/drawingml/2006/main">
              <a:ext uri="{FF2B5EF4-FFF2-40B4-BE49-F238E27FC236}">
                <a16:creationId xmlns:a16="http://schemas.microsoft.com/office/drawing/2014/main" id="{CA7EF4E0-BA7D-498A-823C-A335EC48A46D}"/>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06 / 11</a:t>
            </a:r>
          </a:p>
        </p:txBody>
      </p:sp>
      <p:sp>
        <p:nvSpPr>
          <p:cNvPr id="3" name="">
            <a:extLst xmlns:a="http://schemas.openxmlformats.org/drawingml/2006/main">
              <a:ext uri="{FF2B5EF4-FFF2-40B4-BE49-F238E27FC236}">
                <a16:creationId xmlns:a16="http://schemas.microsoft.com/office/drawing/2014/main" id="{88C6C605-079B-4EAC-A3BC-2675ED64B7A2}"/>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Choose by the interaction.</a:t>
            </a:r>
          </a:p>
        </p:txBody>
      </p:sp>
      <p:sp>
        <p:nvSpPr>
          <p:cNvPr id="4" name="">
            <a:extLst xmlns:a="http://schemas.openxmlformats.org/drawingml/2006/main">
              <a:ext uri="{FF2B5EF4-FFF2-40B4-BE49-F238E27FC236}">
                <a16:creationId xmlns:a16="http://schemas.microsoft.com/office/drawing/2014/main" id="{AF2CFBF6-980C-4E94-AEB4-7B35FF70C8FB}"/>
              </a:ext>
            </a:extLst>
          </p:cNvPr>
          <p:cNvSpPr>
            <a:spLocks xmlns:a="http://schemas.openxmlformats.org/drawingml/2006/main" noGrp="1"/>
          </p:cNvSpPr>
          <p:nvPr/>
        </p:nvSpPr>
        <p:spPr>
          <a:xfrm xmlns:a="http://schemas.openxmlformats.org/drawingml/2006/main">
            <a:off x="523875" y="209550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26B74"/>
                </a:solidFill>
                <a:latin typeface="Arial"/>
                <a:ea typeface="Arial"/>
                <a:cs typeface="Arial"/>
              </a:defRPr>
            </a:defPPr>
          </a:lstStyle>
          <a:p xmlns:a="http://schemas.openxmlformats.org/drawingml/2006/main">
            <a:pPr>
              <a:defRPr sz="1875" b="0">
                <a:solidFill>
                  <a:srgbClr val="626B74"/>
                </a:solidFill>
                <a:latin typeface="Arial"/>
                <a:ea typeface="Arial"/>
                <a:cs typeface="Arial"/>
              </a:defRPr>
            </a:pPr>
            <a:r>
              <a:rPr sz="1875" b="0">
                <a:solidFill>
                  <a:srgbClr val="626B74"/>
                </a:solidFill>
                <a:latin typeface="Arial"/>
                <a:ea typeface="Arial"/>
                <a:cs typeface="Arial"/>
              </a:rPr>
              <a:t>The most useful comparison is capability against implementation effort.</a:t>
            </a:r>
          </a:p>
        </p:txBody>
      </p:sp>
      <p:graphicFrame>
        <p:nvGraphicFramePr>
          <p:cNvPr id="5" name="">
            <a:extLst xmlns:a="http://schemas.openxmlformats.org/drawingml/2006/main">
              <a:ext uri="{FF2B5EF4-FFF2-40B4-BE49-F238E27FC236}">
                <a16:creationId xmlns:a16="http://schemas.microsoft.com/office/drawing/2014/main" id="{11024B7B-7447-49B4-95B3-19144A269C83}"/>
              </a:ext>
            </a:extLst>
          </p:cNvPr>
          <p:cNvGraphicFramePr/>
          <p:nvPr/>
        </p:nvGraphicFramePr>
        <p:xfrm>
          <a:off xmlns:a="http://schemas.openxmlformats.org/drawingml/2006/main" x="495300" y="2724150"/>
          <a:ext xmlns:a="http://schemas.openxmlformats.org/drawingml/2006/main" cx="11201400" cy="3305175"/>
        </p:xfrm>
        <a:graphic xmlns:a="http://schemas.openxmlformats.org/drawingml/2006/main">
          <a:graphicData uri="http://schemas.openxmlformats.org/drawingml/2006/table">
            <a:tbl>
              <a:tblPr/>
              <a:tblGrid>
                <a:gridCol w="4210050"/>
                <a:gridCol w="2857500"/>
                <a:gridCol w="4133850"/>
              </a:tblGrid>
              <a:tr h="550863">
                <a:tc>
                  <a:txBody>
                    <a:bodyPr/>
                    <a:lstStyle/>
                    <a:p>
                      <a:r>
                        <a:rPr sz="1575" b="1">
                          <a:solidFill>
                            <a:srgbClr val="FFFFFF"/>
                          </a:solidFill>
                          <a:latin typeface="Arial"/>
                          <a:ea typeface="Arial"/>
                          <a:cs typeface="Arial"/>
                        </a:rPr>
                        <a:t>If the experience needs…</a:t>
                      </a:r>
                    </a:p>
                  </a:txBody>
                  <a:tcPr marL="142875" marR="142875" marT="76200" marB="76200">
                    <a:solidFill>
                      <a:srgbClr val="15191D"/>
                    </a:solidFill>
                  </a:tcPr>
                </a:tc>
                <a:tc>
                  <a:txBody>
                    <a:bodyPr/>
                    <a:lstStyle/>
                    <a:p>
                      <a:r>
                        <a:rPr sz="1575" b="1">
                          <a:solidFill>
                            <a:srgbClr val="FFFFFF"/>
                          </a:solidFill>
                          <a:latin typeface="Arial"/>
                          <a:ea typeface="Arial"/>
                          <a:cs typeface="Arial"/>
                        </a:rPr>
                        <a:t>Start with</a:t>
                      </a:r>
                    </a:p>
                  </a:txBody>
                  <a:tcPr marL="142875" marR="142875" marT="76200" marB="76200">
                    <a:solidFill>
                      <a:srgbClr val="15191D"/>
                    </a:solidFill>
                  </a:tcPr>
                </a:tc>
                <a:tc>
                  <a:txBody>
                    <a:bodyPr/>
                    <a:lstStyle/>
                    <a:p>
                      <a:r>
                        <a:rPr sz="1575" b="1">
                          <a:solidFill>
                            <a:srgbClr val="FFFFFF"/>
                          </a:solidFill>
                          <a:latin typeface="Arial"/>
                          <a:ea typeface="Arial"/>
                          <a:cs typeface="Arial"/>
                        </a:rPr>
                        <a:t>Tradeoff to evaluate</a:t>
                      </a:r>
                    </a:p>
                  </a:txBody>
                  <a:tcPr marL="142875" marR="142875" marT="76200" marB="76200">
                    <a:solidFill>
                      <a:srgbClr val="15191D"/>
                    </a:solidFill>
                  </a:tcPr>
                </a:tc>
              </a:tr>
              <a:tr h="550863">
                <a:tc>
                  <a:txBody>
                    <a:bodyPr/>
                    <a:lstStyle/>
                    <a:p>
                      <a:r>
                        <a:rPr sz="1725">
                          <a:solidFill>
                            <a:srgbClr val="15191D"/>
                          </a:solidFill>
                          <a:latin typeface="Arial"/>
                          <a:ea typeface="Arial"/>
                          <a:cs typeface="Arial"/>
                        </a:rPr>
                        <a:t>Rotate, zoom and annotate</a:t>
                      </a:r>
                    </a:p>
                  </a:txBody>
                  <a:tcPr marL="142875" marR="142875" marT="76200" marB="76200">
                    <a:solidFill>
                      <a:srgbClr val="F7F8FA"/>
                    </a:solidFill>
                  </a:tcPr>
                </a:tc>
                <a:tc>
                  <a:txBody>
                    <a:bodyPr/>
                    <a:lstStyle/>
                    <a:p>
                      <a:r>
                        <a:rPr sz="1725">
                          <a:solidFill>
                            <a:srgbClr val="15191D"/>
                          </a:solidFill>
                          <a:latin typeface="Arial"/>
                          <a:ea typeface="Arial"/>
                          <a:cs typeface="Arial"/>
                        </a:rPr>
                        <a:t>model-viewer</a:t>
                      </a:r>
                    </a:p>
                  </a:txBody>
                  <a:tcPr marL="142875" marR="142875" marT="76200" marB="76200">
                    <a:solidFill>
                      <a:srgbClr val="F7F8FA"/>
                    </a:solidFill>
                  </a:tcPr>
                </a:tc>
                <a:tc>
                  <a:txBody>
                    <a:bodyPr/>
                    <a:lstStyle/>
                    <a:p>
                      <a:r>
                        <a:rPr sz="1725">
                          <a:solidFill>
                            <a:srgbClr val="15191D"/>
                          </a:solidFill>
                          <a:latin typeface="Arial"/>
                          <a:ea typeface="Arial"/>
                          <a:cs typeface="Arial"/>
                        </a:rPr>
                        <a:t>Fits a focused viewer model</a:t>
                      </a:r>
                    </a:p>
                  </a:txBody>
                  <a:tcPr marL="142875" marR="142875" marT="76200" marB="76200">
                    <a:solidFill>
                      <a:srgbClr val="F7F8FA"/>
                    </a:solidFill>
                  </a:tcPr>
                </a:tc>
              </a:tr>
              <a:tr h="550863">
                <a:tc>
                  <a:txBody>
                    <a:bodyPr/>
                    <a:lstStyle/>
                    <a:p>
                      <a:r>
                        <a:rPr sz="1725">
                          <a:solidFill>
                            <a:srgbClr val="15191D"/>
                          </a:solidFill>
                          <a:latin typeface="Arial"/>
                          <a:ea typeface="Arial"/>
                          <a:cs typeface="Arial"/>
                        </a:rPr>
                        <a:t>Visual scene + page motion</a:t>
                      </a:r>
                    </a:p>
                  </a:txBody>
                  <a:tcPr marL="142875" marR="142875" marT="76200" marB="76200">
                    <a:solidFill>
                      <a:srgbClr val="F7F8FA"/>
                    </a:solidFill>
                  </a:tcPr>
                </a:tc>
                <a:tc>
                  <a:txBody>
                    <a:bodyPr/>
                    <a:lstStyle/>
                    <a:p>
                      <a:r>
                        <a:rPr sz="1725">
                          <a:solidFill>
                            <a:srgbClr val="15191D"/>
                          </a:solidFill>
                          <a:latin typeface="Arial"/>
                          <a:ea typeface="Arial"/>
                          <a:cs typeface="Arial"/>
                        </a:rPr>
                        <a:t>Spline</a:t>
                      </a:r>
                    </a:p>
                  </a:txBody>
                  <a:tcPr marL="142875" marR="142875" marT="76200" marB="76200">
                    <a:solidFill>
                      <a:srgbClr val="F7F8FA"/>
                    </a:solidFill>
                  </a:tcPr>
                </a:tc>
                <a:tc>
                  <a:txBody>
                    <a:bodyPr/>
                    <a:lstStyle/>
                    <a:p>
                      <a:r>
                        <a:rPr sz="1725">
                          <a:solidFill>
                            <a:srgbClr val="15191D"/>
                          </a:solidFill>
                          <a:latin typeface="Arial"/>
                          <a:ea typeface="Arial"/>
                          <a:cs typeface="Arial"/>
                        </a:rPr>
                        <a:t>Export and platform constraints</a:t>
                      </a:r>
                    </a:p>
                  </a:txBody>
                  <a:tcPr marL="142875" marR="142875" marT="76200" marB="76200">
                    <a:solidFill>
                      <a:srgbClr val="F7F8FA"/>
                    </a:solidFill>
                  </a:tcPr>
                </a:tc>
              </a:tr>
              <a:tr h="550863">
                <a:tc>
                  <a:txBody>
                    <a:bodyPr/>
                    <a:lstStyle/>
                    <a:p>
                      <a:r>
                        <a:rPr sz="1725">
                          <a:solidFill>
                            <a:srgbClr val="15191D"/>
                          </a:solidFill>
                          <a:latin typeface="Arial"/>
                          <a:ea typeface="Arial"/>
                          <a:cs typeface="Arial"/>
                        </a:rPr>
                        <a:t>Custom controls or variants</a:t>
                      </a:r>
                    </a:p>
                  </a:txBody>
                  <a:tcPr marL="142875" marR="142875" marT="76200" marB="76200">
                    <a:solidFill>
                      <a:srgbClr val="F7F8FA"/>
                    </a:solidFill>
                  </a:tcPr>
                </a:tc>
                <a:tc>
                  <a:txBody>
                    <a:bodyPr/>
                    <a:lstStyle/>
                    <a:p>
                      <a:r>
                        <a:rPr sz="1725">
                          <a:solidFill>
                            <a:srgbClr val="15191D"/>
                          </a:solidFill>
                          <a:latin typeface="Arial"/>
                          <a:ea typeface="Arial"/>
                          <a:cs typeface="Arial"/>
                        </a:rPr>
                        <a:t>Three.js</a:t>
                      </a:r>
                    </a:p>
                  </a:txBody>
                  <a:tcPr marL="142875" marR="142875" marT="76200" marB="76200">
                    <a:solidFill>
                      <a:srgbClr val="F7F8FA"/>
                    </a:solidFill>
                  </a:tcPr>
                </a:tc>
                <a:tc>
                  <a:txBody>
                    <a:bodyPr/>
                    <a:lstStyle/>
                    <a:p>
                      <a:r>
                        <a:rPr sz="1725">
                          <a:solidFill>
                            <a:srgbClr val="15191D"/>
                          </a:solidFill>
                          <a:latin typeface="Arial"/>
                          <a:ea typeface="Arial"/>
                          <a:cs typeface="Arial"/>
                        </a:rPr>
                        <a:t>More integration code to own</a:t>
                      </a:r>
                    </a:p>
                  </a:txBody>
                  <a:tcPr marL="142875" marR="142875" marT="76200" marB="76200">
                    <a:solidFill>
                      <a:srgbClr val="F7F8FA"/>
                    </a:solidFill>
                  </a:tcPr>
                </a:tc>
              </a:tr>
              <a:tr h="550863">
                <a:tc>
                  <a:txBody>
                    <a:bodyPr/>
                    <a:lstStyle/>
                    <a:p>
                      <a:r>
                        <a:rPr sz="1725">
                          <a:solidFill>
                            <a:srgbClr val="15191D"/>
                          </a:solidFill>
                          <a:latin typeface="Arial"/>
                          <a:ea typeface="Arial"/>
                          <a:cs typeface="Arial"/>
                        </a:rPr>
                        <a:t>3D linked to React state</a:t>
                      </a:r>
                    </a:p>
                  </a:txBody>
                  <a:tcPr marL="142875" marR="142875" marT="76200" marB="76200">
                    <a:solidFill>
                      <a:srgbClr val="F7F8FA"/>
                    </a:solidFill>
                  </a:tcPr>
                </a:tc>
                <a:tc>
                  <a:txBody>
                    <a:bodyPr/>
                    <a:lstStyle/>
                    <a:p>
                      <a:r>
                        <a:rPr sz="1725">
                          <a:solidFill>
                            <a:srgbClr val="15191D"/>
                          </a:solidFill>
                          <a:latin typeface="Arial"/>
                          <a:ea typeface="Arial"/>
                          <a:cs typeface="Arial"/>
                        </a:rPr>
                        <a:t>React Three Fiber</a:t>
                      </a:r>
                    </a:p>
                  </a:txBody>
                  <a:tcPr marL="142875" marR="142875" marT="76200" marB="76200">
                    <a:solidFill>
                      <a:srgbClr val="F7F8FA"/>
                    </a:solidFill>
                  </a:tcPr>
                </a:tc>
                <a:tc>
                  <a:txBody>
                    <a:bodyPr/>
                    <a:lstStyle/>
                    <a:p>
                      <a:r>
                        <a:rPr sz="1725">
                          <a:solidFill>
                            <a:srgbClr val="15191D"/>
                          </a:solidFill>
                          <a:latin typeface="Arial"/>
                          <a:ea typeface="Arial"/>
                          <a:cs typeface="Arial"/>
                        </a:rPr>
                        <a:t>React and 3D knowledge</a:t>
                      </a:r>
                    </a:p>
                  </a:txBody>
                  <a:tcPr marL="142875" marR="142875" marT="76200" marB="76200">
                    <a:solidFill>
                      <a:srgbClr val="F7F8FA"/>
                    </a:solidFill>
                  </a:tcPr>
                </a:tc>
              </a:tr>
              <a:tr h="550863">
                <a:tc>
                  <a:txBody>
                    <a:bodyPr/>
                    <a:lstStyle/>
                    <a:p>
                      <a:r>
                        <a:rPr sz="1725">
                          <a:solidFill>
                            <a:srgbClr val="15191D"/>
                          </a:solidFill>
                          <a:latin typeface="Arial"/>
                          <a:ea typeface="Arial"/>
                          <a:cs typeface="Arial"/>
                        </a:rPr>
                        <a:t>Simulation or game behavior</a:t>
                      </a:r>
                    </a:p>
                  </a:txBody>
                  <a:tcPr marL="142875" marR="142875" marT="76200" marB="76200">
                    <a:solidFill>
                      <a:srgbClr val="F7F8FA"/>
                    </a:solidFill>
                  </a:tcPr>
                </a:tc>
                <a:tc>
                  <a:txBody>
                    <a:bodyPr/>
                    <a:lstStyle/>
                    <a:p>
                      <a:r>
                        <a:rPr sz="1725">
                          <a:solidFill>
                            <a:srgbClr val="15191D"/>
                          </a:solidFill>
                          <a:latin typeface="Arial"/>
                          <a:ea typeface="Arial"/>
                          <a:cs typeface="Arial"/>
                        </a:rPr>
                        <a:t>Babylon.js / PlayCanvas</a:t>
                      </a:r>
                    </a:p>
                  </a:txBody>
                  <a:tcPr marL="142875" marR="142875" marT="76200" marB="76200">
                    <a:solidFill>
                      <a:srgbClr val="F7F8FA"/>
                    </a:solidFill>
                  </a:tcPr>
                </a:tc>
                <a:tc>
                  <a:txBody>
                    <a:bodyPr/>
                    <a:lstStyle/>
                    <a:p>
                      <a:r>
                        <a:rPr sz="1725">
                          <a:solidFill>
                            <a:srgbClr val="15191D"/>
                          </a:solidFill>
                          <a:latin typeface="Arial"/>
                          <a:ea typeface="Arial"/>
                          <a:cs typeface="Arial"/>
                        </a:rPr>
                        <a:t>A broader engine workflow</a:t>
                      </a:r>
                    </a:p>
                  </a:txBody>
                  <a:tcPr marL="142875" marR="142875" marT="76200" marB="76200">
                    <a:solidFill>
                      <a:srgbClr val="F7F8FA"/>
                    </a:solidFill>
                  </a:tcPr>
                </a:tc>
              </a:tr>
            </a:tbl>
          </a:graphicData>
        </a:graphic>
      </p:graphicFrame>
      <p:sp>
        <p:nvSpPr>
          <p:cNvPr id="6" name="">
            <a:extLst xmlns:a="http://schemas.openxmlformats.org/drawingml/2006/main">
              <a:ext uri="{FF2B5EF4-FFF2-40B4-BE49-F238E27FC236}">
                <a16:creationId xmlns:a16="http://schemas.microsoft.com/office/drawing/2014/main" id="{7C7A092C-F08E-40D9-AE7E-B0432714BD87}"/>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Blender supplies assets to these workflows. It is not a competing web viewer.</a:t>
            </a:r>
          </a:p>
        </p:txBody>
      </p:sp>
    </p:spTree>
    <p:extLst>
      <p:ext uri="{BB962C8B-B14F-4D97-AF65-F5344CB8AC3E}">
        <p14:creationId xmlns:p14="http://schemas.microsoft.com/office/powerpoint/2010/main" val="2042353055"/>
      </p:ext>
    </p:extLst>
  </p:cSld>
</p:sld>
</file>

<file path=ppt/slides/slide7.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C76145-4F1F-4307-99DD-79DEF22D34AD}"/>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06 / MOTION DESIGN</a:t>
            </a:r>
          </a:p>
        </p:txBody>
      </p:sp>
      <p:sp>
        <p:nvSpPr>
          <p:cNvPr id="2" name="">
            <a:extLst xmlns:a="http://schemas.openxmlformats.org/drawingml/2006/main">
              <a:ext uri="{FF2B5EF4-FFF2-40B4-BE49-F238E27FC236}">
                <a16:creationId xmlns:a16="http://schemas.microsoft.com/office/drawing/2014/main" id="{7D507F47-4234-4E1E-A793-CE244BD7E058}"/>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07 / 11</a:t>
            </a:r>
          </a:p>
        </p:txBody>
      </p:sp>
      <p:sp>
        <p:nvSpPr>
          <p:cNvPr id="3" name="">
            <a:extLst xmlns:a="http://schemas.openxmlformats.org/drawingml/2006/main">
              <a:ext uri="{FF2B5EF4-FFF2-40B4-BE49-F238E27FC236}">
                <a16:creationId xmlns:a16="http://schemas.microsoft.com/office/drawing/2014/main" id="{2EFC6F9C-E0C2-42CA-8AD2-CEA4FEC5EB75}"/>
              </a:ext>
            </a:extLst>
          </p:cNvPr>
          <p:cNvSpPr>
            <a:spLocks xmlns:a="http://schemas.openxmlformats.org/drawingml/2006/main" noGrp="1"/>
          </p:cNvSpPr>
          <p:nvPr/>
        </p:nvSpPr>
        <p:spPr>
          <a:xfrm xmlns:a="http://schemas.openxmlformats.org/drawingml/2006/main">
            <a:off x="514350" y="9620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Motion needs</a:t>
            </a:r>
          </a:p>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interaction rules.</a:t>
            </a:r>
          </a:p>
        </p:txBody>
      </p:sp>
      <p:sp>
        <p:nvSpPr>
          <p:cNvPr id="4" name="">
            <a:extLst xmlns:a="http://schemas.openxmlformats.org/drawingml/2006/main">
              <a:ext uri="{FF2B5EF4-FFF2-40B4-BE49-F238E27FC236}">
                <a16:creationId xmlns:a16="http://schemas.microsoft.com/office/drawing/2014/main" id="{FE4CA93D-C7FB-4ACD-BB82-B3D5E9801587}"/>
              </a:ext>
            </a:extLst>
          </p:cNvPr>
          <p:cNvSpPr>
            <a:spLocks xmlns:a="http://schemas.openxmlformats.org/drawingml/2006/main" noGrp="1"/>
          </p:cNvSpPr>
          <p:nvPr/>
        </p:nvSpPr>
        <p:spPr>
          <a:xfrm xmlns:a="http://schemas.openxmlformats.org/drawingml/2006/main">
            <a:off x="7477125" y="1200150"/>
            <a:ext cx="4000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455E8"/>
                </a:solidFill>
                <a:latin typeface="Arial"/>
                <a:ea typeface="Arial"/>
                <a:cs typeface="Arial"/>
              </a:defRPr>
            </a:defPPr>
          </a:lstStyle>
          <a:p xmlns:a="http://schemas.openxmlformats.org/drawingml/2006/main">
            <a:pPr>
              <a:defRPr sz="2325" b="0">
                <a:solidFill>
                  <a:srgbClr val="2455E8"/>
                </a:solidFill>
                <a:latin typeface="Arial"/>
                <a:ea typeface="Arial"/>
                <a:cs typeface="Arial"/>
              </a:defRPr>
            </a:pPr>
            <a:r>
              <a:rPr sz="2325" b="0">
                <a:solidFill>
                  <a:srgbClr val="2455E8"/>
                </a:solidFill>
                <a:latin typeface="Arial"/>
                <a:ea typeface="Arial"/>
                <a:cs typeface="Arial"/>
              </a:rPr>
              <a:t>A visitor can interrupt</a:t>
            </a:r>
          </a:p>
          <a:p xmlns:a="http://schemas.openxmlformats.org/drawingml/2006/main">
            <a:pPr>
              <a:defRPr sz="2325" b="0">
                <a:solidFill>
                  <a:srgbClr val="2455E8"/>
                </a:solidFill>
                <a:latin typeface="Arial"/>
                <a:ea typeface="Arial"/>
                <a:cs typeface="Arial"/>
              </a:defRPr>
            </a:pPr>
            <a:r>
              <a:rPr sz="2325" b="0">
                <a:solidFill>
                  <a:srgbClr val="2455E8"/>
                </a:solidFill>
                <a:latin typeface="Arial"/>
                <a:ea typeface="Arial"/>
                <a:cs typeface="Arial"/>
              </a:rPr>
              <a:t>your perfect timeline.</a:t>
            </a:r>
          </a:p>
        </p:txBody>
      </p:sp>
      <p:graphicFrame>
        <p:nvGraphicFramePr>
          <p:cNvPr id="5" name="">
            <a:extLst xmlns:a="http://schemas.openxmlformats.org/drawingml/2006/main">
              <a:ext uri="{FF2B5EF4-FFF2-40B4-BE49-F238E27FC236}">
                <a16:creationId xmlns:a16="http://schemas.microsoft.com/office/drawing/2014/main" id="{8B7BB507-3854-44B4-B4DD-73F55D715154}"/>
              </a:ext>
            </a:extLst>
          </p:cNvPr>
          <p:cNvGraphicFramePr/>
          <p:nvPr/>
        </p:nvGraphicFramePr>
        <p:xfrm>
          <a:off xmlns:a="http://schemas.openxmlformats.org/drawingml/2006/main" x="495300" y="2876550"/>
          <a:ext xmlns:a="http://schemas.openxmlformats.org/drawingml/2006/main" cx="11201400" cy="2857500"/>
        </p:xfrm>
        <a:graphic xmlns:a="http://schemas.openxmlformats.org/drawingml/2006/main">
          <a:graphicData uri="http://schemas.openxmlformats.org/drawingml/2006/table">
            <a:tbl>
              <a:tblPr/>
              <a:tblGrid>
                <a:gridCol w="2476500"/>
                <a:gridCol w="3619500"/>
                <a:gridCol w="5105400"/>
              </a:tblGrid>
              <a:tr h="714375">
                <a:tc>
                  <a:txBody>
                    <a:bodyPr/>
                    <a:lstStyle/>
                    <a:p>
                      <a:r>
                        <a:rPr sz="1575" b="1">
                          <a:solidFill>
                            <a:srgbClr val="FFFFFF"/>
                          </a:solidFill>
                          <a:latin typeface="Arial"/>
                          <a:ea typeface="Arial"/>
                          <a:cs typeface="Arial"/>
                        </a:rPr>
                        <a:t>Moment</a:t>
                      </a:r>
                    </a:p>
                  </a:txBody>
                  <a:tcPr marL="142875" marR="142875" marT="76200" marB="76200">
                    <a:solidFill>
                      <a:srgbClr val="15191D"/>
                    </a:solidFill>
                  </a:tcPr>
                </a:tc>
                <a:tc>
                  <a:txBody>
                    <a:bodyPr/>
                    <a:lstStyle/>
                    <a:p>
                      <a:r>
                        <a:rPr sz="1575" b="1">
                          <a:solidFill>
                            <a:srgbClr val="FFFFFF"/>
                          </a:solidFill>
                          <a:latin typeface="Arial"/>
                          <a:ea typeface="Arial"/>
                          <a:cs typeface="Arial"/>
                        </a:rPr>
                        <a:t>What happens</a:t>
                      </a:r>
                    </a:p>
                  </a:txBody>
                  <a:tcPr marL="142875" marR="142875" marT="76200" marB="76200">
                    <a:solidFill>
                      <a:srgbClr val="15191D"/>
                    </a:solidFill>
                  </a:tcPr>
                </a:tc>
                <a:tc>
                  <a:txBody>
                    <a:bodyPr/>
                    <a:lstStyle/>
                    <a:p>
                      <a:r>
                        <a:rPr sz="1575" b="1">
                          <a:solidFill>
                            <a:srgbClr val="FFFFFF"/>
                          </a:solidFill>
                          <a:latin typeface="Arial"/>
                          <a:ea typeface="Arial"/>
                          <a:cs typeface="Arial"/>
                        </a:rPr>
                        <a:t>What the handoff must define</a:t>
                      </a:r>
                    </a:p>
                  </a:txBody>
                  <a:tcPr marL="142875" marR="142875" marT="76200" marB="76200">
                    <a:solidFill>
                      <a:srgbClr val="15191D"/>
                    </a:solidFill>
                  </a:tcPr>
                </a:tc>
              </a:tr>
              <a:tr h="714375">
                <a:tc>
                  <a:txBody>
                    <a:bodyPr/>
                    <a:lstStyle/>
                    <a:p>
                      <a:r>
                        <a:rPr sz="1725">
                          <a:solidFill>
                            <a:srgbClr val="15191D"/>
                          </a:solidFill>
                          <a:latin typeface="Arial"/>
                          <a:ea typeface="Arial"/>
                          <a:cs typeface="Arial"/>
                        </a:rPr>
                        <a:t>Trigger</a:t>
                      </a:r>
                    </a:p>
                  </a:txBody>
                  <a:tcPr marL="142875" marR="142875" marT="76200" marB="76200">
                    <a:solidFill>
                      <a:srgbClr val="F7F8FA"/>
                    </a:solidFill>
                  </a:tcPr>
                </a:tc>
                <a:tc>
                  <a:txBody>
                    <a:bodyPr/>
                    <a:lstStyle/>
                    <a:p>
                      <a:r>
                        <a:rPr sz="1725">
                          <a:solidFill>
                            <a:srgbClr val="15191D"/>
                          </a:solidFill>
                          <a:latin typeface="Arial"/>
                          <a:ea typeface="Arial"/>
                          <a:cs typeface="Arial"/>
                        </a:rPr>
                        <a:t>Visitor selects “Inside”</a:t>
                      </a:r>
                    </a:p>
                  </a:txBody>
                  <a:tcPr marL="142875" marR="142875" marT="76200" marB="76200">
                    <a:solidFill>
                      <a:srgbClr val="F7F8FA"/>
                    </a:solidFill>
                  </a:tcPr>
                </a:tc>
                <a:tc>
                  <a:txBody>
                    <a:bodyPr/>
                    <a:lstStyle/>
                    <a:p>
                      <a:r>
                        <a:rPr sz="1725">
                          <a:solidFill>
                            <a:srgbClr val="15191D"/>
                          </a:solidFill>
                          <a:latin typeface="Arial"/>
                          <a:ea typeface="Arial"/>
                          <a:cs typeface="Arial"/>
                        </a:rPr>
                        <a:t>Which clip or camera state starts?</a:t>
                      </a:r>
                    </a:p>
                  </a:txBody>
                  <a:tcPr marL="142875" marR="142875" marT="76200" marB="76200">
                    <a:solidFill>
                      <a:srgbClr val="F7F8FA"/>
                    </a:solidFill>
                  </a:tcPr>
                </a:tc>
              </a:tr>
              <a:tr h="714375">
                <a:tc>
                  <a:txBody>
                    <a:bodyPr/>
                    <a:lstStyle/>
                    <a:p>
                      <a:r>
                        <a:rPr sz="1725">
                          <a:solidFill>
                            <a:srgbClr val="15191D"/>
                          </a:solidFill>
                          <a:latin typeface="Arial"/>
                          <a:ea typeface="Arial"/>
                          <a:cs typeface="Arial"/>
                        </a:rPr>
                        <a:t>Transition</a:t>
                      </a:r>
                    </a:p>
                  </a:txBody>
                  <a:tcPr marL="142875" marR="142875" marT="76200" marB="76200">
                    <a:solidFill>
                      <a:srgbClr val="F7F8FA"/>
                    </a:solidFill>
                  </a:tcPr>
                </a:tc>
                <a:tc>
                  <a:txBody>
                    <a:bodyPr/>
                    <a:lstStyle/>
                    <a:p>
                      <a:r>
                        <a:rPr sz="1725">
                          <a:solidFill>
                            <a:srgbClr val="15191D"/>
                          </a:solidFill>
                          <a:latin typeface="Arial"/>
                          <a:ea typeface="Arial"/>
                          <a:cs typeface="Arial"/>
                        </a:rPr>
                        <a:t>Cover opens</a:t>
                      </a:r>
                    </a:p>
                  </a:txBody>
                  <a:tcPr marL="142875" marR="142875" marT="76200" marB="76200">
                    <a:solidFill>
                      <a:srgbClr val="F7F8FA"/>
                    </a:solidFill>
                  </a:tcPr>
                </a:tc>
                <a:tc>
                  <a:txBody>
                    <a:bodyPr/>
                    <a:lstStyle/>
                    <a:p>
                      <a:r>
                        <a:rPr sz="1725">
                          <a:solidFill>
                            <a:srgbClr val="15191D"/>
                          </a:solidFill>
                          <a:latin typeface="Arial"/>
                          <a:ea typeface="Arial"/>
                          <a:cs typeface="Arial"/>
                        </a:rPr>
                        <a:t>Timing, easing and final pose</a:t>
                      </a:r>
                    </a:p>
                  </a:txBody>
                  <a:tcPr marL="142875" marR="142875" marT="76200" marB="76200">
                    <a:solidFill>
                      <a:srgbClr val="F7F8FA"/>
                    </a:solidFill>
                  </a:tcPr>
                </a:tc>
              </a:tr>
              <a:tr h="714375">
                <a:tc>
                  <a:txBody>
                    <a:bodyPr/>
                    <a:lstStyle/>
                    <a:p>
                      <a:r>
                        <a:rPr sz="1725">
                          <a:solidFill>
                            <a:srgbClr val="15191D"/>
                          </a:solidFill>
                          <a:latin typeface="Arial"/>
                          <a:ea typeface="Arial"/>
                          <a:cs typeface="Arial"/>
                        </a:rPr>
                        <a:t>Interruption</a:t>
                      </a:r>
                    </a:p>
                  </a:txBody>
                  <a:tcPr marL="142875" marR="142875" marT="76200" marB="76200">
                    <a:solidFill>
                      <a:srgbClr val="F7F8FA"/>
                    </a:solidFill>
                  </a:tcPr>
                </a:tc>
                <a:tc>
                  <a:txBody>
                    <a:bodyPr/>
                    <a:lstStyle/>
                    <a:p>
                      <a:r>
                        <a:rPr sz="1725">
                          <a:solidFill>
                            <a:srgbClr val="15191D"/>
                          </a:solidFill>
                          <a:latin typeface="Arial"/>
                          <a:ea typeface="Arial"/>
                          <a:cs typeface="Arial"/>
                        </a:rPr>
                        <a:t>Visitor drags or resets</a:t>
                      </a:r>
                    </a:p>
                  </a:txBody>
                  <a:tcPr marL="142875" marR="142875" marT="76200" marB="76200">
                    <a:solidFill>
                      <a:srgbClr val="F7F8FA"/>
                    </a:solidFill>
                  </a:tcPr>
                </a:tc>
                <a:tc>
                  <a:txBody>
                    <a:bodyPr/>
                    <a:lstStyle/>
                    <a:p>
                      <a:r>
                        <a:rPr sz="1725">
                          <a:solidFill>
                            <a:srgbClr val="15191D"/>
                          </a:solidFill>
                          <a:latin typeface="Arial"/>
                          <a:ea typeface="Arial"/>
                          <a:cs typeface="Arial"/>
                        </a:rPr>
                        <a:t>Pause, finish, reverse or cancel?</a:t>
                      </a:r>
                    </a:p>
                  </a:txBody>
                  <a:tcPr marL="142875" marR="142875" marT="76200" marB="76200">
                    <a:solidFill>
                      <a:srgbClr val="F7F8FA"/>
                    </a:solidFill>
                  </a:tcPr>
                </a:tc>
              </a:tr>
            </a:tbl>
          </a:graphicData>
        </a:graphic>
      </p:graphicFrame>
      <p:sp>
        <p:nvSpPr>
          <p:cNvPr id="6" name="">
            <a:extLst xmlns:a="http://schemas.openxmlformats.org/drawingml/2006/main">
              <a:ext uri="{FF2B5EF4-FFF2-40B4-BE49-F238E27FC236}">
                <a16:creationId xmlns:a16="http://schemas.microsoft.com/office/drawing/2014/main" id="{89BAE5C4-C17C-4E16-846D-B59B38A2EDDC}"/>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Deliver named clips, trigger rules and a reduced-motion alternative.</a:t>
            </a:r>
          </a:p>
        </p:txBody>
      </p:sp>
    </p:spTree>
    <p:extLst>
      <p:ext uri="{BB962C8B-B14F-4D97-AF65-F5344CB8AC3E}">
        <p14:creationId xmlns:p14="http://schemas.microsoft.com/office/powerpoint/2010/main" val="1249074444"/>
      </p:ext>
    </p:extLst>
  </p:cSld>
</p:sld>
</file>

<file path=ppt/slides/slide8.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1B38C26-0771-45C4-BC97-E3DCC0025141}"/>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07 / WEBSITE INTEGRATION</a:t>
            </a:r>
          </a:p>
        </p:txBody>
      </p:sp>
      <p:sp>
        <p:nvSpPr>
          <p:cNvPr id="2" name="">
            <a:extLst xmlns:a="http://schemas.openxmlformats.org/drawingml/2006/main">
              <a:ext uri="{FF2B5EF4-FFF2-40B4-BE49-F238E27FC236}">
                <a16:creationId xmlns:a16="http://schemas.microsoft.com/office/drawing/2014/main" id="{44773A6D-432B-424F-BE4A-D85C1031E461}"/>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08 / 11</a:t>
            </a:r>
          </a:p>
        </p:txBody>
      </p:sp>
      <p:sp>
        <p:nvSpPr>
          <p:cNvPr id="3" name="">
            <a:extLst xmlns:a="http://schemas.openxmlformats.org/drawingml/2006/main">
              <a:ext uri="{FF2B5EF4-FFF2-40B4-BE49-F238E27FC236}">
                <a16:creationId xmlns:a16="http://schemas.microsoft.com/office/drawing/2014/main" id="{5BD3EACA-15BD-4FDD-A40B-20A0BCA7E36F}"/>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Three ways onto the website.</a:t>
            </a:r>
          </a:p>
        </p:txBody>
      </p:sp>
      <p:sp>
        <p:nvSpPr>
          <p:cNvPr id="4" name="">
            <a:extLst xmlns:a="http://schemas.openxmlformats.org/drawingml/2006/main">
              <a:ext uri="{FF2B5EF4-FFF2-40B4-BE49-F238E27FC236}">
                <a16:creationId xmlns:a16="http://schemas.microsoft.com/office/drawing/2014/main" id="{6B6492BF-2833-4000-A07A-0428F07A2B4A}"/>
              </a:ext>
            </a:extLst>
          </p:cNvPr>
          <p:cNvSpPr>
            <a:spLocks xmlns:a="http://schemas.openxmlformats.org/drawingml/2006/main" noGrp="1"/>
          </p:cNvSpPr>
          <p:nvPr/>
        </p:nvSpPr>
        <p:spPr>
          <a:xfrm xmlns:a="http://schemas.openxmlformats.org/drawingml/2006/main">
            <a:off x="514350" y="2286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75" b="0">
                <a:solidFill>
                  <a:srgbClr val="2455E8"/>
                </a:solidFill>
                <a:latin typeface="Arial"/>
                <a:ea typeface="Arial"/>
                <a:cs typeface="Arial"/>
              </a:defRPr>
            </a:defPPr>
          </a:lstStyle>
          <a:p xmlns:a="http://schemas.openxmlformats.org/drawingml/2006/main">
            <a:pPr>
              <a:defRPr sz="5475" b="0">
                <a:solidFill>
                  <a:srgbClr val="2455E8"/>
                </a:solidFill>
                <a:latin typeface="Arial"/>
                <a:ea typeface="Arial"/>
                <a:cs typeface="Arial"/>
              </a:defRPr>
            </a:pPr>
            <a:r>
              <a:rPr sz="5475" b="0">
                <a:solidFill>
                  <a:srgbClr val="2455E8"/>
                </a:solidFill>
                <a:latin typeface="Arial"/>
                <a:ea typeface="Arial"/>
                <a:cs typeface="Arial"/>
              </a:rPr>
              <a:t>01</a:t>
            </a:r>
          </a:p>
        </p:txBody>
      </p:sp>
      <p:sp>
        <p:nvSpPr>
          <p:cNvPr id="5" name="">
            <a:extLst xmlns:a="http://schemas.openxmlformats.org/drawingml/2006/main">
              <a:ext uri="{FF2B5EF4-FFF2-40B4-BE49-F238E27FC236}">
                <a16:creationId xmlns:a16="http://schemas.microsoft.com/office/drawing/2014/main" id="{05D50140-0E9A-42CA-BFB9-AF3430F2FE06}"/>
              </a:ext>
            </a:extLst>
          </p:cNvPr>
          <p:cNvSpPr>
            <a:spLocks xmlns:a="http://schemas.openxmlformats.org/drawingml/2006/main" noGrp="1"/>
          </p:cNvSpPr>
          <p:nvPr/>
        </p:nvSpPr>
        <p:spPr>
          <a:xfrm xmlns:a="http://schemas.openxmlformats.org/drawingml/2006/main">
            <a:off x="514350" y="3219450"/>
            <a:ext cx="342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5191D"/>
                </a:solidFill>
                <a:latin typeface="Arial"/>
                <a:ea typeface="Arial"/>
                <a:cs typeface="Arial"/>
              </a:defRPr>
            </a:defPPr>
          </a:lstStyle>
          <a:p xmlns:a="http://schemas.openxmlformats.org/drawingml/2006/main">
            <a:pPr>
              <a:defRPr sz="2925" b="1">
                <a:solidFill>
                  <a:srgbClr val="15191D"/>
                </a:solidFill>
                <a:latin typeface="Arial"/>
                <a:ea typeface="Arial"/>
                <a:cs typeface="Arial"/>
              </a:defRPr>
            </a:pPr>
            <a:r>
              <a:rPr sz="2925" b="1">
                <a:solidFill>
                  <a:srgbClr val="15191D"/>
                </a:solidFill>
                <a:latin typeface="Arial"/>
                <a:ea typeface="Arial"/>
                <a:cs typeface="Arial"/>
              </a:rPr>
              <a:t>Component</a:t>
            </a:r>
          </a:p>
        </p:txBody>
      </p:sp>
      <p:sp>
        <p:nvSpPr>
          <p:cNvPr id="6" name="">
            <a:extLst xmlns:a="http://schemas.openxmlformats.org/drawingml/2006/main">
              <a:ext uri="{FF2B5EF4-FFF2-40B4-BE49-F238E27FC236}">
                <a16:creationId xmlns:a16="http://schemas.microsoft.com/office/drawing/2014/main" id="{3CAEC98A-92D8-4167-86AF-18D35F4434E1}"/>
              </a:ext>
            </a:extLst>
          </p:cNvPr>
          <p:cNvSpPr>
            <a:spLocks xmlns:a="http://schemas.openxmlformats.org/drawingml/2006/main" noGrp="1"/>
          </p:cNvSpPr>
          <p:nvPr/>
        </p:nvSpPr>
        <p:spPr>
          <a:xfrm xmlns:a="http://schemas.openxmlformats.org/drawingml/2006/main">
            <a:off x="514350" y="3990975"/>
            <a:ext cx="3371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91D"/>
                </a:solidFill>
                <a:latin typeface="Arial"/>
                <a:ea typeface="Arial"/>
                <a:cs typeface="Arial"/>
              </a:defRPr>
            </a:defPPr>
          </a:lstStyle>
          <a:p xmlns:a="http://schemas.openxmlformats.org/drawingml/2006/main">
            <a:pPr>
              <a:defRPr sz="2025" b="0">
                <a:solidFill>
                  <a:srgbClr val="15191D"/>
                </a:solidFill>
                <a:latin typeface="Arial"/>
                <a:ea typeface="Arial"/>
                <a:cs typeface="Arial"/>
              </a:defRPr>
            </a:pPr>
            <a:r>
              <a:rPr sz="2025" b="0">
                <a:solidFill>
                  <a:srgbClr val="15191D"/>
                </a:solidFill>
                <a:latin typeface="Arial"/>
                <a:ea typeface="Arial"/>
                <a:cs typeface="Arial"/>
              </a:rPr>
              <a:t>A reusable HTML element.</a:t>
            </a:r>
          </a:p>
        </p:txBody>
      </p:sp>
      <p:sp>
        <p:nvSpPr>
          <p:cNvPr id="7" name="">
            <a:extLst xmlns:a="http://schemas.openxmlformats.org/drawingml/2006/main">
              <a:ext uri="{FF2B5EF4-FFF2-40B4-BE49-F238E27FC236}">
                <a16:creationId xmlns:a16="http://schemas.microsoft.com/office/drawing/2014/main" id="{1AE44B9B-5118-43F2-9905-D697E5A03F2F}"/>
              </a:ext>
            </a:extLst>
          </p:cNvPr>
          <p:cNvSpPr>
            <a:spLocks xmlns:a="http://schemas.openxmlformats.org/drawingml/2006/main" noGrp="1"/>
          </p:cNvSpPr>
          <p:nvPr/>
        </p:nvSpPr>
        <p:spPr>
          <a:xfrm xmlns:a="http://schemas.openxmlformats.org/drawingml/2006/main">
            <a:off x="514350" y="48482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455E8"/>
                </a:solidFill>
                <a:latin typeface="Arial"/>
                <a:ea typeface="Arial"/>
                <a:cs typeface="Arial"/>
              </a:defRPr>
            </a:defPPr>
          </a:lstStyle>
          <a:p xmlns:a="http://schemas.openxmlformats.org/drawingml/2006/main">
            <a:pPr>
              <a:defRPr sz="1725" b="1">
                <a:solidFill>
                  <a:srgbClr val="2455E8"/>
                </a:solidFill>
                <a:latin typeface="Arial"/>
                <a:ea typeface="Arial"/>
                <a:cs typeface="Arial"/>
              </a:defRPr>
            </a:pPr>
            <a:r>
              <a:rPr sz="1725" b="1">
                <a:solidFill>
                  <a:srgbClr val="2455E8"/>
                </a:solidFill>
                <a:latin typeface="Arial"/>
                <a:ea typeface="Arial"/>
                <a:cs typeface="Arial"/>
              </a:rPr>
              <a:t>Good for product pages.</a:t>
            </a:r>
          </a:p>
        </p:txBody>
      </p:sp>
      <p:sp>
        <p:nvSpPr>
          <p:cNvPr id="8" name="">
            <a:extLst xmlns:a="http://schemas.openxmlformats.org/drawingml/2006/main">
              <a:ext uri="{FF2B5EF4-FFF2-40B4-BE49-F238E27FC236}">
                <a16:creationId xmlns:a16="http://schemas.microsoft.com/office/drawing/2014/main" id="{70BE19F6-E4FA-4C0E-98DF-553AC4B6040E}"/>
              </a:ext>
            </a:extLst>
          </p:cNvPr>
          <p:cNvSpPr>
            <a:spLocks xmlns:a="http://schemas.openxmlformats.org/drawingml/2006/main" noGrp="1"/>
          </p:cNvSpPr>
          <p:nvPr/>
        </p:nvSpPr>
        <p:spPr>
          <a:xfrm xmlns:a="http://schemas.openxmlformats.org/drawingml/2006/main">
            <a:off x="514350" y="54959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26B74"/>
                </a:solidFill>
                <a:latin typeface="Arial"/>
                <a:ea typeface="Arial"/>
                <a:cs typeface="Arial"/>
              </a:defRPr>
            </a:defPPr>
          </a:lstStyle>
          <a:p xmlns:a="http://schemas.openxmlformats.org/drawingml/2006/main">
            <a:pPr>
              <a:defRPr sz="1725" b="0">
                <a:solidFill>
                  <a:srgbClr val="626B74"/>
                </a:solidFill>
                <a:latin typeface="Arial"/>
                <a:ea typeface="Arial"/>
                <a:cs typeface="Arial"/>
              </a:defRPr>
            </a:pPr>
            <a:r>
              <a:rPr sz="1725" b="0">
                <a:solidFill>
                  <a:srgbClr val="626B74"/>
                </a:solidFill>
                <a:latin typeface="Arial"/>
                <a:ea typeface="Arial"/>
                <a:cs typeface="Arial"/>
              </a:rPr>
              <a:t>Use its supported API.</a:t>
            </a:r>
          </a:p>
        </p:txBody>
      </p:sp>
      <p:sp>
        <p:nvSpPr>
          <p:cNvPr id="9" name="">
            <a:extLst xmlns:a="http://schemas.openxmlformats.org/drawingml/2006/main">
              <a:ext uri="{FF2B5EF4-FFF2-40B4-BE49-F238E27FC236}">
                <a16:creationId xmlns:a16="http://schemas.microsoft.com/office/drawing/2014/main" id="{2B356548-B83D-4C1D-8690-BF999E0874AF}"/>
              </a:ext>
            </a:extLst>
          </p:cNvPr>
          <p:cNvSpPr>
            <a:spLocks xmlns:a="http://schemas.openxmlformats.org/drawingml/2006/main" noGrp="1"/>
          </p:cNvSpPr>
          <p:nvPr/>
        </p:nvSpPr>
        <p:spPr>
          <a:xfrm xmlns:a="http://schemas.openxmlformats.org/drawingml/2006/main">
            <a:off x="4333875" y="2286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75" b="0">
                <a:solidFill>
                  <a:srgbClr val="2455E8"/>
                </a:solidFill>
                <a:latin typeface="Arial"/>
                <a:ea typeface="Arial"/>
                <a:cs typeface="Arial"/>
              </a:defRPr>
            </a:defPPr>
          </a:lstStyle>
          <a:p xmlns:a="http://schemas.openxmlformats.org/drawingml/2006/main">
            <a:pPr>
              <a:defRPr sz="5475" b="0">
                <a:solidFill>
                  <a:srgbClr val="2455E8"/>
                </a:solidFill>
                <a:latin typeface="Arial"/>
                <a:ea typeface="Arial"/>
                <a:cs typeface="Arial"/>
              </a:defRPr>
            </a:pPr>
            <a:r>
              <a:rPr sz="5475" b="0">
                <a:solidFill>
                  <a:srgbClr val="2455E8"/>
                </a:solidFill>
                <a:latin typeface="Arial"/>
                <a:ea typeface="Arial"/>
                <a:cs typeface="Arial"/>
              </a:rPr>
              <a:t>02</a:t>
            </a:r>
          </a:p>
        </p:txBody>
      </p:sp>
      <p:sp>
        <p:nvSpPr>
          <p:cNvPr id="10" name="">
            <a:extLst xmlns:a="http://schemas.openxmlformats.org/drawingml/2006/main">
              <a:ext uri="{FF2B5EF4-FFF2-40B4-BE49-F238E27FC236}">
                <a16:creationId xmlns:a16="http://schemas.microsoft.com/office/drawing/2014/main" id="{FD3B8175-A5F3-4544-A63A-8F1A6C9BB1FF}"/>
              </a:ext>
            </a:extLst>
          </p:cNvPr>
          <p:cNvSpPr>
            <a:spLocks xmlns:a="http://schemas.openxmlformats.org/drawingml/2006/main" noGrp="1"/>
          </p:cNvSpPr>
          <p:nvPr/>
        </p:nvSpPr>
        <p:spPr>
          <a:xfrm xmlns:a="http://schemas.openxmlformats.org/drawingml/2006/main">
            <a:off x="4333875" y="3219450"/>
            <a:ext cx="342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5191D"/>
                </a:solidFill>
                <a:latin typeface="Arial"/>
                <a:ea typeface="Arial"/>
                <a:cs typeface="Arial"/>
              </a:defRPr>
            </a:defPPr>
          </a:lstStyle>
          <a:p xmlns:a="http://schemas.openxmlformats.org/drawingml/2006/main">
            <a:pPr>
              <a:defRPr sz="2925" b="1">
                <a:solidFill>
                  <a:srgbClr val="15191D"/>
                </a:solidFill>
                <a:latin typeface="Arial"/>
                <a:ea typeface="Arial"/>
                <a:cs typeface="Arial"/>
              </a:defRPr>
            </a:pPr>
            <a:r>
              <a:rPr sz="2925" b="1">
                <a:solidFill>
                  <a:srgbClr val="15191D"/>
                </a:solidFill>
                <a:latin typeface="Arial"/>
                <a:ea typeface="Arial"/>
                <a:cs typeface="Arial"/>
              </a:rPr>
              <a:t>Iframe</a:t>
            </a:r>
          </a:p>
        </p:txBody>
      </p:sp>
      <p:sp>
        <p:nvSpPr>
          <p:cNvPr id="11" name="">
            <a:extLst xmlns:a="http://schemas.openxmlformats.org/drawingml/2006/main">
              <a:ext uri="{FF2B5EF4-FFF2-40B4-BE49-F238E27FC236}">
                <a16:creationId xmlns:a16="http://schemas.microsoft.com/office/drawing/2014/main" id="{6DBD8416-BC9B-43A0-8703-884841267FA0}"/>
              </a:ext>
            </a:extLst>
          </p:cNvPr>
          <p:cNvSpPr>
            <a:spLocks xmlns:a="http://schemas.openxmlformats.org/drawingml/2006/main" noGrp="1"/>
          </p:cNvSpPr>
          <p:nvPr/>
        </p:nvSpPr>
        <p:spPr>
          <a:xfrm xmlns:a="http://schemas.openxmlformats.org/drawingml/2006/main">
            <a:off x="4333875" y="3990975"/>
            <a:ext cx="3371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91D"/>
                </a:solidFill>
                <a:latin typeface="Arial"/>
                <a:ea typeface="Arial"/>
                <a:cs typeface="Arial"/>
              </a:defRPr>
            </a:defPPr>
          </a:lstStyle>
          <a:p xmlns:a="http://schemas.openxmlformats.org/drawingml/2006/main">
            <a:pPr>
              <a:defRPr sz="2025" b="0">
                <a:solidFill>
                  <a:srgbClr val="15191D"/>
                </a:solidFill>
                <a:latin typeface="Arial"/>
                <a:ea typeface="Arial"/>
                <a:cs typeface="Arial"/>
              </a:defRPr>
            </a:pPr>
            <a:r>
              <a:rPr sz="2025" b="0">
                <a:solidFill>
                  <a:srgbClr val="15191D"/>
                </a:solidFill>
                <a:latin typeface="Arial"/>
                <a:ea typeface="Arial"/>
                <a:cs typeface="Arial"/>
              </a:rPr>
              <a:t>A hosted viewer in a frame.</a:t>
            </a:r>
          </a:p>
        </p:txBody>
      </p:sp>
      <p:sp>
        <p:nvSpPr>
          <p:cNvPr id="12" name="">
            <a:extLst xmlns:a="http://schemas.openxmlformats.org/drawingml/2006/main">
              <a:ext uri="{FF2B5EF4-FFF2-40B4-BE49-F238E27FC236}">
                <a16:creationId xmlns:a16="http://schemas.microsoft.com/office/drawing/2014/main" id="{A16935B4-3B54-4C55-9861-733920D64541}"/>
              </a:ext>
            </a:extLst>
          </p:cNvPr>
          <p:cNvSpPr>
            <a:spLocks xmlns:a="http://schemas.openxmlformats.org/drawingml/2006/main" noGrp="1"/>
          </p:cNvSpPr>
          <p:nvPr/>
        </p:nvSpPr>
        <p:spPr>
          <a:xfrm xmlns:a="http://schemas.openxmlformats.org/drawingml/2006/main">
            <a:off x="4333875" y="48482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455E8"/>
                </a:solidFill>
                <a:latin typeface="Arial"/>
                <a:ea typeface="Arial"/>
                <a:cs typeface="Arial"/>
              </a:defRPr>
            </a:defPPr>
          </a:lstStyle>
          <a:p xmlns:a="http://schemas.openxmlformats.org/drawingml/2006/main">
            <a:pPr>
              <a:defRPr sz="1725" b="1">
                <a:solidFill>
                  <a:srgbClr val="2455E8"/>
                </a:solidFill>
                <a:latin typeface="Arial"/>
                <a:ea typeface="Arial"/>
                <a:cs typeface="Arial"/>
              </a:defRPr>
            </a:pPr>
            <a:r>
              <a:rPr sz="1725" b="1">
                <a:solidFill>
                  <a:srgbClr val="2455E8"/>
                </a:solidFill>
                <a:latin typeface="Arial"/>
                <a:ea typeface="Arial"/>
                <a:cs typeface="Arial"/>
              </a:rPr>
              <a:t>Good for reuse across sites.</a:t>
            </a:r>
          </a:p>
        </p:txBody>
      </p:sp>
      <p:sp>
        <p:nvSpPr>
          <p:cNvPr id="13" name="">
            <a:extLst xmlns:a="http://schemas.openxmlformats.org/drawingml/2006/main">
              <a:ext uri="{FF2B5EF4-FFF2-40B4-BE49-F238E27FC236}">
                <a16:creationId xmlns:a16="http://schemas.microsoft.com/office/drawing/2014/main" id="{0068CC96-0C88-42ED-84E9-8D39049CCEDB}"/>
              </a:ext>
            </a:extLst>
          </p:cNvPr>
          <p:cNvSpPr>
            <a:spLocks xmlns:a="http://schemas.openxmlformats.org/drawingml/2006/main" noGrp="1"/>
          </p:cNvSpPr>
          <p:nvPr/>
        </p:nvSpPr>
        <p:spPr>
          <a:xfrm xmlns:a="http://schemas.openxmlformats.org/drawingml/2006/main">
            <a:off x="4333875" y="54959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26B74"/>
                </a:solidFill>
                <a:latin typeface="Arial"/>
                <a:ea typeface="Arial"/>
                <a:cs typeface="Arial"/>
              </a:defRPr>
            </a:defPPr>
          </a:lstStyle>
          <a:p xmlns:a="http://schemas.openxmlformats.org/drawingml/2006/main">
            <a:pPr>
              <a:defRPr sz="1725" b="0">
                <a:solidFill>
                  <a:srgbClr val="626B74"/>
                </a:solidFill>
                <a:latin typeface="Arial"/>
                <a:ea typeface="Arial"/>
                <a:cs typeface="Arial"/>
              </a:defRPr>
            </a:pPr>
            <a:r>
              <a:rPr sz="1725" b="0">
                <a:solidFill>
                  <a:srgbClr val="626B74"/>
                </a:solidFill>
                <a:latin typeface="Arial"/>
                <a:ea typeface="Arial"/>
                <a:cs typeface="Arial"/>
              </a:rPr>
              <a:t>Plan cross-page communication.</a:t>
            </a:r>
          </a:p>
        </p:txBody>
      </p:sp>
      <p:sp>
        <p:nvSpPr>
          <p:cNvPr id="14" name="">
            <a:extLst xmlns:a="http://schemas.openxmlformats.org/drawingml/2006/main">
              <a:ext uri="{FF2B5EF4-FFF2-40B4-BE49-F238E27FC236}">
                <a16:creationId xmlns:a16="http://schemas.microsoft.com/office/drawing/2014/main" id="{3E2D77B6-23C2-4C93-9333-C1B419CA69A0}"/>
              </a:ext>
            </a:extLst>
          </p:cNvPr>
          <p:cNvSpPr>
            <a:spLocks xmlns:a="http://schemas.openxmlformats.org/drawingml/2006/main" noGrp="1"/>
          </p:cNvSpPr>
          <p:nvPr/>
        </p:nvSpPr>
        <p:spPr>
          <a:xfrm xmlns:a="http://schemas.openxmlformats.org/drawingml/2006/main">
            <a:off x="8153400" y="22860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75" b="0">
                <a:solidFill>
                  <a:srgbClr val="2455E8"/>
                </a:solidFill>
                <a:latin typeface="Arial"/>
                <a:ea typeface="Arial"/>
                <a:cs typeface="Arial"/>
              </a:defRPr>
            </a:defPPr>
          </a:lstStyle>
          <a:p xmlns:a="http://schemas.openxmlformats.org/drawingml/2006/main">
            <a:pPr>
              <a:defRPr sz="5475" b="0">
                <a:solidFill>
                  <a:srgbClr val="2455E8"/>
                </a:solidFill>
                <a:latin typeface="Arial"/>
                <a:ea typeface="Arial"/>
                <a:cs typeface="Arial"/>
              </a:defRPr>
            </a:pPr>
            <a:r>
              <a:rPr sz="5475" b="0">
                <a:solidFill>
                  <a:srgbClr val="2455E8"/>
                </a:solidFill>
                <a:latin typeface="Arial"/>
                <a:ea typeface="Arial"/>
                <a:cs typeface="Arial"/>
              </a:rPr>
              <a:t>03</a:t>
            </a:r>
          </a:p>
        </p:txBody>
      </p:sp>
      <p:sp>
        <p:nvSpPr>
          <p:cNvPr id="15" name="">
            <a:extLst xmlns:a="http://schemas.openxmlformats.org/drawingml/2006/main">
              <a:ext uri="{FF2B5EF4-FFF2-40B4-BE49-F238E27FC236}">
                <a16:creationId xmlns:a16="http://schemas.microsoft.com/office/drawing/2014/main" id="{70B82F95-1A82-4C6E-A40F-B90CFA20F4E6}"/>
              </a:ext>
            </a:extLst>
          </p:cNvPr>
          <p:cNvSpPr>
            <a:spLocks xmlns:a="http://schemas.openxmlformats.org/drawingml/2006/main" noGrp="1"/>
          </p:cNvSpPr>
          <p:nvPr/>
        </p:nvSpPr>
        <p:spPr>
          <a:xfrm xmlns:a="http://schemas.openxmlformats.org/drawingml/2006/main">
            <a:off x="8153400" y="3219450"/>
            <a:ext cx="342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5191D"/>
                </a:solidFill>
                <a:latin typeface="Arial"/>
                <a:ea typeface="Arial"/>
                <a:cs typeface="Arial"/>
              </a:defRPr>
            </a:defPPr>
          </a:lstStyle>
          <a:p xmlns:a="http://schemas.openxmlformats.org/drawingml/2006/main">
            <a:pPr>
              <a:defRPr sz="2925" b="1">
                <a:solidFill>
                  <a:srgbClr val="15191D"/>
                </a:solidFill>
                <a:latin typeface="Arial"/>
                <a:ea typeface="Arial"/>
                <a:cs typeface="Arial"/>
              </a:defRPr>
            </a:pPr>
            <a:r>
              <a:rPr sz="2925" b="1">
                <a:solidFill>
                  <a:srgbClr val="15191D"/>
                </a:solidFill>
                <a:latin typeface="Arial"/>
                <a:ea typeface="Arial"/>
                <a:cs typeface="Arial"/>
              </a:rPr>
              <a:t>Direct code</a:t>
            </a:r>
          </a:p>
        </p:txBody>
      </p:sp>
      <p:sp>
        <p:nvSpPr>
          <p:cNvPr id="16" name="">
            <a:extLst xmlns:a="http://schemas.openxmlformats.org/drawingml/2006/main">
              <a:ext uri="{FF2B5EF4-FFF2-40B4-BE49-F238E27FC236}">
                <a16:creationId xmlns:a16="http://schemas.microsoft.com/office/drawing/2014/main" id="{50CB9C23-F9F9-4FB9-B949-81035DA7131E}"/>
              </a:ext>
            </a:extLst>
          </p:cNvPr>
          <p:cNvSpPr>
            <a:spLocks xmlns:a="http://schemas.openxmlformats.org/drawingml/2006/main" noGrp="1"/>
          </p:cNvSpPr>
          <p:nvPr/>
        </p:nvSpPr>
        <p:spPr>
          <a:xfrm xmlns:a="http://schemas.openxmlformats.org/drawingml/2006/main">
            <a:off x="8153400" y="3990975"/>
            <a:ext cx="33718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91D"/>
                </a:solidFill>
                <a:latin typeface="Arial"/>
                <a:ea typeface="Arial"/>
                <a:cs typeface="Arial"/>
              </a:defRPr>
            </a:defPPr>
          </a:lstStyle>
          <a:p xmlns:a="http://schemas.openxmlformats.org/drawingml/2006/main">
            <a:pPr>
              <a:defRPr sz="2025" b="0">
                <a:solidFill>
                  <a:srgbClr val="15191D"/>
                </a:solidFill>
                <a:latin typeface="Arial"/>
                <a:ea typeface="Arial"/>
                <a:cs typeface="Arial"/>
              </a:defRPr>
            </a:pPr>
            <a:r>
              <a:rPr sz="2025" b="0">
                <a:solidFill>
                  <a:srgbClr val="15191D"/>
                </a:solidFill>
                <a:latin typeface="Arial"/>
                <a:ea typeface="Arial"/>
                <a:cs typeface="Arial"/>
              </a:rPr>
              <a:t>A scene inside your app.</a:t>
            </a:r>
          </a:p>
        </p:txBody>
      </p:sp>
      <p:sp>
        <p:nvSpPr>
          <p:cNvPr id="17" name="">
            <a:extLst xmlns:a="http://schemas.openxmlformats.org/drawingml/2006/main">
              <a:ext uri="{FF2B5EF4-FFF2-40B4-BE49-F238E27FC236}">
                <a16:creationId xmlns:a16="http://schemas.microsoft.com/office/drawing/2014/main" id="{E893F472-8D3E-4905-B000-6A55587301E7}"/>
              </a:ext>
            </a:extLst>
          </p:cNvPr>
          <p:cNvSpPr>
            <a:spLocks xmlns:a="http://schemas.openxmlformats.org/drawingml/2006/main" noGrp="1"/>
          </p:cNvSpPr>
          <p:nvPr/>
        </p:nvSpPr>
        <p:spPr>
          <a:xfrm xmlns:a="http://schemas.openxmlformats.org/drawingml/2006/main">
            <a:off x="8153400" y="48482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455E8"/>
                </a:solidFill>
                <a:latin typeface="Arial"/>
                <a:ea typeface="Arial"/>
                <a:cs typeface="Arial"/>
              </a:defRPr>
            </a:defPPr>
          </a:lstStyle>
          <a:p xmlns:a="http://schemas.openxmlformats.org/drawingml/2006/main">
            <a:pPr>
              <a:defRPr sz="1725" b="1">
                <a:solidFill>
                  <a:srgbClr val="2455E8"/>
                </a:solidFill>
                <a:latin typeface="Arial"/>
                <a:ea typeface="Arial"/>
                <a:cs typeface="Arial"/>
              </a:defRPr>
            </a:pPr>
            <a:r>
              <a:rPr sz="1725" b="1">
                <a:solidFill>
                  <a:srgbClr val="2455E8"/>
                </a:solidFill>
                <a:latin typeface="Arial"/>
                <a:ea typeface="Arial"/>
                <a:cs typeface="Arial"/>
              </a:rPr>
              <a:t>Good for connected UI.</a:t>
            </a:r>
          </a:p>
        </p:txBody>
      </p:sp>
      <p:sp>
        <p:nvSpPr>
          <p:cNvPr id="18" name="">
            <a:extLst xmlns:a="http://schemas.openxmlformats.org/drawingml/2006/main">
              <a:ext uri="{FF2B5EF4-FFF2-40B4-BE49-F238E27FC236}">
                <a16:creationId xmlns:a16="http://schemas.microsoft.com/office/drawing/2014/main" id="{CFD38C06-C6A9-4F74-9772-83ABF83C536C}"/>
              </a:ext>
            </a:extLst>
          </p:cNvPr>
          <p:cNvSpPr>
            <a:spLocks xmlns:a="http://schemas.openxmlformats.org/drawingml/2006/main" noGrp="1"/>
          </p:cNvSpPr>
          <p:nvPr/>
        </p:nvSpPr>
        <p:spPr>
          <a:xfrm xmlns:a="http://schemas.openxmlformats.org/drawingml/2006/main">
            <a:off x="8153400" y="5495925"/>
            <a:ext cx="33718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626B74"/>
                </a:solidFill>
                <a:latin typeface="Arial"/>
                <a:ea typeface="Arial"/>
                <a:cs typeface="Arial"/>
              </a:defRPr>
            </a:defPPr>
          </a:lstStyle>
          <a:p xmlns:a="http://schemas.openxmlformats.org/drawingml/2006/main">
            <a:pPr>
              <a:defRPr sz="1725" b="0">
                <a:solidFill>
                  <a:srgbClr val="626B74"/>
                </a:solidFill>
                <a:latin typeface="Arial"/>
                <a:ea typeface="Arial"/>
                <a:cs typeface="Arial"/>
              </a:defRPr>
            </a:pPr>
            <a:r>
              <a:rPr sz="1725" b="0">
                <a:solidFill>
                  <a:srgbClr val="626B74"/>
                </a:solidFill>
                <a:latin typeface="Arial"/>
                <a:ea typeface="Arial"/>
                <a:cs typeface="Arial"/>
              </a:rPr>
              <a:t>Own loading, resizing and cleanup.</a:t>
            </a:r>
          </a:p>
        </p:txBody>
      </p:sp>
    </p:spTree>
    <p:extLst>
      <p:ext uri="{BB962C8B-B14F-4D97-AF65-F5344CB8AC3E}">
        <p14:creationId xmlns:p14="http://schemas.microsoft.com/office/powerpoint/2010/main" val="842705411"/>
      </p:ext>
    </p:extLst>
  </p:cSld>
</p:sld>
</file>

<file path=ppt/slides/slide9.xml><?xml version="1.0" encoding="utf-8"?>
<p:sld xmlns:p="http://schemas.openxmlformats.org/presentationml/2006/main">
  <p:cSld>
    <p:bg>
      <p:bgPr>
        <a:solidFill xmlns:a="http://schemas.openxmlformats.org/drawingml/2006/main">
          <a:srgbClr val="15191D"/>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D011D3-1304-4155-8729-7AC37197D138}"/>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08 / PRODUCTION QUALITY</a:t>
            </a:r>
          </a:p>
        </p:txBody>
      </p:sp>
      <p:sp>
        <p:nvSpPr>
          <p:cNvPr id="2" name="">
            <a:extLst xmlns:a="http://schemas.openxmlformats.org/drawingml/2006/main">
              <a:ext uri="{FF2B5EF4-FFF2-40B4-BE49-F238E27FC236}">
                <a16:creationId xmlns:a16="http://schemas.microsoft.com/office/drawing/2014/main" id="{77A29A82-241C-4E7E-88AA-D8C808485189}"/>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09 / 11</a:t>
            </a:r>
          </a:p>
        </p:txBody>
      </p:sp>
      <p:sp>
        <p:nvSpPr>
          <p:cNvPr id="3" name="">
            <a:extLst xmlns:a="http://schemas.openxmlformats.org/drawingml/2006/main">
              <a:ext uri="{FF2B5EF4-FFF2-40B4-BE49-F238E27FC236}">
                <a16:creationId xmlns:a16="http://schemas.microsoft.com/office/drawing/2014/main" id="{BBF8EE03-4AC0-4E4B-B432-88990E21358C}"/>
              </a:ext>
            </a:extLst>
          </p:cNvPr>
          <p:cNvSpPr>
            <a:spLocks xmlns:a="http://schemas.openxmlformats.org/drawingml/2006/main" noGrp="1"/>
          </p:cNvSpPr>
          <p:nvPr/>
        </p:nvSpPr>
        <p:spPr>
          <a:xfrm xmlns:a="http://schemas.openxmlformats.org/drawingml/2006/main">
            <a:off x="514350" y="1047750"/>
            <a:ext cx="590550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900" b="1">
                <a:solidFill>
                  <a:srgbClr val="CDF36A"/>
                </a:solidFill>
                <a:latin typeface="Arial"/>
                <a:ea typeface="Arial"/>
                <a:cs typeface="Arial"/>
              </a:defRPr>
            </a:defPPr>
          </a:lstStyle>
          <a:p xmlns:a="http://schemas.openxmlformats.org/drawingml/2006/main">
            <a:pPr>
              <a:defRPr sz="9900" b="1">
                <a:solidFill>
                  <a:srgbClr val="CDF36A"/>
                </a:solidFill>
                <a:latin typeface="Arial"/>
                <a:ea typeface="Arial"/>
                <a:cs typeface="Arial"/>
              </a:defRPr>
            </a:pPr>
            <a:r>
              <a:rPr sz="9900" b="1">
                <a:solidFill>
                  <a:srgbClr val="CDF36A"/>
                </a:solidFill>
                <a:latin typeface="Arial"/>
                <a:ea typeface="Arial"/>
                <a:cs typeface="Arial"/>
              </a:rPr>
              <a:t>16.7</a:t>
            </a:r>
          </a:p>
        </p:txBody>
      </p:sp>
      <p:sp>
        <p:nvSpPr>
          <p:cNvPr id="4" name="">
            <a:extLst xmlns:a="http://schemas.openxmlformats.org/drawingml/2006/main">
              <a:ext uri="{FF2B5EF4-FFF2-40B4-BE49-F238E27FC236}">
                <a16:creationId xmlns:a16="http://schemas.microsoft.com/office/drawing/2014/main" id="{2341D736-44D0-40D5-81D1-ECABF02DE3B8}"/>
              </a:ext>
            </a:extLst>
          </p:cNvPr>
          <p:cNvSpPr>
            <a:spLocks xmlns:a="http://schemas.openxmlformats.org/drawingml/2006/main" noGrp="1"/>
          </p:cNvSpPr>
          <p:nvPr/>
        </p:nvSpPr>
        <p:spPr>
          <a:xfrm xmlns:a="http://schemas.openxmlformats.org/drawingml/2006/main">
            <a:off x="609600" y="2647950"/>
            <a:ext cx="6096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FFFFFF"/>
                </a:solidFill>
                <a:latin typeface="Arial"/>
                <a:ea typeface="Arial"/>
                <a:cs typeface="Arial"/>
              </a:defRPr>
            </a:defPPr>
          </a:lstStyle>
          <a:p xmlns:a="http://schemas.openxmlformats.org/drawingml/2006/main">
            <a:pPr>
              <a:defRPr sz="2100" b="0">
                <a:solidFill>
                  <a:srgbClr val="FFFFFF"/>
                </a:solidFill>
                <a:latin typeface="Arial"/>
                <a:ea typeface="Arial"/>
                <a:cs typeface="Arial"/>
              </a:defRPr>
            </a:pPr>
            <a:r>
              <a:rPr sz="2100" b="0">
                <a:solidFill>
                  <a:srgbClr val="FFFFFF"/>
                </a:solidFill>
                <a:latin typeface="Arial"/>
                <a:ea typeface="Arial"/>
                <a:cs typeface="Arial"/>
              </a:rPr>
              <a:t>ms per frame at a 60 fps target</a:t>
            </a:r>
          </a:p>
        </p:txBody>
      </p:sp>
      <p:sp>
        <p:nvSpPr>
          <p:cNvPr id="5" name="">
            <a:extLst xmlns:a="http://schemas.openxmlformats.org/drawingml/2006/main">
              <a:ext uri="{FF2B5EF4-FFF2-40B4-BE49-F238E27FC236}">
                <a16:creationId xmlns:a16="http://schemas.microsoft.com/office/drawing/2014/main" id="{D3D4C71C-BD2B-4BB5-82E8-68013764A2F8}"/>
              </a:ext>
            </a:extLst>
          </p:cNvPr>
          <p:cNvSpPr>
            <a:spLocks xmlns:a="http://schemas.openxmlformats.org/drawingml/2006/main" noGrp="1"/>
          </p:cNvSpPr>
          <p:nvPr/>
        </p:nvSpPr>
        <p:spPr>
          <a:xfrm xmlns:a="http://schemas.openxmlformats.org/drawingml/2006/main">
            <a:off x="7381875" y="1381125"/>
            <a:ext cx="4191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FFFFFF"/>
                </a:solidFill>
                <a:latin typeface="Arial"/>
                <a:ea typeface="Arial"/>
                <a:cs typeface="Arial"/>
              </a:defRPr>
            </a:defPPr>
          </a:lstStyle>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A fast download</a:t>
            </a:r>
          </a:p>
          <a:p xmlns:a="http://schemas.openxmlformats.org/drawingml/2006/main">
            <a:pPr>
              <a:defRPr sz="3150" b="1">
                <a:solidFill>
                  <a:srgbClr val="FFFFFF"/>
                </a:solidFill>
                <a:latin typeface="Arial"/>
                <a:ea typeface="Arial"/>
                <a:cs typeface="Arial"/>
              </a:defRPr>
            </a:pPr>
            <a:r>
              <a:rPr sz="3150" b="1">
                <a:solidFill>
                  <a:srgbClr val="FFFFFF"/>
                </a:solidFill>
                <a:latin typeface="Arial"/>
                <a:ea typeface="Arial"/>
                <a:cs typeface="Arial"/>
              </a:rPr>
              <a:t>is only the start.</a:t>
            </a:r>
          </a:p>
        </p:txBody>
      </p:sp>
      <p:graphicFrame>
        <p:nvGraphicFramePr>
          <p:cNvPr id="6" name="">
            <a:extLst xmlns:a="http://schemas.openxmlformats.org/drawingml/2006/main">
              <a:ext uri="{FF2B5EF4-FFF2-40B4-BE49-F238E27FC236}">
                <a16:creationId xmlns:a16="http://schemas.microsoft.com/office/drawing/2014/main" id="{1A5B58CD-F5B2-42CE-B016-51394BC64D75}"/>
              </a:ext>
            </a:extLst>
          </p:cNvPr>
          <p:cNvGraphicFramePr/>
          <p:nvPr/>
        </p:nvGraphicFramePr>
        <p:xfrm>
          <a:off xmlns:a="http://schemas.openxmlformats.org/drawingml/2006/main" x="495300" y="3467100"/>
          <a:ext xmlns:a="http://schemas.openxmlformats.org/drawingml/2006/main" cx="11201400" cy="2305050"/>
        </p:xfrm>
        <a:graphic xmlns:a="http://schemas.openxmlformats.org/drawingml/2006/main">
          <a:graphicData uri="http://schemas.openxmlformats.org/drawingml/2006/table">
            <a:tbl>
              <a:tblPr/>
              <a:tblGrid>
                <a:gridCol w="2524125"/>
                <a:gridCol w="4524375"/>
                <a:gridCol w="4152900"/>
              </a:tblGrid>
              <a:tr h="576263">
                <a:tc>
                  <a:txBody>
                    <a:bodyPr/>
                    <a:lstStyle/>
                    <a:p>
                      <a:r>
                        <a:rPr sz="1575" b="1">
                          <a:solidFill>
                            <a:srgbClr val="15191D"/>
                          </a:solidFill>
                          <a:latin typeface="Arial"/>
                          <a:ea typeface="Arial"/>
                          <a:cs typeface="Arial"/>
                        </a:rPr>
                        <a:t>Bottleneck</a:t>
                      </a:r>
                    </a:p>
                  </a:txBody>
                  <a:tcPr marL="142875" marR="142875" marT="76200" marB="76200">
                    <a:solidFill>
                      <a:srgbClr val="CDF36A"/>
                    </a:solidFill>
                  </a:tcPr>
                </a:tc>
                <a:tc>
                  <a:txBody>
                    <a:bodyPr/>
                    <a:lstStyle/>
                    <a:p>
                      <a:r>
                        <a:rPr sz="1575" b="1">
                          <a:solidFill>
                            <a:srgbClr val="15191D"/>
                          </a:solidFill>
                          <a:latin typeface="Arial"/>
                          <a:ea typeface="Arial"/>
                          <a:cs typeface="Arial"/>
                        </a:rPr>
                        <a:t>What to inspect</a:t>
                      </a:r>
                    </a:p>
                  </a:txBody>
                  <a:tcPr marL="142875" marR="142875" marT="76200" marB="76200">
                    <a:solidFill>
                      <a:srgbClr val="CDF36A"/>
                    </a:solidFill>
                  </a:tcPr>
                </a:tc>
                <a:tc>
                  <a:txBody>
                    <a:bodyPr/>
                    <a:lstStyle/>
                    <a:p>
                      <a:r>
                        <a:rPr sz="1575" b="1">
                          <a:solidFill>
                            <a:srgbClr val="15191D"/>
                          </a:solidFill>
                          <a:latin typeface="Arial"/>
                          <a:ea typeface="Arial"/>
                          <a:cs typeface="Arial"/>
                        </a:rPr>
                        <a:t>Possible response</a:t>
                      </a:r>
                    </a:p>
                  </a:txBody>
                  <a:tcPr marL="142875" marR="142875" marT="76200" marB="76200">
                    <a:solidFill>
                      <a:srgbClr val="CDF36A"/>
                    </a:solidFill>
                  </a:tcPr>
                </a:tc>
              </a:tr>
              <a:tr h="576263">
                <a:tc>
                  <a:txBody>
                    <a:bodyPr/>
                    <a:lstStyle/>
                    <a:p>
                      <a:r>
                        <a:rPr sz="1725">
                          <a:solidFill>
                            <a:srgbClr val="FFFFFF"/>
                          </a:solidFill>
                          <a:latin typeface="Arial"/>
                          <a:ea typeface="Arial"/>
                          <a:cs typeface="Arial"/>
                        </a:rPr>
                        <a:t>Network</a:t>
                      </a:r>
                    </a:p>
                  </a:txBody>
                  <a:tcPr marL="142875" marR="142875" marT="76200" marB="76200">
                    <a:solidFill>
                      <a:srgbClr val="15191D"/>
                    </a:solidFill>
                  </a:tcPr>
                </a:tc>
                <a:tc>
                  <a:txBody>
                    <a:bodyPr/>
                    <a:lstStyle/>
                    <a:p>
                      <a:r>
                        <a:rPr sz="1725">
                          <a:solidFill>
                            <a:srgbClr val="FFFFFF"/>
                          </a:solidFill>
                          <a:latin typeface="Arial"/>
                          <a:ea typeface="Arial"/>
                          <a:cs typeface="Arial"/>
                        </a:rPr>
                        <a:t>Model and texture transfer size</a:t>
                      </a:r>
                    </a:p>
                  </a:txBody>
                  <a:tcPr marL="142875" marR="142875" marT="76200" marB="76200">
                    <a:solidFill>
                      <a:srgbClr val="15191D"/>
                    </a:solidFill>
                  </a:tcPr>
                </a:tc>
                <a:tc>
                  <a:txBody>
                    <a:bodyPr/>
                    <a:lstStyle/>
                    <a:p>
                      <a:r>
                        <a:rPr sz="1725">
                          <a:solidFill>
                            <a:srgbClr val="FFFFFF"/>
                          </a:solidFill>
                          <a:latin typeface="Arial"/>
                          <a:ea typeface="Arial"/>
                          <a:cs typeface="Arial"/>
                        </a:rPr>
                        <a:t>Compress or load on demand</a:t>
                      </a:r>
                    </a:p>
                  </a:txBody>
                  <a:tcPr marL="142875" marR="142875" marT="76200" marB="76200">
                    <a:solidFill>
                      <a:srgbClr val="15191D"/>
                    </a:solidFill>
                  </a:tcPr>
                </a:tc>
              </a:tr>
              <a:tr h="576263">
                <a:tc>
                  <a:txBody>
                    <a:bodyPr/>
                    <a:lstStyle/>
                    <a:p>
                      <a:r>
                        <a:rPr sz="1725">
                          <a:solidFill>
                            <a:srgbClr val="FFFFFF"/>
                          </a:solidFill>
                          <a:latin typeface="Arial"/>
                          <a:ea typeface="Arial"/>
                          <a:cs typeface="Arial"/>
                        </a:rPr>
                        <a:t>CPU</a:t>
                      </a:r>
                    </a:p>
                  </a:txBody>
                  <a:tcPr marL="142875" marR="142875" marT="76200" marB="76200">
                    <a:solidFill>
                      <a:srgbClr val="15191D"/>
                    </a:solidFill>
                  </a:tcPr>
                </a:tc>
                <a:tc>
                  <a:txBody>
                    <a:bodyPr/>
                    <a:lstStyle/>
                    <a:p>
                      <a:r>
                        <a:rPr sz="1725">
                          <a:solidFill>
                            <a:srgbClr val="FFFFFF"/>
                          </a:solidFill>
                          <a:latin typeface="Arial"/>
                          <a:ea typeface="Arial"/>
                          <a:cs typeface="Arial"/>
                        </a:rPr>
                        <a:t>Decoding and scene updates</a:t>
                      </a:r>
                    </a:p>
                  </a:txBody>
                  <a:tcPr marL="142875" marR="142875" marT="76200" marB="76200">
                    <a:solidFill>
                      <a:srgbClr val="15191D"/>
                    </a:solidFill>
                  </a:tcPr>
                </a:tc>
                <a:tc>
                  <a:txBody>
                    <a:bodyPr/>
                    <a:lstStyle/>
                    <a:p>
                      <a:r>
                        <a:rPr sz="1725">
                          <a:solidFill>
                            <a:srgbClr val="FFFFFF"/>
                          </a:solidFill>
                          <a:latin typeface="Arial"/>
                          <a:ea typeface="Arial"/>
                          <a:cs typeface="Arial"/>
                        </a:rPr>
                        <a:t>Reduce work and pause idle motion</a:t>
                      </a:r>
                    </a:p>
                  </a:txBody>
                  <a:tcPr marL="142875" marR="142875" marT="76200" marB="76200">
                    <a:solidFill>
                      <a:srgbClr val="15191D"/>
                    </a:solidFill>
                  </a:tcPr>
                </a:tc>
              </a:tr>
              <a:tr h="576263">
                <a:tc>
                  <a:txBody>
                    <a:bodyPr/>
                    <a:lstStyle/>
                    <a:p>
                      <a:r>
                        <a:rPr sz="1725">
                          <a:solidFill>
                            <a:srgbClr val="FFFFFF"/>
                          </a:solidFill>
                          <a:latin typeface="Arial"/>
                          <a:ea typeface="Arial"/>
                          <a:cs typeface="Arial"/>
                        </a:rPr>
                        <a:t>GPU</a:t>
                      </a:r>
                    </a:p>
                  </a:txBody>
                  <a:tcPr marL="142875" marR="142875" marT="76200" marB="76200">
                    <a:solidFill>
                      <a:srgbClr val="15191D"/>
                    </a:solidFill>
                  </a:tcPr>
                </a:tc>
                <a:tc>
                  <a:txBody>
                    <a:bodyPr/>
                    <a:lstStyle/>
                    <a:p>
                      <a:r>
                        <a:rPr sz="1725">
                          <a:solidFill>
                            <a:srgbClr val="FFFFFF"/>
                          </a:solidFill>
                          <a:latin typeface="Arial"/>
                          <a:ea typeface="Arial"/>
                          <a:cs typeface="Arial"/>
                        </a:rPr>
                        <a:t>Resolution, shadows and effects</a:t>
                      </a:r>
                    </a:p>
                  </a:txBody>
                  <a:tcPr marL="142875" marR="142875" marT="76200" marB="76200">
                    <a:solidFill>
                      <a:srgbClr val="15191D"/>
                    </a:solidFill>
                  </a:tcPr>
                </a:tc>
                <a:tc>
                  <a:txBody>
                    <a:bodyPr/>
                    <a:lstStyle/>
                    <a:p>
                      <a:r>
                        <a:rPr sz="1725">
                          <a:solidFill>
                            <a:srgbClr val="FFFFFF"/>
                          </a:solidFill>
                          <a:latin typeface="Arial"/>
                          <a:ea typeface="Arial"/>
                          <a:cs typeface="Arial"/>
                        </a:rPr>
                        <a:t>Reduce pixels or effect cost</a:t>
                      </a:r>
                    </a:p>
                  </a:txBody>
                  <a:tcPr marL="142875" marR="142875" marT="76200" marB="76200">
                    <a:solidFill>
                      <a:srgbClr val="15191D"/>
                    </a:solidFill>
                  </a:tcPr>
                </a:tc>
              </a:tr>
            </a:tbl>
          </a:graphicData>
        </a:graphic>
      </p:graphicFrame>
      <p:sp>
        <p:nvSpPr>
          <p:cNvPr id="7" name="">
            <a:extLst xmlns:a="http://schemas.openxmlformats.org/drawingml/2006/main">
              <a:ext uri="{FF2B5EF4-FFF2-40B4-BE49-F238E27FC236}">
                <a16:creationId xmlns:a16="http://schemas.microsoft.com/office/drawing/2014/main" id="{52A5F4B3-E8A4-4676-BA4A-1020B12CBB40}"/>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CDF36A"/>
                </a:solidFill>
                <a:latin typeface="Arial"/>
                <a:ea typeface="Arial"/>
                <a:cs typeface="Arial"/>
              </a:defRPr>
            </a:defPPr>
          </a:lstStyle>
          <a:p xmlns:a="http://schemas.openxmlformats.org/drawingml/2006/main">
            <a:pPr>
              <a:defRPr sz="1425" b="0">
                <a:solidFill>
                  <a:srgbClr val="CDF36A"/>
                </a:solidFill>
                <a:latin typeface="Arial"/>
                <a:ea typeface="Arial"/>
                <a:cs typeface="Arial"/>
              </a:defRPr>
            </a:pPr>
            <a:r>
              <a:rPr sz="1425" b="0">
                <a:solidFill>
                  <a:srgbClr val="CDF36A"/>
                </a:solidFill>
                <a:latin typeface="Arial"/>
                <a:ea typeface="Arial"/>
                <a:cs typeface="Arial"/>
              </a:rPr>
              <a:t>Measure real phones. Keep a useful poster image and accessible HTML content.</a:t>
            </a:r>
          </a:p>
        </p:txBody>
      </p:sp>
    </p:spTree>
    <p:extLst>
      <p:ext uri="{BB962C8B-B14F-4D97-AF65-F5344CB8AC3E}">
        <p14:creationId xmlns:p14="http://schemas.microsoft.com/office/powerpoint/2010/main" val="1758305056"/>
      </p:ext>
    </p:extLst>
  </p:cSld>
</p:sld>
</file>

<file path=ppt/slides/slide10.xml><?xml version="1.0" encoding="utf-8"?>
<p:sld xmlns:p="http://schemas.openxmlformats.org/presentationml/2006/main">
  <p:cSld>
    <p:bg>
      <p:bgPr>
        <a:solidFill xmlns:a="http://schemas.openxmlformats.org/drawingml/2006/main">
          <a:srgbClr val="F7F8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C12281F-8914-48C7-80A5-73CACC16F1A0}"/>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09 / TEAM WORKFLOW</a:t>
            </a:r>
          </a:p>
        </p:txBody>
      </p:sp>
      <p:sp>
        <p:nvSpPr>
          <p:cNvPr id="2" name="">
            <a:extLst xmlns:a="http://schemas.openxmlformats.org/drawingml/2006/main">
              <a:ext uri="{FF2B5EF4-FFF2-40B4-BE49-F238E27FC236}">
                <a16:creationId xmlns:a16="http://schemas.microsoft.com/office/drawing/2014/main" id="{C83A8B4B-F2D3-4EC2-B032-A55D2C827B7A}"/>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B74"/>
                </a:solidFill>
                <a:latin typeface="Arial"/>
                <a:ea typeface="Arial"/>
                <a:cs typeface="Arial"/>
              </a:defRPr>
            </a:defPPr>
          </a:lstStyle>
          <a:p xmlns:a="http://schemas.openxmlformats.org/drawingml/2006/main">
            <a:pPr>
              <a:defRPr sz="1125" b="0">
                <a:solidFill>
                  <a:srgbClr val="626B74"/>
                </a:solidFill>
                <a:latin typeface="Arial"/>
                <a:ea typeface="Arial"/>
                <a:cs typeface="Arial"/>
              </a:defRPr>
            </a:pPr>
            <a:r>
              <a:rPr sz="1125" b="0">
                <a:solidFill>
                  <a:srgbClr val="626B74"/>
                </a:solidFill>
                <a:latin typeface="Arial"/>
                <a:ea typeface="Arial"/>
                <a:cs typeface="Arial"/>
              </a:rPr>
              <a:t>10 / 11</a:t>
            </a:r>
          </a:p>
        </p:txBody>
      </p:sp>
      <p:sp>
        <p:nvSpPr>
          <p:cNvPr id="3" name="">
            <a:extLst xmlns:a="http://schemas.openxmlformats.org/drawingml/2006/main">
              <a:ext uri="{FF2B5EF4-FFF2-40B4-BE49-F238E27FC236}">
                <a16:creationId xmlns:a16="http://schemas.microsoft.com/office/drawing/2014/main" id="{6F572FAF-34C7-455A-BDDC-10C9C40587BC}"/>
              </a:ext>
            </a:extLst>
          </p:cNvPr>
          <p:cNvSpPr>
            <a:spLocks xmlns:a="http://schemas.openxmlformats.org/drawingml/2006/main" noGrp="1"/>
          </p:cNvSpPr>
          <p:nvPr/>
        </p:nvSpPr>
        <p:spPr>
          <a:xfrm xmlns:a="http://schemas.openxmlformats.org/drawingml/2006/main">
            <a:off x="495300" y="933450"/>
            <a:ext cx="10953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75" b="1">
                <a:solidFill>
                  <a:srgbClr val="15191D"/>
                </a:solidFill>
                <a:latin typeface="Arial"/>
                <a:ea typeface="Arial"/>
                <a:cs typeface="Arial"/>
              </a:defRPr>
            </a:defPPr>
          </a:lstStyle>
          <a:p xmlns:a="http://schemas.openxmlformats.org/drawingml/2006/main">
            <a:pPr>
              <a:defRPr sz="4275" b="1">
                <a:solidFill>
                  <a:srgbClr val="15191D"/>
                </a:solidFill>
                <a:latin typeface="Arial"/>
                <a:ea typeface="Arial"/>
                <a:cs typeface="Arial"/>
              </a:defRPr>
            </a:pPr>
            <a:r>
              <a:rPr sz="4275" b="1">
                <a:solidFill>
                  <a:srgbClr val="15191D"/>
                </a:solidFill>
                <a:latin typeface="Arial"/>
                <a:ea typeface="Arial"/>
                <a:cs typeface="Arial"/>
              </a:rPr>
              <a:t>A good handoff is testable.</a:t>
            </a:r>
          </a:p>
        </p:txBody>
      </p:sp>
      <p:sp>
        <p:nvSpPr>
          <p:cNvPr id="4" name="">
            <a:extLst xmlns:a="http://schemas.openxmlformats.org/drawingml/2006/main">
              <a:ext uri="{FF2B5EF4-FFF2-40B4-BE49-F238E27FC236}">
                <a16:creationId xmlns:a16="http://schemas.microsoft.com/office/drawing/2014/main" id="{1BD56D0E-0652-4943-8EB2-46C07D939CAE}"/>
              </a:ext>
            </a:extLst>
          </p:cNvPr>
          <p:cNvSpPr>
            <a:spLocks xmlns:a="http://schemas.openxmlformats.org/drawingml/2006/main" noGrp="1"/>
          </p:cNvSpPr>
          <p:nvPr/>
        </p:nvSpPr>
        <p:spPr>
          <a:xfrm xmlns:a="http://schemas.openxmlformats.org/drawingml/2006/main">
            <a:off x="523875" y="209550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26B74"/>
                </a:solidFill>
                <a:latin typeface="Arial"/>
                <a:ea typeface="Arial"/>
                <a:cs typeface="Arial"/>
              </a:defRPr>
            </a:defPPr>
          </a:lstStyle>
          <a:p xmlns:a="http://schemas.openxmlformats.org/drawingml/2006/main">
            <a:pPr>
              <a:defRPr sz="1875" b="0">
                <a:solidFill>
                  <a:srgbClr val="626B74"/>
                </a:solidFill>
                <a:latin typeface="Arial"/>
                <a:ea typeface="Arial"/>
                <a:cs typeface="Arial"/>
              </a:defRPr>
            </a:pPr>
            <a:r>
              <a:rPr sz="1875" b="0">
                <a:solidFill>
                  <a:srgbClr val="626B74"/>
                </a:solidFill>
                <a:latin typeface="Arial"/>
                <a:ea typeface="Arial"/>
                <a:cs typeface="Arial"/>
              </a:rPr>
              <a:t>Approve the same asset in the same browser scene.</a:t>
            </a:r>
          </a:p>
        </p:txBody>
      </p:sp>
      <p:graphicFrame>
        <p:nvGraphicFramePr>
          <p:cNvPr id="5" name="">
            <a:extLst xmlns:a="http://schemas.openxmlformats.org/drawingml/2006/main">
              <a:ext uri="{FF2B5EF4-FFF2-40B4-BE49-F238E27FC236}">
                <a16:creationId xmlns:a16="http://schemas.microsoft.com/office/drawing/2014/main" id="{92249C17-CD51-4EA5-85A5-E52BD5B98976}"/>
              </a:ext>
            </a:extLst>
          </p:cNvPr>
          <p:cNvGraphicFramePr/>
          <p:nvPr/>
        </p:nvGraphicFramePr>
        <p:xfrm>
          <a:off xmlns:a="http://schemas.openxmlformats.org/drawingml/2006/main" x="495300" y="2743200"/>
          <a:ext xmlns:a="http://schemas.openxmlformats.org/drawingml/2006/main" cx="11201400" cy="3171825"/>
        </p:xfrm>
        <a:graphic xmlns:a="http://schemas.openxmlformats.org/drawingml/2006/main">
          <a:graphicData uri="http://schemas.openxmlformats.org/drawingml/2006/table">
            <a:tbl>
              <a:tblPr/>
              <a:tblGrid>
                <a:gridCol w="2476500"/>
                <a:gridCol w="4048125"/>
                <a:gridCol w="4676775"/>
              </a:tblGrid>
              <a:tr h="634365">
                <a:tc>
                  <a:txBody>
                    <a:bodyPr/>
                    <a:lstStyle/>
                    <a:p>
                      <a:r>
                        <a:rPr sz="1575" b="1">
                          <a:solidFill>
                            <a:srgbClr val="FFFFFF"/>
                          </a:solidFill>
                          <a:latin typeface="Arial"/>
                          <a:ea typeface="Arial"/>
                          <a:cs typeface="Arial"/>
                        </a:rPr>
                        <a:t>Owner</a:t>
                      </a:r>
                    </a:p>
                  </a:txBody>
                  <a:tcPr marL="142875" marR="142875" marT="76200" marB="76200">
                    <a:solidFill>
                      <a:srgbClr val="15191D"/>
                    </a:solidFill>
                  </a:tcPr>
                </a:tc>
                <a:tc>
                  <a:txBody>
                    <a:bodyPr/>
                    <a:lstStyle/>
                    <a:p>
                      <a:r>
                        <a:rPr sz="1575" b="1">
                          <a:solidFill>
                            <a:srgbClr val="FFFFFF"/>
                          </a:solidFill>
                          <a:latin typeface="Arial"/>
                          <a:ea typeface="Arial"/>
                          <a:cs typeface="Arial"/>
                        </a:rPr>
                        <a:t>Concrete deliverable</a:t>
                      </a:r>
                    </a:p>
                  </a:txBody>
                  <a:tcPr marL="142875" marR="142875" marT="76200" marB="76200">
                    <a:solidFill>
                      <a:srgbClr val="15191D"/>
                    </a:solidFill>
                  </a:tcPr>
                </a:tc>
                <a:tc>
                  <a:txBody>
                    <a:bodyPr/>
                    <a:lstStyle/>
                    <a:p>
                      <a:r>
                        <a:rPr sz="1575" b="1">
                          <a:solidFill>
                            <a:srgbClr val="FFFFFF"/>
                          </a:solidFill>
                          <a:latin typeface="Arial"/>
                          <a:ea typeface="Arial"/>
                          <a:cs typeface="Arial"/>
                        </a:rPr>
                        <a:t>Approval question</a:t>
                      </a:r>
                    </a:p>
                  </a:txBody>
                  <a:tcPr marL="142875" marR="142875" marT="76200" marB="76200">
                    <a:solidFill>
                      <a:srgbClr val="15191D"/>
                    </a:solidFill>
                  </a:tcPr>
                </a:tc>
              </a:tr>
              <a:tr h="634365">
                <a:tc>
                  <a:txBody>
                    <a:bodyPr/>
                    <a:lstStyle/>
                    <a:p>
                      <a:r>
                        <a:rPr sz="1725">
                          <a:solidFill>
                            <a:srgbClr val="15191D"/>
                          </a:solidFill>
                          <a:latin typeface="Arial"/>
                          <a:ea typeface="Arial"/>
                          <a:cs typeface="Arial"/>
                        </a:rPr>
                        <a:t>Designer</a:t>
                      </a:r>
                    </a:p>
                  </a:txBody>
                  <a:tcPr marL="142875" marR="142875" marT="76200" marB="76200">
                    <a:solidFill>
                      <a:srgbClr val="F7F8FA"/>
                    </a:solidFill>
                  </a:tcPr>
                </a:tc>
                <a:tc>
                  <a:txBody>
                    <a:bodyPr/>
                    <a:lstStyle/>
                    <a:p>
                      <a:r>
                        <a:rPr sz="1725">
                          <a:solidFill>
                            <a:srgbClr val="15191D"/>
                          </a:solidFill>
                          <a:latin typeface="Arial"/>
                          <a:ea typeface="Arial"/>
                          <a:cs typeface="Arial"/>
                        </a:rPr>
                        <a:t>Initial view + control states</a:t>
                      </a:r>
                    </a:p>
                  </a:txBody>
                  <a:tcPr marL="142875" marR="142875" marT="76200" marB="76200">
                    <a:solidFill>
                      <a:srgbClr val="F7F8FA"/>
                    </a:solidFill>
                  </a:tcPr>
                </a:tc>
                <a:tc>
                  <a:txBody>
                    <a:bodyPr/>
                    <a:lstStyle/>
                    <a:p>
                      <a:r>
                        <a:rPr sz="1725">
                          <a:solidFill>
                            <a:srgbClr val="15191D"/>
                          </a:solidFill>
                          <a:latin typeface="Arial"/>
                          <a:ea typeface="Arial"/>
                          <a:cs typeface="Arial"/>
                        </a:rPr>
                        <a:t>Can a visitor discover the interaction?</a:t>
                      </a:r>
                    </a:p>
                  </a:txBody>
                  <a:tcPr marL="142875" marR="142875" marT="76200" marB="76200">
                    <a:solidFill>
                      <a:srgbClr val="F7F8FA"/>
                    </a:solidFill>
                  </a:tcPr>
                </a:tc>
              </a:tr>
              <a:tr h="634365">
                <a:tc>
                  <a:txBody>
                    <a:bodyPr/>
                    <a:lstStyle/>
                    <a:p>
                      <a:r>
                        <a:rPr sz="1725">
                          <a:solidFill>
                            <a:srgbClr val="15191D"/>
                          </a:solidFill>
                          <a:latin typeface="Arial"/>
                          <a:ea typeface="Arial"/>
                          <a:cs typeface="Arial"/>
                        </a:rPr>
                        <a:t>Motion designer</a:t>
                      </a:r>
                    </a:p>
                  </a:txBody>
                  <a:tcPr marL="142875" marR="142875" marT="76200" marB="76200">
                    <a:solidFill>
                      <a:srgbClr val="F7F8FA"/>
                    </a:solidFill>
                  </a:tcPr>
                </a:tc>
                <a:tc>
                  <a:txBody>
                    <a:bodyPr/>
                    <a:lstStyle/>
                    <a:p>
                      <a:r>
                        <a:rPr sz="1725">
                          <a:solidFill>
                            <a:srgbClr val="15191D"/>
                          </a:solidFill>
                          <a:latin typeface="Arial"/>
                          <a:ea typeface="Arial"/>
                          <a:cs typeface="Arial"/>
                        </a:rPr>
                        <a:t>Clips + interruption rules</a:t>
                      </a:r>
                    </a:p>
                  </a:txBody>
                  <a:tcPr marL="142875" marR="142875" marT="76200" marB="76200">
                    <a:solidFill>
                      <a:srgbClr val="F7F8FA"/>
                    </a:solidFill>
                  </a:tcPr>
                </a:tc>
                <a:tc>
                  <a:txBody>
                    <a:bodyPr/>
                    <a:lstStyle/>
                    <a:p>
                      <a:r>
                        <a:rPr sz="1725">
                          <a:solidFill>
                            <a:srgbClr val="15191D"/>
                          </a:solidFill>
                          <a:latin typeface="Arial"/>
                          <a:ea typeface="Arial"/>
                          <a:cs typeface="Arial"/>
                        </a:rPr>
                        <a:t>What happens when the user takes over?</a:t>
                      </a:r>
                    </a:p>
                  </a:txBody>
                  <a:tcPr marL="142875" marR="142875" marT="76200" marB="76200">
                    <a:solidFill>
                      <a:srgbClr val="F7F8FA"/>
                    </a:solidFill>
                  </a:tcPr>
                </a:tc>
              </a:tr>
              <a:tr h="634365">
                <a:tc>
                  <a:txBody>
                    <a:bodyPr/>
                    <a:lstStyle/>
                    <a:p>
                      <a:r>
                        <a:rPr sz="1725">
                          <a:solidFill>
                            <a:srgbClr val="15191D"/>
                          </a:solidFill>
                          <a:latin typeface="Arial"/>
                          <a:ea typeface="Arial"/>
                          <a:cs typeface="Arial"/>
                        </a:rPr>
                        <a:t>3D artist</a:t>
                      </a:r>
                    </a:p>
                  </a:txBody>
                  <a:tcPr marL="142875" marR="142875" marT="76200" marB="76200">
                    <a:solidFill>
                      <a:srgbClr val="F7F8FA"/>
                    </a:solidFill>
                  </a:tcPr>
                </a:tc>
                <a:tc>
                  <a:txBody>
                    <a:bodyPr/>
                    <a:lstStyle/>
                    <a:p>
                      <a:r>
                        <a:rPr sz="1725">
                          <a:solidFill>
                            <a:srgbClr val="15191D"/>
                          </a:solidFill>
                          <a:latin typeface="Arial"/>
                          <a:ea typeface="Arial"/>
                          <a:cs typeface="Arial"/>
                        </a:rPr>
                        <a:t>Source + named, scaled GLB</a:t>
                      </a:r>
                    </a:p>
                  </a:txBody>
                  <a:tcPr marL="142875" marR="142875" marT="76200" marB="76200">
                    <a:solidFill>
                      <a:srgbClr val="F7F8FA"/>
                    </a:solidFill>
                  </a:tcPr>
                </a:tc>
                <a:tc>
                  <a:txBody>
                    <a:bodyPr/>
                    <a:lstStyle/>
                    <a:p>
                      <a:r>
                        <a:rPr sz="1725">
                          <a:solidFill>
                            <a:srgbClr val="15191D"/>
                          </a:solidFill>
                          <a:latin typeface="Arial"/>
                          <a:ea typeface="Arial"/>
                          <a:cs typeface="Arial"/>
                        </a:rPr>
                        <a:t>Do shape and materials match?</a:t>
                      </a:r>
                    </a:p>
                  </a:txBody>
                  <a:tcPr marL="142875" marR="142875" marT="76200" marB="76200">
                    <a:solidFill>
                      <a:srgbClr val="F7F8FA"/>
                    </a:solidFill>
                  </a:tcPr>
                </a:tc>
              </a:tr>
              <a:tr h="634365">
                <a:tc>
                  <a:txBody>
                    <a:bodyPr/>
                    <a:lstStyle/>
                    <a:p>
                      <a:r>
                        <a:rPr sz="1725">
                          <a:solidFill>
                            <a:srgbClr val="15191D"/>
                          </a:solidFill>
                          <a:latin typeface="Arial"/>
                          <a:ea typeface="Arial"/>
                          <a:cs typeface="Arial"/>
                        </a:rPr>
                        <a:t>Developer</a:t>
                      </a:r>
                    </a:p>
                  </a:txBody>
                  <a:tcPr marL="142875" marR="142875" marT="76200" marB="76200">
                    <a:solidFill>
                      <a:srgbClr val="F7F8FA"/>
                    </a:solidFill>
                  </a:tcPr>
                </a:tc>
                <a:tc>
                  <a:txBody>
                    <a:bodyPr/>
                    <a:lstStyle/>
                    <a:p>
                      <a:r>
                        <a:rPr sz="1725">
                          <a:solidFill>
                            <a:srgbClr val="15191D"/>
                          </a:solidFill>
                          <a:latin typeface="Arial"/>
                          <a:ea typeface="Arial"/>
                          <a:cs typeface="Arial"/>
                        </a:rPr>
                        <a:t>Published viewer + fallback</a:t>
                      </a:r>
                    </a:p>
                  </a:txBody>
                  <a:tcPr marL="142875" marR="142875" marT="76200" marB="76200">
                    <a:solidFill>
                      <a:srgbClr val="F7F8FA"/>
                    </a:solidFill>
                  </a:tcPr>
                </a:tc>
                <a:tc>
                  <a:txBody>
                    <a:bodyPr/>
                    <a:lstStyle/>
                    <a:p>
                      <a:r>
                        <a:rPr sz="1725">
                          <a:solidFill>
                            <a:srgbClr val="15191D"/>
                          </a:solidFill>
                          <a:latin typeface="Arial"/>
                          <a:ea typeface="Arial"/>
                          <a:cs typeface="Arial"/>
                        </a:rPr>
                        <a:t>Does it work on target devices?</a:t>
                      </a:r>
                    </a:p>
                  </a:txBody>
                  <a:tcPr marL="142875" marR="142875" marT="76200" marB="76200">
                    <a:solidFill>
                      <a:srgbClr val="F7F8FA"/>
                    </a:solidFill>
                  </a:tcPr>
                </a:tc>
              </a:tr>
            </a:tbl>
          </a:graphicData>
        </a:graphic>
      </p:graphicFrame>
      <p:sp>
        <p:nvSpPr>
          <p:cNvPr id="6" name="">
            <a:extLst xmlns:a="http://schemas.openxmlformats.org/drawingml/2006/main">
              <a:ext uri="{FF2B5EF4-FFF2-40B4-BE49-F238E27FC236}">
                <a16:creationId xmlns:a16="http://schemas.microsoft.com/office/drawing/2014/main" id="{ABA7D15B-1463-4B6C-BD37-9CBD38E91DF6}"/>
              </a:ext>
            </a:extLst>
          </p:cNvPr>
          <p:cNvSpPr>
            <a:spLocks xmlns:a="http://schemas.openxmlformats.org/drawingml/2006/main" noGrp="1"/>
          </p:cNvSpPr>
          <p:nvPr/>
        </p:nvSpPr>
        <p:spPr>
          <a:xfrm xmlns:a="http://schemas.openxmlformats.org/drawingml/2006/main">
            <a:off x="523875" y="62579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2455E8"/>
                </a:solidFill>
                <a:latin typeface="Arial"/>
                <a:ea typeface="Arial"/>
                <a:cs typeface="Arial"/>
              </a:defRPr>
            </a:defPPr>
          </a:lstStyle>
          <a:p xmlns:a="http://schemas.openxmlformats.org/drawingml/2006/main">
            <a:pPr>
              <a:defRPr sz="1425" b="0">
                <a:solidFill>
                  <a:srgbClr val="2455E8"/>
                </a:solidFill>
                <a:latin typeface="Arial"/>
                <a:ea typeface="Arial"/>
                <a:cs typeface="Arial"/>
              </a:defRPr>
            </a:pPr>
            <a:r>
              <a:rPr sz="1425" b="0">
                <a:solidFill>
                  <a:srgbClr val="2455E8"/>
                </a:solidFill>
                <a:latin typeface="Arial"/>
                <a:ea typeface="Arial"/>
                <a:cs typeface="Arial"/>
              </a:rPr>
              <a:t>Shared review: shape, lighting, interaction, mobile performance and fallback.</a:t>
            </a:r>
          </a:p>
        </p:txBody>
      </p:sp>
    </p:spTree>
    <p:extLst>
      <p:ext uri="{BB962C8B-B14F-4D97-AF65-F5344CB8AC3E}">
        <p14:creationId xmlns:p14="http://schemas.microsoft.com/office/powerpoint/2010/main" val="213497004"/>
      </p:ext>
    </p:extLst>
  </p:cSld>
</p:sld>
</file>

<file path=ppt/slides/slide11.xml><?xml version="1.0" encoding="utf-8"?>
<p:sld xmlns:p="http://schemas.openxmlformats.org/presentationml/2006/main">
  <p:cSld>
    <p:bg>
      <p:bgPr>
        <a:solidFill xmlns:a="http://schemas.openxmlformats.org/drawingml/2006/main">
          <a:srgbClr val="15191D"/>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8673915-14D0-44B8-BFDF-DC6314C76E82}"/>
              </a:ext>
            </a:extLst>
          </p:cNvPr>
          <p:cNvSpPr>
            <a:spLocks xmlns:a="http://schemas.openxmlformats.org/drawingml/2006/main" noGrp="1"/>
          </p:cNvSpPr>
          <p:nvPr/>
        </p:nvSpPr>
        <p:spPr>
          <a:xfrm xmlns:a="http://schemas.openxmlformats.org/drawingml/2006/main">
            <a:off x="495300" y="285750"/>
            <a:ext cx="904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10 / THE TAKEAWAY</a:t>
            </a:r>
          </a:p>
        </p:txBody>
      </p:sp>
      <p:sp>
        <p:nvSpPr>
          <p:cNvPr id="2" name="">
            <a:extLst xmlns:a="http://schemas.openxmlformats.org/drawingml/2006/main">
              <a:ext uri="{FF2B5EF4-FFF2-40B4-BE49-F238E27FC236}">
                <a16:creationId xmlns:a16="http://schemas.microsoft.com/office/drawing/2014/main" id="{0BBAD2C7-8F9F-4DD0-95DF-CF0697C6DA4F}"/>
              </a:ext>
            </a:extLst>
          </p:cNvPr>
          <p:cNvSpPr>
            <a:spLocks xmlns:a="http://schemas.openxmlformats.org/drawingml/2006/main" noGrp="1"/>
          </p:cNvSpPr>
          <p:nvPr/>
        </p:nvSpPr>
        <p:spPr>
          <a:xfrm xmlns:a="http://schemas.openxmlformats.org/drawingml/2006/main">
            <a:off x="10763250" y="285750"/>
            <a:ext cx="952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A7AFB8"/>
                </a:solidFill>
                <a:latin typeface="Arial"/>
                <a:ea typeface="Arial"/>
                <a:cs typeface="Arial"/>
              </a:defRPr>
            </a:defPPr>
          </a:lstStyle>
          <a:p xmlns:a="http://schemas.openxmlformats.org/drawingml/2006/main">
            <a:pPr>
              <a:defRPr sz="1125" b="0">
                <a:solidFill>
                  <a:srgbClr val="A7AFB8"/>
                </a:solidFill>
                <a:latin typeface="Arial"/>
                <a:ea typeface="Arial"/>
                <a:cs typeface="Arial"/>
              </a:defRPr>
            </a:pPr>
            <a:r>
              <a:rPr sz="1125" b="0">
                <a:solidFill>
                  <a:srgbClr val="A7AFB8"/>
                </a:solidFill>
                <a:latin typeface="Arial"/>
                <a:ea typeface="Arial"/>
                <a:cs typeface="Arial"/>
              </a:rPr>
              <a:t>11 / 11</a:t>
            </a:r>
          </a:p>
        </p:txBody>
      </p:sp>
      <p:sp>
        <p:nvSpPr>
          <p:cNvPr id="3" name="">
            <a:extLst xmlns:a="http://schemas.openxmlformats.org/drawingml/2006/main">
              <a:ext uri="{FF2B5EF4-FFF2-40B4-BE49-F238E27FC236}">
                <a16:creationId xmlns:a16="http://schemas.microsoft.com/office/drawing/2014/main" id="{F3F6FCAD-FE28-4338-824C-FAF7E647BE7E}"/>
              </a:ext>
            </a:extLst>
          </p:cNvPr>
          <p:cNvSpPr>
            <a:spLocks xmlns:a="http://schemas.openxmlformats.org/drawingml/2006/main" noGrp="1"/>
          </p:cNvSpPr>
          <p:nvPr/>
        </p:nvSpPr>
        <p:spPr>
          <a:xfrm xmlns:a="http://schemas.openxmlformats.org/drawingml/2006/main">
            <a:off x="514350" y="1095375"/>
            <a:ext cx="7905750" cy="2714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75" b="1">
                <a:solidFill>
                  <a:srgbClr val="FFFFFF"/>
                </a:solidFill>
                <a:latin typeface="Arial"/>
                <a:ea typeface="Arial"/>
                <a:cs typeface="Arial"/>
              </a:defRPr>
            </a:defPPr>
          </a:lstStyle>
          <a:p xmlns:a="http://schemas.openxmlformats.org/drawingml/2006/main">
            <a:pPr>
              <a:defRPr sz="5775" b="1">
                <a:solidFill>
                  <a:srgbClr val="FFFFFF"/>
                </a:solidFill>
                <a:latin typeface="Arial"/>
                <a:ea typeface="Arial"/>
                <a:cs typeface="Arial"/>
              </a:defRPr>
            </a:pPr>
            <a:r>
              <a:rPr sz="5775" b="1">
                <a:solidFill>
                  <a:srgbClr val="FFFFFF"/>
                </a:solidFill>
                <a:latin typeface="Arial"/>
                <a:ea typeface="Arial"/>
                <a:cs typeface="Arial"/>
              </a:rPr>
              <a:t>ONE ASSET.</a:t>
            </a:r>
          </a:p>
          <a:p xmlns:a="http://schemas.openxmlformats.org/drawingml/2006/main">
            <a:pPr>
              <a:defRPr sz="5775" b="1">
                <a:solidFill>
                  <a:srgbClr val="FFFFFF"/>
                </a:solidFill>
                <a:latin typeface="Arial"/>
                <a:ea typeface="Arial"/>
                <a:cs typeface="Arial"/>
              </a:defRPr>
            </a:pPr>
            <a:r>
              <a:rPr sz="5775" b="1">
                <a:solidFill>
                  <a:srgbClr val="FFFFFF"/>
                </a:solidFill>
                <a:latin typeface="Arial"/>
                <a:ea typeface="Arial"/>
                <a:cs typeface="Arial"/>
              </a:rPr>
              <a:t>ONE USEFUL</a:t>
            </a:r>
          </a:p>
          <a:p xmlns:a="http://schemas.openxmlformats.org/drawingml/2006/main">
            <a:pPr>
              <a:defRPr sz="5775" b="1">
                <a:solidFill>
                  <a:srgbClr val="FFFFFF"/>
                </a:solidFill>
                <a:latin typeface="Arial"/>
                <a:ea typeface="Arial"/>
                <a:cs typeface="Arial"/>
              </a:defRPr>
            </a:pPr>
            <a:r>
              <a:rPr sz="5775" b="1">
                <a:solidFill>
                  <a:srgbClr val="FFFFFF"/>
                </a:solidFill>
                <a:latin typeface="Arial"/>
                <a:ea typeface="Arial"/>
                <a:cs typeface="Arial"/>
              </a:rPr>
              <a:t>INTERACTION.</a:t>
            </a:r>
          </a:p>
        </p:txBody>
      </p:sp>
      <p:sp>
        <p:nvSpPr>
          <p:cNvPr id="4" name="">
            <a:extLst xmlns:a="http://schemas.openxmlformats.org/drawingml/2006/main">
              <a:ext uri="{FF2B5EF4-FFF2-40B4-BE49-F238E27FC236}">
                <a16:creationId xmlns:a16="http://schemas.microsoft.com/office/drawing/2014/main" id="{682C38D8-35FD-4353-B7CF-CB72D107602B}"/>
              </a:ext>
            </a:extLst>
          </p:cNvPr>
          <p:cNvSpPr>
            <a:spLocks xmlns:a="http://schemas.openxmlformats.org/drawingml/2006/main" noGrp="1"/>
          </p:cNvSpPr>
          <p:nvPr/>
        </p:nvSpPr>
        <p:spPr>
          <a:xfrm xmlns:a="http://schemas.openxmlformats.org/drawingml/2006/main">
            <a:off x="552450" y="4152900"/>
            <a:ext cx="1057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CDF36A"/>
                </a:solidFill>
                <a:latin typeface="Arial"/>
                <a:ea typeface="Arial"/>
                <a:cs typeface="Arial"/>
              </a:defRPr>
            </a:defPPr>
          </a:lstStyle>
          <a:p xmlns:a="http://schemas.openxmlformats.org/drawingml/2006/main">
            <a:pPr>
              <a:defRPr sz="2850" b="1">
                <a:solidFill>
                  <a:srgbClr val="CDF36A"/>
                </a:solidFill>
                <a:latin typeface="Arial"/>
                <a:ea typeface="Arial"/>
                <a:cs typeface="Arial"/>
              </a:defRPr>
            </a:pPr>
            <a:r>
              <a:rPr sz="2850" b="1">
                <a:solidFill>
                  <a:srgbClr val="CDF36A"/>
                </a:solidFill>
                <a:latin typeface="Arial"/>
                <a:ea typeface="Arial"/>
                <a:cs typeface="Arial"/>
              </a:rPr>
              <a:t>Start with the visitor’s task.</a:t>
            </a:r>
          </a:p>
        </p:txBody>
      </p:sp>
      <p:sp>
        <p:nvSpPr>
          <p:cNvPr id="5" name="">
            <a:extLst xmlns:a="http://schemas.openxmlformats.org/drawingml/2006/main">
              <a:ext uri="{FF2B5EF4-FFF2-40B4-BE49-F238E27FC236}">
                <a16:creationId xmlns:a16="http://schemas.microsoft.com/office/drawing/2014/main" id="{629F0BF8-9ED5-4FA7-9238-9D3985EEAB98}"/>
              </a:ext>
            </a:extLst>
          </p:cNvPr>
          <p:cNvSpPr>
            <a:spLocks xmlns:a="http://schemas.openxmlformats.org/drawingml/2006/main" noGrp="1"/>
          </p:cNvSpPr>
          <p:nvPr/>
        </p:nvSpPr>
        <p:spPr>
          <a:xfrm xmlns:a="http://schemas.openxmlformats.org/drawingml/2006/main">
            <a:off x="571500" y="5210175"/>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7AFB8"/>
                </a:solidFill>
                <a:latin typeface="Arial"/>
                <a:ea typeface="Arial"/>
                <a:cs typeface="Arial"/>
              </a:defRPr>
            </a:defPPr>
          </a:lstStyle>
          <a:p xmlns:a="http://schemas.openxmlformats.org/drawingml/2006/main">
            <a:pPr>
              <a:defRPr sz="1725" b="0">
                <a:solidFill>
                  <a:srgbClr val="A7AFB8"/>
                </a:solidFill>
                <a:latin typeface="Arial"/>
                <a:ea typeface="Arial"/>
                <a:cs typeface="Arial"/>
              </a:defRPr>
            </a:pPr>
            <a:r>
              <a:rPr sz="1725" b="0">
                <a:solidFill>
                  <a:srgbClr val="A7AFB8"/>
                </a:solidFill>
                <a:latin typeface="Arial"/>
                <a:ea typeface="Arial"/>
                <a:cs typeface="Arial"/>
              </a:rPr>
              <a:t>Simple display</a:t>
            </a:r>
          </a:p>
        </p:txBody>
      </p:sp>
      <p:sp>
        <p:nvSpPr>
          <p:cNvPr id="6" name="">
            <a:extLst xmlns:a="http://schemas.openxmlformats.org/drawingml/2006/main">
              <a:ext uri="{FF2B5EF4-FFF2-40B4-BE49-F238E27FC236}">
                <a16:creationId xmlns:a16="http://schemas.microsoft.com/office/drawing/2014/main" id="{D3A4B93D-7D83-4230-9F0A-6A3FDBBAA1DB}"/>
              </a:ext>
            </a:extLst>
          </p:cNvPr>
          <p:cNvSpPr>
            <a:spLocks xmlns:a="http://schemas.openxmlformats.org/drawingml/2006/main" noGrp="1"/>
          </p:cNvSpPr>
          <p:nvPr/>
        </p:nvSpPr>
        <p:spPr>
          <a:xfrm xmlns:a="http://schemas.openxmlformats.org/drawingml/2006/main">
            <a:off x="571500" y="561975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FFFFF"/>
                </a:solidFill>
                <a:latin typeface="Arial"/>
                <a:ea typeface="Arial"/>
                <a:cs typeface="Arial"/>
              </a:defRPr>
            </a:def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model-viewer</a:t>
            </a:r>
          </a:p>
        </p:txBody>
      </p:sp>
      <p:sp>
        <p:nvSpPr>
          <p:cNvPr id="7" name="">
            <a:extLst xmlns:a="http://schemas.openxmlformats.org/drawingml/2006/main">
              <a:ext uri="{FF2B5EF4-FFF2-40B4-BE49-F238E27FC236}">
                <a16:creationId xmlns:a16="http://schemas.microsoft.com/office/drawing/2014/main" id="{C48D2AA3-00FB-4EF6-8D89-83D769B0CF35}"/>
              </a:ext>
            </a:extLst>
          </p:cNvPr>
          <p:cNvSpPr>
            <a:spLocks xmlns:a="http://schemas.openxmlformats.org/drawingml/2006/main" noGrp="1"/>
          </p:cNvSpPr>
          <p:nvPr/>
        </p:nvSpPr>
        <p:spPr>
          <a:xfrm xmlns:a="http://schemas.openxmlformats.org/drawingml/2006/main">
            <a:off x="4438650" y="5210175"/>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7AFB8"/>
                </a:solidFill>
                <a:latin typeface="Arial"/>
                <a:ea typeface="Arial"/>
                <a:cs typeface="Arial"/>
              </a:defRPr>
            </a:defPPr>
          </a:lstStyle>
          <a:p xmlns:a="http://schemas.openxmlformats.org/drawingml/2006/main">
            <a:pPr>
              <a:defRPr sz="1725" b="0">
                <a:solidFill>
                  <a:srgbClr val="A7AFB8"/>
                </a:solidFill>
                <a:latin typeface="Arial"/>
                <a:ea typeface="Arial"/>
                <a:cs typeface="Arial"/>
              </a:defRPr>
            </a:pPr>
            <a:r>
              <a:rPr sz="1725" b="0">
                <a:solidFill>
                  <a:srgbClr val="A7AFB8"/>
                </a:solidFill>
                <a:latin typeface="Arial"/>
                <a:ea typeface="Arial"/>
                <a:cs typeface="Arial"/>
              </a:rPr>
              <a:t>Custom experience</a:t>
            </a:r>
          </a:p>
        </p:txBody>
      </p:sp>
      <p:sp>
        <p:nvSpPr>
          <p:cNvPr id="8" name="">
            <a:extLst xmlns:a="http://schemas.openxmlformats.org/drawingml/2006/main">
              <a:ext uri="{FF2B5EF4-FFF2-40B4-BE49-F238E27FC236}">
                <a16:creationId xmlns:a16="http://schemas.microsoft.com/office/drawing/2014/main" id="{4045D6B5-AD30-4623-A676-D8833829F079}"/>
              </a:ext>
            </a:extLst>
          </p:cNvPr>
          <p:cNvSpPr>
            <a:spLocks xmlns:a="http://schemas.openxmlformats.org/drawingml/2006/main" noGrp="1"/>
          </p:cNvSpPr>
          <p:nvPr/>
        </p:nvSpPr>
        <p:spPr>
          <a:xfrm xmlns:a="http://schemas.openxmlformats.org/drawingml/2006/main">
            <a:off x="4438650" y="5619750"/>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FFFFF"/>
                </a:solidFill>
                <a:latin typeface="Arial"/>
                <a:ea typeface="Arial"/>
                <a:cs typeface="Arial"/>
              </a:defRPr>
            </a:def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Blender + Three.js</a:t>
            </a:r>
          </a:p>
        </p:txBody>
      </p:sp>
      <p:sp>
        <p:nvSpPr>
          <p:cNvPr id="9" name="">
            <a:extLst xmlns:a="http://schemas.openxmlformats.org/drawingml/2006/main">
              <a:ext uri="{FF2B5EF4-FFF2-40B4-BE49-F238E27FC236}">
                <a16:creationId xmlns:a16="http://schemas.microsoft.com/office/drawing/2014/main" id="{171C0AFA-3581-4A7B-8F5F-9740877B0B63}"/>
              </a:ext>
            </a:extLst>
          </p:cNvPr>
          <p:cNvSpPr>
            <a:spLocks xmlns:a="http://schemas.openxmlformats.org/drawingml/2006/main" noGrp="1"/>
          </p:cNvSpPr>
          <p:nvPr/>
        </p:nvSpPr>
        <p:spPr>
          <a:xfrm xmlns:a="http://schemas.openxmlformats.org/drawingml/2006/main">
            <a:off x="8601075" y="5210175"/>
            <a:ext cx="3095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A7AFB8"/>
                </a:solidFill>
                <a:latin typeface="Arial"/>
                <a:ea typeface="Arial"/>
                <a:cs typeface="Arial"/>
              </a:defRPr>
            </a:defPPr>
          </a:lstStyle>
          <a:p xmlns:a="http://schemas.openxmlformats.org/drawingml/2006/main">
            <a:pPr>
              <a:defRPr sz="1725" b="0">
                <a:solidFill>
                  <a:srgbClr val="A7AFB8"/>
                </a:solidFill>
                <a:latin typeface="Arial"/>
                <a:ea typeface="Arial"/>
                <a:cs typeface="Arial"/>
              </a:defRPr>
            </a:pPr>
            <a:r>
              <a:rPr sz="1725" b="0">
                <a:solidFill>
                  <a:srgbClr val="A7AFB8"/>
                </a:solidFill>
                <a:latin typeface="Arial"/>
                <a:ea typeface="Arial"/>
                <a:cs typeface="Arial"/>
              </a:rPr>
              <a:t>Visual exploration</a:t>
            </a:r>
          </a:p>
        </p:txBody>
      </p:sp>
      <p:sp>
        <p:nvSpPr>
          <p:cNvPr id="10" name="">
            <a:extLst xmlns:a="http://schemas.openxmlformats.org/drawingml/2006/main">
              <a:ext uri="{FF2B5EF4-FFF2-40B4-BE49-F238E27FC236}">
                <a16:creationId xmlns:a16="http://schemas.microsoft.com/office/drawing/2014/main" id="{90483E8B-CCC8-4BD1-97F1-1058EBE3EAEB}"/>
              </a:ext>
            </a:extLst>
          </p:cNvPr>
          <p:cNvSpPr>
            <a:spLocks xmlns:a="http://schemas.openxmlformats.org/drawingml/2006/main" noGrp="1"/>
          </p:cNvSpPr>
          <p:nvPr/>
        </p:nvSpPr>
        <p:spPr>
          <a:xfrm xmlns:a="http://schemas.openxmlformats.org/drawingml/2006/main">
            <a:off x="8601075" y="5619750"/>
            <a:ext cx="285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FFFFF"/>
                </a:solidFill>
                <a:latin typeface="Arial"/>
                <a:ea typeface="Arial"/>
                <a:cs typeface="Arial"/>
              </a:defRPr>
            </a:def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Spline</a:t>
            </a:r>
          </a:p>
        </p:txBody>
      </p:sp>
    </p:spTree>
    <p:extLst>
      <p:ext uri="{BB962C8B-B14F-4D97-AF65-F5344CB8AC3E}">
        <p14:creationId xmlns:p14="http://schemas.microsoft.com/office/powerpoint/2010/main" val="3735385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2026-10-09T10:37:16.2700000Z</dcterms:created>
  <dcterms:modified xsi:type="dcterms:W3CDTF">2026-10-09T10:37:16.2700000Z</dcterms:modified>
</coreProperties>
</file>