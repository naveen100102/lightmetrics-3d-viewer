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1bbc6801d44906" /><Relationship Type="http://schemas.openxmlformats.org/officeDocument/2006/relationships/extended-properties" Target="/docProps/app.xml" Id="Ra4f3b4eda9c24515" /><Relationship Type="http://schemas.openxmlformats.org/officeDocument/2006/relationships/officeDocument" Target="/ppt/presentation.xml" Id="R54a5bd74edab48e2" /></Relationships>
</file>

<file path=ppt/presentation.xml><?xml version="1.0" encoding="utf-8"?>
<p:presentation xmlns:p="http://schemas.openxmlformats.org/presentationml/2006/main">
  <p:sldMasterIdLst>
    <p:sldMasterId xmlns:r="http://schemas.openxmlformats.org/officeDocument/2006/relationships" id="2147483648" r:id="R890522c86984407c"/>
  </p:sldMasterIdLst>
  <p:notesMasterIdLst>
    <p:notesMasterId xmlns:r="http://schemas.openxmlformats.org/officeDocument/2006/relationships" r:id="R4ec3bf87c05c475d"/>
  </p:notesMasterIdLst>
  <p:sldIdLst>
    <p:sldId xmlns:r="http://schemas.openxmlformats.org/officeDocument/2006/relationships" id="256" r:id="R344b7c385e9a4cc0"/>
    <p:sldId xmlns:r="http://schemas.openxmlformats.org/officeDocument/2006/relationships" id="257" r:id="R3f6614c0d3624c11"/>
    <p:sldId xmlns:r="http://schemas.openxmlformats.org/officeDocument/2006/relationships" id="258" r:id="Ra7d142726abc45de"/>
    <p:sldId xmlns:r="http://schemas.openxmlformats.org/officeDocument/2006/relationships" id="259" r:id="R03248859ba0a4efa"/>
    <p:sldId xmlns:r="http://schemas.openxmlformats.org/officeDocument/2006/relationships" id="260" r:id="R7a0b67faf8b04d51"/>
    <p:sldId xmlns:r="http://schemas.openxmlformats.org/officeDocument/2006/relationships" id="261" r:id="R24c06429df9b45f0"/>
    <p:sldId xmlns:r="http://schemas.openxmlformats.org/officeDocument/2006/relationships" id="262" r:id="Re9315e45c4d1453d"/>
    <p:sldId xmlns:r="http://schemas.openxmlformats.org/officeDocument/2006/relationships" id="263" r:id="R8f239de1468b4622"/>
    <p:sldId xmlns:r="http://schemas.openxmlformats.org/officeDocument/2006/relationships" id="264" r:id="R3e8ae1da2a9e4e61"/>
    <p:sldId xmlns:r="http://schemas.openxmlformats.org/officeDocument/2006/relationships" id="265" r:id="Raadcfec9e7904e4d"/>
    <p:sldId xmlns:r="http://schemas.openxmlformats.org/officeDocument/2006/relationships" id="266" r:id="R91dc05169a824b2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20e8be30394acb" /><Relationship Type="http://schemas.openxmlformats.org/officeDocument/2006/relationships/slideMaster" Target="/ppt/slideMasters/slideMaster1.xml" Id="R890522c86984407c" /><Relationship Type="http://schemas.openxmlformats.org/officeDocument/2006/relationships/notesMaster" Target="/ppt/notesMasters/notesMaster1.xml" Id="R4ec3bf87c05c475d" /><Relationship Type="http://schemas.openxmlformats.org/officeDocument/2006/relationships/presProps" Target="/ppt/presProps.xml" Id="Rcaa5f8b8add642c8" /><Relationship Type="http://schemas.openxmlformats.org/officeDocument/2006/relationships/tableStyles" Target="/ppt/tableStyles.xml" Id="R2156d46ac9d548ee" /><Relationship Type="http://schemas.openxmlformats.org/officeDocument/2006/relationships/slide" Target="/ppt/slides/slide1.xml" Id="R344b7c385e9a4cc0" /><Relationship Type="http://schemas.openxmlformats.org/officeDocument/2006/relationships/slide" Target="/ppt/slides/slide2.xml" Id="R3f6614c0d3624c11" /><Relationship Type="http://schemas.openxmlformats.org/officeDocument/2006/relationships/slide" Target="/ppt/slides/slide3.xml" Id="Ra7d142726abc45de" /><Relationship Type="http://schemas.openxmlformats.org/officeDocument/2006/relationships/slide" Target="/ppt/slides/slide4.xml" Id="R03248859ba0a4efa" /><Relationship Type="http://schemas.openxmlformats.org/officeDocument/2006/relationships/slide" Target="/ppt/slides/slide5.xml" Id="R7a0b67faf8b04d51" /><Relationship Type="http://schemas.openxmlformats.org/officeDocument/2006/relationships/slide" Target="/ppt/slides/slide6.xml" Id="R24c06429df9b45f0" /><Relationship Type="http://schemas.openxmlformats.org/officeDocument/2006/relationships/slide" Target="/ppt/slides/slide7.xml" Id="Re9315e45c4d1453d" /><Relationship Type="http://schemas.openxmlformats.org/officeDocument/2006/relationships/slide" Target="/ppt/slides/slide8.xml" Id="R8f239de1468b4622" /><Relationship Type="http://schemas.openxmlformats.org/officeDocument/2006/relationships/slide" Target="/ppt/slides/slide9.xml" Id="R3e8ae1da2a9e4e61" /><Relationship Type="http://schemas.openxmlformats.org/officeDocument/2006/relationships/slide" Target="/ppt/slides/slide10.xml" Id="Raadcfec9e7904e4d" /><Relationship Type="http://schemas.openxmlformats.org/officeDocument/2006/relationships/slide" Target="/ppt/slides/slide11.xml" Id="R91dc05169a824b2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577b40d0f541b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2a8b5c608ae497d" /><Relationship Type="http://schemas.openxmlformats.org/officeDocument/2006/relationships/notesMaster" Target="/ppt/notesMasters/notesMaster1.xml" Id="R27421b82a9fa45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d2837499aaf464c" /><Relationship Type="http://schemas.openxmlformats.org/officeDocument/2006/relationships/notesMaster" Target="/ppt/notesMasters/notesMaster1.xml" Id="Rb30bd3ea27e64f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2c575237304575" /><Relationship Type="http://schemas.openxmlformats.org/officeDocument/2006/relationships/notesMaster" Target="/ppt/notesMasters/notesMaster1.xml" Id="R774849785dfb42e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2f451c22eda4fa7" /><Relationship Type="http://schemas.openxmlformats.org/officeDocument/2006/relationships/notesMaster" Target="/ppt/notesMasters/notesMaster1.xml" Id="R4ec1b67a2c43423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9ed46b1ce224fe2" /><Relationship Type="http://schemas.openxmlformats.org/officeDocument/2006/relationships/notesMaster" Target="/ppt/notesMasters/notesMaster1.xml" Id="R46d6c0c6b3fc49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91ab587edf4e7e" /><Relationship Type="http://schemas.openxmlformats.org/officeDocument/2006/relationships/notesMaster" Target="/ppt/notesMasters/notesMaster1.xml" Id="R48fb6b4f226c4a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b8aa812d6d44780" /><Relationship Type="http://schemas.openxmlformats.org/officeDocument/2006/relationships/notesMaster" Target="/ppt/notesMasters/notesMaster1.xml" Id="R26cc4004dd484d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4dc856fa64bf0" /><Relationship Type="http://schemas.openxmlformats.org/officeDocument/2006/relationships/notesMaster" Target="/ppt/notesMasters/notesMaster1.xml" Id="R4f57f6aa6e1d4f9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d97df8ff2934fab" /><Relationship Type="http://schemas.openxmlformats.org/officeDocument/2006/relationships/notesMaster" Target="/ppt/notesMasters/notesMaster1.xml" Id="R53cfa980fe434ae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3ec14090b614ec6" /><Relationship Type="http://schemas.openxmlformats.org/officeDocument/2006/relationships/notesMaster" Target="/ppt/notesMasters/notesMaster1.xml" Id="Rfe8a903bf7624af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2f3bca82e0146ed" /><Relationship Type="http://schemas.openxmlformats.org/officeDocument/2006/relationships/notesMaster" Target="/ppt/notesMasters/notesMaster1.xml" Id="R7cb3024c717e410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Today we will look at how interactive 3D reaches a website, where Blender, Three.js and WebGL fit, and how to choose a practical starting point. Total suggested presentation time: about 7 minutes.</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Imagine buying a camera online. You can inspect the lens, turn the camera around and select a feature to learn more. These actions make 3D useful. A fixed video is still a good choice when viewers only need to watch a story.</a:t>
            </a:r>
          </a:p>
          <a:p xmlns:a="http://schemas.openxmlformats.org/drawingml/2006/main">
            <a:r>
              <a:t/>
            </a:r>
          </a:p>
          <a:p xmlns:a="http://schemas.openxmlformats.org/drawingml/2006/main">
            <a:r>
              <a:t>Sources:</a:t>
            </a:r>
          </a:p>
          <a:p xmlns:a="http://schemas.openxmlformats.org/drawingml/2006/main">
            <a:r>
              <a:t>https://modelviewer.dev/</a:t>
            </a:r>
          </a:p>
          <a:p xmlns:a="http://schemas.openxmlformats.org/drawingml/2006/main">
            <a:r>
              <a:t>https://threejs.org/manual/pages/creating-a-scene.html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Blender is the workshop, GLB is the delivery file, and Three.js organizes the live experience. WebGL or WebGPU connects browser rendering to the graphics processor. HTML and CSS provide the surrounding page. These technologies complement each other.</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https://www.khronos.org/gltf/</a:t>
            </a:r>
          </a:p>
          <a:p xmlns:a="http://schemas.openxmlformats.org/drawingml/2006/main">
            <a:r>
              <a:t>https://developer.mozilla.org/en-US/docs/Web/API/WebGL_API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A mesh describes the shape. A material describes how its surface reacts to light. Blender lets an artist author these and animate parts. The browser normally loads an exported asset, not the Blender project. Some complex materials or simulations need baking into simpler textures or animation. Accurate reference images and measurements improve the result.</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Three.js is a JavaScript library. It supplies building blocks such as scenes, cameras, materials, loaders and controls. A developer combines them into a product viewer. It is useful when you need a specific look or behavior, but the team still builds loading states, accessibility and page integration.</a:t>
            </a:r>
          </a:p>
          <a:p xmlns:a="http://schemas.openxmlformats.org/drawingml/2006/main">
            <a:r>
              <a:t/>
            </a:r>
          </a:p>
          <a:p xmlns:a="http://schemas.openxmlformats.org/drawingml/2006/main">
            <a:r>
              <a:t>Sources:</a:t>
            </a:r>
          </a:p>
          <a:p xmlns:a="http://schemas.openxmlformats.org/drawingml/2006/main">
            <a:r>
              <a:t>https://threejs.org/manual/pages/creating-a-scene.html</a:t>
            </a:r>
          </a:p>
          <a:p xmlns:a="http://schemas.openxmlformats.org/drawingml/2006/main">
            <a:r>
              <a:t>https://threejs.org/docs/pages/GLTFLoader.html</a:t>
            </a:r>
          </a:p>
          <a:p xmlns:a="http://schemas.openxmlformats.org/drawingml/2006/main">
            <a:r>
              <a:t>https://threejs.org/docs/pages/OrbitControls.html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The GPU is the processor that performs graphics work. These APIs receive geometry and rendering instructions and produce the canvas image. Most product teams use them through a library rather than writing the entire renderer. WebGPU is not automatically faster and support varies. Three.js has a WebGPU renderer with a WebGL 2 fallback, subject to feature compatibility.</a:t>
            </a:r>
          </a:p>
          <a:p xmlns:a="http://schemas.openxmlformats.org/drawingml/2006/main">
            <a:r>
              <a:t/>
            </a:r>
          </a:p>
          <a:p xmlns:a="http://schemas.openxmlformats.org/drawingml/2006/main">
            <a:r>
              <a:t>Sources:</a:t>
            </a:r>
          </a:p>
          <a:p xmlns:a="http://schemas.openxmlformats.org/drawingml/2006/main">
            <a:r>
              <a:t>https://developer.mozilla.org/en-US/docs/Web/API/WebGL_API</a:t>
            </a:r>
          </a:p>
          <a:p xmlns:a="http://schemas.openxmlformats.org/drawingml/2006/main">
            <a:r>
              <a:t>https://developer.mozilla.org/en-US/docs/Web/API/WebGPU_API</a:t>
            </a:r>
          </a:p>
          <a:p xmlns:a="http://schemas.openxmlformats.org/drawingml/2006/main">
            <a:r>
              <a:t>https://threejs.org/manual/pages/webgpurenderer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These are recommendations, not a universal ranking. model-viewer provides a focused product-viewing component. Spline supports visual scene design and embeds. React Three Fiber expresses Three.js scenes as React components and still requires 3D knowledge. Babylon.js and PlayCanvas are useful for richer applications. Check the requirements, current export options and mobile behavior before choosing.</a:t>
            </a:r>
          </a:p>
          <a:p xmlns:a="http://schemas.openxmlformats.org/drawingml/2006/main">
            <a:r>
              <a:t/>
            </a:r>
          </a:p>
          <a:p xmlns:a="http://schemas.openxmlformats.org/drawingml/2006/main">
            <a:r>
              <a:t>Sources:</a:t>
            </a:r>
          </a:p>
          <a:p xmlns:a="http://schemas.openxmlformats.org/drawingml/2006/main">
            <a:r>
              <a:t>https://modelviewer.dev/</a:t>
            </a:r>
          </a:p>
          <a:p xmlns:a="http://schemas.openxmlformats.org/drawingml/2006/main">
            <a:r>
              <a:t>https://docs.spline.design/exporting-your-scene/web/exporting-as-spline-viewer</a:t>
            </a:r>
          </a:p>
          <a:p xmlns:a="http://schemas.openxmlformats.org/drawingml/2006/main">
            <a:r>
              <a:t>https://r3f.docs.pmnd.rs/getting-started/introduction</a:t>
            </a:r>
          </a:p>
          <a:p xmlns:a="http://schemas.openxmlformats.org/drawingml/2006/main">
            <a:r>
              <a:t>https://www.babylonjs.com/</a:t>
            </a:r>
          </a:p>
          <a:p xmlns:a="http://schemas.openxmlformats.org/drawingml/2006/main">
            <a:r>
              <a:t>https://developer.playcanvas.com/user-manual/editor/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A web component sits directly in the page. An iframe embeds a separately hosted viewer and is often convenient for a website builder. A direct JavaScript integration gives more control over page behavior. Use public HTTPS asset URLs for publishing. localhost is only a preview on your own computer.</a:t>
            </a:r>
          </a:p>
          <a:p xmlns:a="http://schemas.openxmlformats.org/drawingml/2006/main">
            <a:r>
              <a:t/>
            </a:r>
          </a:p>
          <a:p xmlns:a="http://schemas.openxmlformats.org/drawingml/2006/main">
            <a:r>
              <a:t>Sources:</a:t>
            </a:r>
          </a:p>
          <a:p xmlns:a="http://schemas.openxmlformats.org/drawingml/2006/main">
            <a:r>
              <a:t>https://help.webflow.com/hc/en-us/articles/33961332238611-Custom-code-embed</a:t>
            </a:r>
          </a:p>
          <a:p xmlns:a="http://schemas.openxmlformats.org/drawingml/2006/main">
            <a:r>
              <a:t>https://modelviewer.dev/docs/</a:t>
            </a:r>
          </a:p>
          <a:p xmlns:a="http://schemas.openxmlformats.org/drawingml/2006/main">
            <a:r>
              <a:t>https://threejs.org/docs/pages/GLTFLoader.html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 Agree on the initial camera angle and interaction before building the whole scene. Artists provide named parts and approved exports. Motion designers explain what happens when a visitor interrupts a transition. Developers test the resulting experience. Review the asset together inside the real browser.</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Lighting cannot fix inaccurate geometry. Reduce expensive geometry, textures and effects based on measured performance rather than an arbitrary polygon limit. Keep product information in HTML, offer a reset view, preserve normal page scrolling and provide a useful image if 3D fails to load.</a:t>
            </a:r>
          </a:p>
          <a:p xmlns:a="http://schemas.openxmlformats.org/drawingml/2006/main">
            <a:r>
              <a:t/>
            </a:r>
          </a:p>
          <a:p xmlns:a="http://schemas.openxmlformats.org/drawingml/2006/main">
            <a:r>
              <a:t>Sources:</a:t>
            </a:r>
          </a:p>
          <a:p xmlns:a="http://schemas.openxmlformats.org/drawingml/2006/main">
            <a:r>
              <a:t>https://developer.mozilla.org/en-US/docs/Web/API/WebGL_API/WebGL_best_practices</a:t>
            </a:r>
          </a:p>
          <a:p xmlns:a="http://schemas.openxmlformats.org/drawingml/2006/main">
            <a:r>
              <a:t>https://modelviewer.dev/docs/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The main takeaway: Blender creates the asset, a viewer or engine manages the experience, and a browser graphics API draws it. Choose the simplest approach that supports the visitor’s task. These recommendations are based on the documented capabilities, not performance benchmarks. Sources throughout the deck are in the speaker notes.</a:t>
            </a:r>
          </a:p>
          <a:p xmlns:a="http://schemas.openxmlformats.org/drawingml/2006/main">
            <a:r>
              <a:t/>
            </a:r>
          </a:p>
          <a:p xmlns:a="http://schemas.openxmlformats.org/drawingml/2006/main">
            <a:r>
              <a:t>Sources:</a:t>
            </a:r>
          </a:p>
          <a:p xmlns:a="http://schemas.openxmlformats.org/drawingml/2006/main">
            <a:r>
              <a:t>https://modelviewer.dev/</a:t>
            </a:r>
          </a:p>
          <a:p xmlns:a="http://schemas.openxmlformats.org/drawingml/2006/main">
            <a:r>
              <a:t>https://threejs.org/manual/pages/creating-a-scene.html</a:t>
            </a:r>
          </a:p>
          <a:p xmlns:a="http://schemas.openxmlformats.org/drawingml/2006/main">
            <a:r>
              <a:t>https://docs.spline.design/exporting-your-scene/web/exporting-as-spline-viewer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9a119f8213b4a1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4366f71ca546d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522257ed48947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9482f23f97e4c4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4a673c87bc5472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30e486960f843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5FD36F-177F-456B-B097-09C22B6CFB5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63F9CF6-B1C9-4EF3-9F58-57E9CD6D855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D254571-D2A2-42AE-9E1A-663DBAD6EC5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3DC76C-F48B-49AA-8BDF-0988541C23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A508783-05C1-4A97-9D5A-14D20EA914D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DA52538-AB33-496F-AC64-BB4117696AC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A15440-5EE6-4C6E-8867-03E95D6CD4A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D8C4291-4110-4FAD-9CFB-D0A4BB0A06B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C493CF-F624-4A98-AE3D-12484B5D28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D96D3CA-CA84-4EAF-8E58-220DB8BD6C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f2a5f83de0d44bc" /><Relationship Type="http://schemas.openxmlformats.org/officeDocument/2006/relationships/slideLayout" Target="/ppt/slideLayouts/slideLayout1.xml" Id="R5d31a294378c4339" /><Relationship Type="http://schemas.openxmlformats.org/officeDocument/2006/relationships/slideLayout" Target="/ppt/slideLayouts/slideLayout2.xml" Id="Ra6eb9003b1ea4f37" /><Relationship Type="http://schemas.openxmlformats.org/officeDocument/2006/relationships/slideLayout" Target="/ppt/slideLayouts/slideLayout3.xml" Id="Rea6d04680ce24182" /><Relationship Type="http://schemas.openxmlformats.org/officeDocument/2006/relationships/slideLayout" Target="/ppt/slideLayouts/slideLayout4.xml" Id="Rf2904325d60a4634" /><Relationship Type="http://schemas.openxmlformats.org/officeDocument/2006/relationships/slideLayout" Target="/ppt/slideLayouts/slideLayout5.xml" Id="R1a12c70a1dec48dc" /><Relationship Type="http://schemas.openxmlformats.org/officeDocument/2006/relationships/slideLayout" Target="/ppt/slideLayouts/slideLayout6.xml" Id="R5763be8627b240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31a294378c4339"/>
    <p:sldLayoutId xmlns:r="http://schemas.openxmlformats.org/officeDocument/2006/relationships" id="2147483650" r:id="Ra6eb9003b1ea4f37"/>
    <p:sldLayoutId xmlns:r="http://schemas.openxmlformats.org/officeDocument/2006/relationships" id="2147483651" r:id="Rea6d04680ce24182"/>
    <p:sldLayoutId xmlns:r="http://schemas.openxmlformats.org/officeDocument/2006/relationships" id="2147483652" r:id="Rf2904325d60a4634"/>
    <p:sldLayoutId xmlns:r="http://schemas.openxmlformats.org/officeDocument/2006/relationships" id="2147483653" r:id="R1a12c70a1dec48dc"/>
    <p:sldLayoutId xmlns:r="http://schemas.openxmlformats.org/officeDocument/2006/relationships" id="2147483654" r:id="R5763be8627b240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f18599787b94d46" /><Relationship Type="http://schemas.openxmlformats.org/officeDocument/2006/relationships/notesSlide" Target="/ppt/notesSlides/notesSlide1.xml" Id="Rb1377ab4d89f46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bebe47eddf1418c" /><Relationship Type="http://schemas.openxmlformats.org/officeDocument/2006/relationships/notesSlide" Target="/ppt/notesSlides/notesSlide2.xml" Id="Rbc2f3fd9d51b4b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bd1b213202c4683" /><Relationship Type="http://schemas.openxmlformats.org/officeDocument/2006/relationships/notesSlide" Target="/ppt/notesSlides/notesSlide3.xml" Id="Ra12d09dc540c41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060c211cf6843bd" /><Relationship Type="http://schemas.openxmlformats.org/officeDocument/2006/relationships/image" Target="/ppt/media/image.png" Id="R2170e89ba1e847ce" /><Relationship Type="http://schemas.openxmlformats.org/officeDocument/2006/relationships/notesSlide" Target="/ppt/notesSlides/notesSlide4.xml" Id="R946b4e751d4b4a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7d5c581a59d4761" /><Relationship Type="http://schemas.openxmlformats.org/officeDocument/2006/relationships/notesSlide" Target="/ppt/notesSlides/notesSlide5.xml" Id="R8b27c6fa8f9c4a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835e0cab7214f6f" /><Relationship Type="http://schemas.openxmlformats.org/officeDocument/2006/relationships/notesSlide" Target="/ppt/notesSlides/notesSlide6.xml" Id="R17b1cef1b38b4cb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c71155f4b26456a" /><Relationship Type="http://schemas.openxmlformats.org/officeDocument/2006/relationships/notesSlide" Target="/ppt/notesSlides/notesSlide7.xml" Id="Rcf95996bb732411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d0388bcbfd4442c" /><Relationship Type="http://schemas.openxmlformats.org/officeDocument/2006/relationships/notesSlide" Target="/ppt/notesSlides/notesSlide8.xml" Id="Re58455c3d43746a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c38bc4439164ab6" /><Relationship Type="http://schemas.openxmlformats.org/officeDocument/2006/relationships/notesSlide" Target="/ppt/notesSlides/notesSlide9.xml" Id="R7408e7aaba1d41e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1075d35270847e1" /><Relationship Type="http://schemas.openxmlformats.org/officeDocument/2006/relationships/notesSlide" Target="/ppt/notesSlides/notesSlide10.xml" Id="Rbddb01ffef004ba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3ea929e42064a52" /><Relationship Type="http://schemas.openxmlformats.org/officeDocument/2006/relationships/notesSlide" Target="/ppt/notesSlides/notesSlide11.xml" Id="R23ccac68c4644108" /></Relationships>
</file>

<file path=ppt/slides/slide1.xml><?xml version="1.0" encoding="utf-8"?>
<p:sld xmlns:p="http://schemas.openxmlformats.org/presentationml/2006/main">
  <p:cSld>
    <p:bg>
      <p:bgPr>
        <a:solidFill xmlns:a="http://schemas.openxmlformats.org/drawingml/2006/main">
          <a:srgbClr val="15151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B6EC9AE-6297-48C9-BCC6-B34D1C44F43A}"/>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BEEF1FDE-7DA7-4489-AD15-6521F1B8E1F9}"/>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6D9E9104-2D47-4CAE-844A-57FDEDFD73B7}"/>
              </a:ext>
            </a:extLst>
          </p:cNvPr>
          <p:cNvSpPr>
            <a:spLocks xmlns:a="http://schemas.openxmlformats.org/drawingml/2006/main" noGrp="1"/>
          </p:cNvSpPr>
          <p:nvPr/>
        </p:nvSpPr>
        <p:spPr>
          <a:xfrm xmlns:a="http://schemas.openxmlformats.org/drawingml/2006/main">
            <a:off x="533400" y="1524000"/>
            <a:ext cx="10477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0">
                <a:solidFill>
                  <a:srgbClr val="FFFFFF"/>
                </a:solidFill>
                <a:latin typeface="Arial"/>
                <a:ea typeface="Arial"/>
                <a:cs typeface="Arial"/>
              </a:defRPr>
            </a:defPPr>
          </a:lstStyle>
          <a:p xmlns:a="http://schemas.openxmlformats.org/drawingml/2006/main">
            <a:pPr>
              <a:defRPr sz="6000" b="0">
                <a:solidFill>
                  <a:srgbClr val="FFFFFF"/>
                </a:solidFill>
                <a:latin typeface="Arial"/>
                <a:ea typeface="Arial"/>
                <a:cs typeface="Arial"/>
              </a:defRPr>
            </a:pPr>
            <a:r>
              <a:rPr sz="6000" b="0">
                <a:solidFill>
                  <a:srgbClr val="FFFFFF"/>
                </a:solidFill>
                <a:latin typeface="Arial"/>
                <a:ea typeface="Arial"/>
                <a:cs typeface="Arial"/>
              </a:rPr>
              <a:t>Interactive 3D</a:t>
            </a:r>
          </a:p>
          <a:p xmlns:a="http://schemas.openxmlformats.org/drawingml/2006/main">
            <a:pPr>
              <a:defRPr sz="6000" b="0">
                <a:solidFill>
                  <a:srgbClr val="FFFFFF"/>
                </a:solidFill>
                <a:latin typeface="Arial"/>
                <a:ea typeface="Arial"/>
                <a:cs typeface="Arial"/>
              </a:defRPr>
            </a:pPr>
            <a:r>
              <a:rPr sz="6000" b="0">
                <a:solidFill>
                  <a:srgbClr val="FFFFFF"/>
                </a:solidFill>
                <a:latin typeface="Arial"/>
                <a:ea typeface="Arial"/>
                <a:cs typeface="Arial"/>
              </a:rPr>
              <a:t>for websites</a:t>
            </a:r>
          </a:p>
        </p:txBody>
      </p:sp>
      <p:sp>
        <p:nvSpPr>
          <p:cNvPr id="4" name="">
            <a:extLst xmlns:a="http://schemas.openxmlformats.org/drawingml/2006/main">
              <a:ext uri="{FF2B5EF4-FFF2-40B4-BE49-F238E27FC236}">
                <a16:creationId xmlns:a16="http://schemas.microsoft.com/office/drawing/2014/main" id="{C38B8C09-FD47-470F-A41A-66DD2FF6D97B}"/>
              </a:ext>
            </a:extLst>
          </p:cNvPr>
          <p:cNvSpPr>
            <a:spLocks xmlns:a="http://schemas.openxmlformats.org/drawingml/2006/main" noGrp="1"/>
          </p:cNvSpPr>
          <p:nvPr/>
        </p:nvSpPr>
        <p:spPr>
          <a:xfrm xmlns:a="http://schemas.openxmlformats.org/drawingml/2006/main">
            <a:off x="571500" y="40005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BBBBBB"/>
                </a:solidFill>
                <a:latin typeface="Arial"/>
                <a:ea typeface="Arial"/>
                <a:cs typeface="Arial"/>
              </a:defRPr>
            </a:defPPr>
          </a:lstStyle>
          <a:p xmlns:a="http://schemas.openxmlformats.org/drawingml/2006/main">
            <a:pPr>
              <a:defRPr sz="2175" b="0">
                <a:solidFill>
                  <a:srgbClr val="BBBBBB"/>
                </a:solidFill>
                <a:latin typeface="Arial"/>
                <a:ea typeface="Arial"/>
                <a:cs typeface="Arial"/>
              </a:defRPr>
            </a:pPr>
            <a:r>
              <a:rPr sz="2175" b="0">
                <a:solidFill>
                  <a:srgbClr val="BBBBBB"/>
                </a:solidFill>
                <a:latin typeface="Arial"/>
                <a:ea typeface="Arial"/>
                <a:cs typeface="Arial"/>
              </a:rPr>
              <a:t>The tools, how they work and when to use them</a:t>
            </a:r>
          </a:p>
        </p:txBody>
      </p:sp>
      <p:sp>
        <p:nvSpPr>
          <p:cNvPr id="5" name="">
            <a:extLst xmlns:a="http://schemas.openxmlformats.org/drawingml/2006/main">
              <a:ext uri="{FF2B5EF4-FFF2-40B4-BE49-F238E27FC236}">
                <a16:creationId xmlns:a16="http://schemas.microsoft.com/office/drawing/2014/main" id="{B413E5B7-2777-43DD-9D33-554D8ED86334}"/>
              </a:ext>
            </a:extLst>
          </p:cNvPr>
          <p:cNvSpPr>
            <a:spLocks xmlns:a="http://schemas.openxmlformats.org/drawingml/2006/main" noGrp="1"/>
          </p:cNvSpPr>
          <p:nvPr/>
        </p:nvSpPr>
        <p:spPr>
          <a:xfrm xmlns:a="http://schemas.openxmlformats.org/drawingml/2006/main">
            <a:off x="571500" y="58102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18AC7"/>
                </a:solidFill>
                <a:latin typeface="Arial"/>
                <a:ea typeface="Arial"/>
                <a:cs typeface="Arial"/>
              </a:defRPr>
            </a:defPPr>
          </a:lstStyle>
          <a:p xmlns:a="http://schemas.openxmlformats.org/drawingml/2006/main">
            <a:pPr>
              <a:defRPr sz="1425" b="0">
                <a:solidFill>
                  <a:srgbClr val="D18AC7"/>
                </a:solidFill>
                <a:latin typeface="Arial"/>
                <a:ea typeface="Arial"/>
                <a:cs typeface="Arial"/>
              </a:defRPr>
            </a:pPr>
            <a:r>
              <a:rPr sz="1425" b="0">
                <a:solidFill>
                  <a:srgbClr val="D18AC7"/>
                </a:solidFill>
                <a:latin typeface="Arial"/>
                <a:ea typeface="Arial"/>
                <a:cs typeface="Arial"/>
              </a:rPr>
              <a:t>TOOLS, WORKFLOWS AND WEBSITE INTEGRATION</a:t>
            </a:r>
          </a:p>
        </p:txBody>
      </p:sp>
    </p:spTree>
    <p:extLst>
      <p:ext uri="{BB962C8B-B14F-4D97-AF65-F5344CB8AC3E}">
        <p14:creationId xmlns:p14="http://schemas.microsoft.com/office/powerpoint/2010/main" val="20481575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DFCE9B-1DCB-467D-BA5F-5AAA0B6EBAC5}"/>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B51E4F6C-9A54-4C7E-A14E-F6017A9D0947}"/>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C7F39C0A-E337-4265-B3C7-D617D2071EC8}"/>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What visitors can do</a:t>
            </a:r>
          </a:p>
        </p:txBody>
      </p:sp>
      <p:sp>
        <p:nvSpPr>
          <p:cNvPr id="4" name="">
            <a:extLst xmlns:a="http://schemas.openxmlformats.org/drawingml/2006/main">
              <a:ext uri="{FF2B5EF4-FFF2-40B4-BE49-F238E27FC236}">
                <a16:creationId xmlns:a16="http://schemas.microsoft.com/office/drawing/2014/main" id="{C8B31EBA-DDBC-4072-A62C-7F996EE27434}"/>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 browser updates the scene as the visitor interacts.</a:t>
            </a:r>
          </a:p>
        </p:txBody>
      </p:sp>
      <p:sp>
        <p:nvSpPr>
          <p:cNvPr id="5" name="">
            <a:extLst xmlns:a="http://schemas.openxmlformats.org/drawingml/2006/main">
              <a:ext uri="{FF2B5EF4-FFF2-40B4-BE49-F238E27FC236}">
                <a16:creationId xmlns:a16="http://schemas.microsoft.com/office/drawing/2014/main" id="{936E9DB4-60E8-4B77-8341-E7D8924C5B84}"/>
              </a:ext>
            </a:extLst>
          </p:cNvPr>
          <p:cNvSpPr>
            <a:spLocks xmlns:a="http://schemas.openxmlformats.org/drawingml/2006/main" noGrp="1"/>
          </p:cNvSpPr>
          <p:nvPr/>
        </p:nvSpPr>
        <p:spPr>
          <a:xfrm xmlns:a="http://schemas.openxmlformats.org/drawingml/2006/main">
            <a:off x="552450" y="260032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Explore</a:t>
            </a:r>
          </a:p>
        </p:txBody>
      </p:sp>
      <p:sp>
        <p:nvSpPr>
          <p:cNvPr id="6" name="">
            <a:extLst xmlns:a="http://schemas.openxmlformats.org/drawingml/2006/main">
              <a:ext uri="{FF2B5EF4-FFF2-40B4-BE49-F238E27FC236}">
                <a16:creationId xmlns:a16="http://schemas.microsoft.com/office/drawing/2014/main" id="{2CEB0CCE-8B78-4E12-BEE6-818BD0558CD3}"/>
              </a:ext>
            </a:extLst>
          </p:cNvPr>
          <p:cNvSpPr>
            <a:spLocks xmlns:a="http://schemas.openxmlformats.org/drawingml/2006/main" noGrp="1"/>
          </p:cNvSpPr>
          <p:nvPr/>
        </p:nvSpPr>
        <p:spPr>
          <a:xfrm xmlns:a="http://schemas.openxmlformats.org/drawingml/2006/main">
            <a:off x="3886200" y="260032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Rotate and zoom to see a product from different angles.</a:t>
            </a:r>
          </a:p>
        </p:txBody>
      </p:sp>
      <p:sp>
        <p:nvSpPr>
          <p:cNvPr id="7" name="">
            <a:extLst xmlns:a="http://schemas.openxmlformats.org/drawingml/2006/main">
              <a:ext uri="{FF2B5EF4-FFF2-40B4-BE49-F238E27FC236}">
                <a16:creationId xmlns:a16="http://schemas.microsoft.com/office/drawing/2014/main" id="{A7B1CA6F-B9DA-40B8-BC6A-842A5062860D}"/>
              </a:ext>
            </a:extLst>
          </p:cNvPr>
          <p:cNvSpPr>
            <a:spLocks xmlns:a="http://schemas.openxmlformats.org/drawingml/2006/main" noGrp="1"/>
          </p:cNvSpPr>
          <p:nvPr/>
        </p:nvSpPr>
        <p:spPr>
          <a:xfrm xmlns:a="http://schemas.openxmlformats.org/drawingml/2006/main">
            <a:off x="552450" y="3771900"/>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Customize</a:t>
            </a:r>
          </a:p>
        </p:txBody>
      </p:sp>
      <p:sp>
        <p:nvSpPr>
          <p:cNvPr id="8" name="">
            <a:extLst xmlns:a="http://schemas.openxmlformats.org/drawingml/2006/main">
              <a:ext uri="{FF2B5EF4-FFF2-40B4-BE49-F238E27FC236}">
                <a16:creationId xmlns:a16="http://schemas.microsoft.com/office/drawing/2014/main" id="{05997A85-BC38-4A8B-96DA-F2B0327A7F06}"/>
              </a:ext>
            </a:extLst>
          </p:cNvPr>
          <p:cNvSpPr>
            <a:spLocks xmlns:a="http://schemas.openxmlformats.org/drawingml/2006/main" noGrp="1"/>
          </p:cNvSpPr>
          <p:nvPr/>
        </p:nvSpPr>
        <p:spPr>
          <a:xfrm xmlns:a="http://schemas.openxmlformats.org/drawingml/2006/main">
            <a:off x="3886200" y="3771900"/>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Change a finish, material or accessory.</a:t>
            </a:r>
          </a:p>
        </p:txBody>
      </p:sp>
      <p:sp>
        <p:nvSpPr>
          <p:cNvPr id="9" name="">
            <a:extLst xmlns:a="http://schemas.openxmlformats.org/drawingml/2006/main">
              <a:ext uri="{FF2B5EF4-FFF2-40B4-BE49-F238E27FC236}">
                <a16:creationId xmlns:a16="http://schemas.microsoft.com/office/drawing/2014/main" id="{F9EE6B13-AE29-4759-996D-0DC733564D68}"/>
              </a:ext>
            </a:extLst>
          </p:cNvPr>
          <p:cNvSpPr>
            <a:spLocks xmlns:a="http://schemas.openxmlformats.org/drawingml/2006/main" noGrp="1"/>
          </p:cNvSpPr>
          <p:nvPr/>
        </p:nvSpPr>
        <p:spPr>
          <a:xfrm xmlns:a="http://schemas.openxmlformats.org/drawingml/2006/main">
            <a:off x="552450" y="494347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Discover</a:t>
            </a:r>
          </a:p>
        </p:txBody>
      </p:sp>
      <p:sp>
        <p:nvSpPr>
          <p:cNvPr id="10" name="">
            <a:extLst xmlns:a="http://schemas.openxmlformats.org/drawingml/2006/main">
              <a:ext uri="{FF2B5EF4-FFF2-40B4-BE49-F238E27FC236}">
                <a16:creationId xmlns:a16="http://schemas.microsoft.com/office/drawing/2014/main" id="{83CEC7B2-275B-4F4C-A35D-A106D11EEE74}"/>
              </a:ext>
            </a:extLst>
          </p:cNvPr>
          <p:cNvSpPr>
            <a:spLocks xmlns:a="http://schemas.openxmlformats.org/drawingml/2006/main" noGrp="1"/>
          </p:cNvSpPr>
          <p:nvPr/>
        </p:nvSpPr>
        <p:spPr>
          <a:xfrm xmlns:a="http://schemas.openxmlformats.org/drawingml/2006/main">
            <a:off x="3886200" y="494347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Click a feature or follow a guided animation.</a:t>
            </a:r>
          </a:p>
        </p:txBody>
      </p:sp>
    </p:spTree>
    <p:extLst>
      <p:ext uri="{BB962C8B-B14F-4D97-AF65-F5344CB8AC3E}">
        <p14:creationId xmlns:p14="http://schemas.microsoft.com/office/powerpoint/2010/main" val="16953103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80A6E98-995D-4603-BD6C-C2CB0979E99F}"/>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C9AB56E1-4812-4784-A166-7A32C1A7A0AD}"/>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2215CE3A-76BB-4D3B-BAD5-36AC641C9A63}"/>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How the tools work together</a:t>
            </a:r>
          </a:p>
        </p:txBody>
      </p:sp>
      <p:sp>
        <p:nvSpPr>
          <p:cNvPr id="4" name="">
            <a:extLst xmlns:a="http://schemas.openxmlformats.org/drawingml/2006/main">
              <a:ext uri="{FF2B5EF4-FFF2-40B4-BE49-F238E27FC236}">
                <a16:creationId xmlns:a16="http://schemas.microsoft.com/office/drawing/2014/main" id="{22E07521-613F-49B9-9452-031A6F1C93C0}"/>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Each tool has a different job in the same workflow.</a:t>
            </a:r>
          </a:p>
        </p:txBody>
      </p:sp>
      <p:graphicFrame>
        <p:nvGraphicFramePr>
          <p:cNvPr id="5" name="">
            <a:extLst xmlns:a="http://schemas.openxmlformats.org/drawingml/2006/main">
              <a:ext uri="{FF2B5EF4-FFF2-40B4-BE49-F238E27FC236}">
                <a16:creationId xmlns:a16="http://schemas.microsoft.com/office/drawing/2014/main" id="{D1F745D4-D147-436B-9ED5-AC0317538034}"/>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727710">
                <a:tc>
                  <a:txBody>
                    <a:bodyPr/>
                    <a:lstStyle/>
                    <a:p>
                      <a:r>
                        <a:rPr sz="1725" b="1">
                          <a:solidFill>
                            <a:srgbClr val="FFFFFF"/>
                          </a:solidFill>
                          <a:latin typeface="Arial"/>
                          <a:ea typeface="Arial"/>
                          <a:cs typeface="Arial"/>
                        </a:rPr>
                        <a:t>Stage</a:t>
                      </a:r>
                    </a:p>
                  </a:txBody>
                  <a:tcPr marL="114300" marR="114300" marT="47625" marB="47625">
                    <a:solidFill>
                      <a:srgbClr val="151515"/>
                    </a:solidFill>
                  </a:tcPr>
                </a:tc>
                <a:tc>
                  <a:txBody>
                    <a:bodyPr/>
                    <a:lstStyle/>
                    <a:p>
                      <a:r>
                        <a:rPr sz="1725" b="1">
                          <a:solidFill>
                            <a:srgbClr val="FFFFFF"/>
                          </a:solidFill>
                          <a:latin typeface="Arial"/>
                          <a:ea typeface="Arial"/>
                          <a:cs typeface="Arial"/>
                        </a:rPr>
                        <a:t>Tool or format</a:t>
                      </a:r>
                    </a:p>
                  </a:txBody>
                  <a:tcPr marL="114300" marR="114300" marT="47625" marB="47625">
                    <a:solidFill>
                      <a:srgbClr val="151515"/>
                    </a:solidFill>
                  </a:tcPr>
                </a:tc>
                <a:tc>
                  <a:txBody>
                    <a:bodyPr/>
                    <a:lstStyle/>
                    <a:p>
                      <a:r>
                        <a:rPr sz="1725" b="1">
                          <a:solidFill>
                            <a:srgbClr val="FFFFFF"/>
                          </a:solidFill>
                          <a:latin typeface="Arial"/>
                          <a:ea typeface="Arial"/>
                          <a:cs typeface="Arial"/>
                        </a:rPr>
                        <a:t>Job</a:t>
                      </a:r>
                    </a:p>
                  </a:txBody>
                  <a:tcPr marL="114300" marR="114300" marT="47625" marB="47625">
                    <a:solidFill>
                      <a:srgbClr val="151515"/>
                    </a:solidFill>
                  </a:tcPr>
                </a:tc>
              </a:tr>
              <a:tr h="727710">
                <a:tc>
                  <a:txBody>
                    <a:bodyPr/>
                    <a:lstStyle/>
                    <a:p>
                      <a:r>
                        <a:rPr sz="1725">
                          <a:solidFill>
                            <a:srgbClr val="151515"/>
                          </a:solidFill>
                          <a:latin typeface="Arial"/>
                          <a:ea typeface="Arial"/>
                          <a:cs typeface="Arial"/>
                        </a:rPr>
                        <a:t>Create</a:t>
                      </a:r>
                    </a:p>
                  </a:txBody>
                  <a:tcPr marL="114300" marR="114300" marT="47625" marB="47625"/>
                </a:tc>
                <a:tc>
                  <a:txBody>
                    <a:bodyPr/>
                    <a:lstStyle/>
                    <a:p>
                      <a:r>
                        <a:rPr sz="1725">
                          <a:solidFill>
                            <a:srgbClr val="151515"/>
                          </a:solidFill>
                          <a:latin typeface="Arial"/>
                          <a:ea typeface="Arial"/>
                          <a:cs typeface="Arial"/>
                        </a:rPr>
                        <a:t>Blender</a:t>
                      </a:r>
                    </a:p>
                  </a:txBody>
                  <a:tcPr marL="114300" marR="114300" marT="47625" marB="47625"/>
                </a:tc>
                <a:tc>
                  <a:txBody>
                    <a:bodyPr/>
                    <a:lstStyle/>
                    <a:p>
                      <a:r>
                        <a:rPr sz="1725">
                          <a:solidFill>
                            <a:srgbClr val="151515"/>
                          </a:solidFill>
                          <a:latin typeface="Arial"/>
                          <a:ea typeface="Arial"/>
                          <a:cs typeface="Arial"/>
                        </a:rPr>
                        <a:t>Build the model and animation</a:t>
                      </a:r>
                    </a:p>
                  </a:txBody>
                  <a:tcPr marL="114300" marR="114300" marT="47625" marB="47625"/>
                </a:tc>
              </a:tr>
              <a:tr h="727710">
                <a:tc>
                  <a:txBody>
                    <a:bodyPr/>
                    <a:lstStyle/>
                    <a:p>
                      <a:r>
                        <a:rPr sz="1725">
                          <a:solidFill>
                            <a:srgbClr val="151515"/>
                          </a:solidFill>
                          <a:latin typeface="Arial"/>
                          <a:ea typeface="Arial"/>
                          <a:cs typeface="Arial"/>
                        </a:rPr>
                        <a:t>Export</a:t>
                      </a:r>
                    </a:p>
                  </a:txBody>
                  <a:tcPr marL="114300" marR="114300" marT="47625" marB="47625"/>
                </a:tc>
                <a:tc>
                  <a:txBody>
                    <a:bodyPr/>
                    <a:lstStyle/>
                    <a:p>
                      <a:r>
                        <a:rPr sz="1725">
                          <a:solidFill>
                            <a:srgbClr val="151515"/>
                          </a:solidFill>
                          <a:latin typeface="Arial"/>
                          <a:ea typeface="Arial"/>
                          <a:cs typeface="Arial"/>
                        </a:rPr>
                        <a:t>GLB</a:t>
                      </a:r>
                    </a:p>
                  </a:txBody>
                  <a:tcPr marL="114300" marR="114300" marT="47625" marB="47625"/>
                </a:tc>
                <a:tc>
                  <a:txBody>
                    <a:bodyPr/>
                    <a:lstStyle/>
                    <a:p>
                      <a:r>
                        <a:rPr sz="1725">
                          <a:solidFill>
                            <a:srgbClr val="151515"/>
                          </a:solidFill>
                          <a:latin typeface="Arial"/>
                          <a:ea typeface="Arial"/>
                          <a:cs typeface="Arial"/>
                        </a:rPr>
                        <a:t>Package the asset for delivery</a:t>
                      </a:r>
                    </a:p>
                  </a:txBody>
                  <a:tcPr marL="114300" marR="114300" marT="47625" marB="47625"/>
                </a:tc>
              </a:tr>
              <a:tr h="727710">
                <a:tc>
                  <a:txBody>
                    <a:bodyPr/>
                    <a:lstStyle/>
                    <a:p>
                      <a:r>
                        <a:rPr sz="1725">
                          <a:solidFill>
                            <a:srgbClr val="151515"/>
                          </a:solidFill>
                          <a:latin typeface="Arial"/>
                          <a:ea typeface="Arial"/>
                          <a:cs typeface="Arial"/>
                        </a:rPr>
                        <a:t>Interact</a:t>
                      </a:r>
                    </a:p>
                  </a:txBody>
                  <a:tcPr marL="114300" marR="114300" marT="47625" marB="47625"/>
                </a:tc>
                <a:tc>
                  <a:txBody>
                    <a:bodyPr/>
                    <a:lstStyle/>
                    <a:p>
                      <a:r>
                        <a:rPr sz="1725">
                          <a:solidFill>
                            <a:srgbClr val="151515"/>
                          </a:solidFill>
                          <a:latin typeface="Arial"/>
                          <a:ea typeface="Arial"/>
                          <a:cs typeface="Arial"/>
                        </a:rPr>
                        <a:t>Three.js or a viewer</a:t>
                      </a:r>
                    </a:p>
                  </a:txBody>
                  <a:tcPr marL="114300" marR="114300" marT="47625" marB="47625"/>
                </a:tc>
                <a:tc>
                  <a:txBody>
                    <a:bodyPr/>
                    <a:lstStyle/>
                    <a:p>
                      <a:r>
                        <a:rPr sz="1725">
                          <a:solidFill>
                            <a:srgbClr val="151515"/>
                          </a:solidFill>
                          <a:latin typeface="Arial"/>
                          <a:ea typeface="Arial"/>
                          <a:cs typeface="Arial"/>
                        </a:rPr>
                        <a:t>Load the model and handle controls</a:t>
                      </a:r>
                    </a:p>
                  </a:txBody>
                  <a:tcPr marL="114300" marR="114300" marT="47625" marB="47625"/>
                </a:tc>
              </a:tr>
              <a:tr h="727710">
                <a:tc>
                  <a:txBody>
                    <a:bodyPr/>
                    <a:lstStyle/>
                    <a:p>
                      <a:r>
                        <a:rPr sz="1725">
                          <a:solidFill>
                            <a:srgbClr val="151515"/>
                          </a:solidFill>
                          <a:latin typeface="Arial"/>
                          <a:ea typeface="Arial"/>
                          <a:cs typeface="Arial"/>
                        </a:rPr>
                        <a:t>Render</a:t>
                      </a:r>
                    </a:p>
                  </a:txBody>
                  <a:tcPr marL="114300" marR="114300" marT="47625" marB="47625"/>
                </a:tc>
                <a:tc>
                  <a:txBody>
                    <a:bodyPr/>
                    <a:lstStyle/>
                    <a:p>
                      <a:r>
                        <a:rPr sz="1725">
                          <a:solidFill>
                            <a:srgbClr val="151515"/>
                          </a:solidFill>
                          <a:latin typeface="Arial"/>
                          <a:ea typeface="Arial"/>
                          <a:cs typeface="Arial"/>
                        </a:rPr>
                        <a:t>WebGL / WebGPU</a:t>
                      </a:r>
                    </a:p>
                  </a:txBody>
                  <a:tcPr marL="114300" marR="114300" marT="47625" marB="47625"/>
                </a:tc>
                <a:tc>
                  <a:txBody>
                    <a:bodyPr/>
                    <a:lstStyle/>
                    <a:p>
                      <a:r>
                        <a:rPr sz="1725">
                          <a:solidFill>
                            <a:srgbClr val="151515"/>
                          </a:solidFill>
                          <a:latin typeface="Arial"/>
                          <a:ea typeface="Arial"/>
                          <a:cs typeface="Arial"/>
                        </a:rPr>
                        <a:t>Use the device’s GPU to draw it</a:t>
                      </a:r>
                    </a:p>
                  </a:txBody>
                  <a:tcPr marL="114300" marR="114300" marT="47625" marB="47625"/>
                </a:tc>
              </a:tr>
            </a:tbl>
          </a:graphicData>
        </a:graphic>
      </p:graphicFrame>
    </p:spTree>
    <p:extLst>
      <p:ext uri="{BB962C8B-B14F-4D97-AF65-F5344CB8AC3E}">
        <p14:creationId xmlns:p14="http://schemas.microsoft.com/office/powerpoint/2010/main" val="48434509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AF4063-378C-4AB8-AF81-C9B59D1F265F}"/>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5A675D03-BA40-49E1-A70D-414AABC9752F}"/>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3F9FC9A8-7412-43CE-BE8A-5D1E9D07D92F}"/>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Blender: create the asset</a:t>
            </a:r>
          </a:p>
        </p:txBody>
      </p:sp>
      <p:sp>
        <p:nvSpPr>
          <p:cNvPr id="4" name="">
            <a:extLst xmlns:a="http://schemas.openxmlformats.org/drawingml/2006/main">
              <a:ext uri="{FF2B5EF4-FFF2-40B4-BE49-F238E27FC236}">
                <a16:creationId xmlns:a16="http://schemas.microsoft.com/office/drawing/2014/main" id="{81AAFFFF-0210-4D7B-A89D-264DE0CB1072}"/>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for 3D artists and motion designers preparing a detailed model.</a:t>
            </a:r>
          </a:p>
        </p:txBody>
      </p:sp>
      <p:sp>
        <p:nvSpPr>
          <p:cNvPr id="5" name="">
            <a:extLst xmlns:a="http://schemas.openxmlformats.org/drawingml/2006/main">
              <a:ext uri="{FF2B5EF4-FFF2-40B4-BE49-F238E27FC236}">
                <a16:creationId xmlns:a16="http://schemas.microsoft.com/office/drawing/2014/main" id="{58AAF670-E81D-4C31-9C71-F9A0F0BACD76}"/>
              </a:ext>
            </a:extLst>
          </p:cNvPr>
          <p:cNvSpPr>
            <a:spLocks xmlns:a="http://schemas.openxmlformats.org/drawingml/2006/main" noGrp="1"/>
          </p:cNvSpPr>
          <p:nvPr/>
        </p:nvSpPr>
        <p:spPr>
          <a:xfrm xmlns:a="http://schemas.openxmlformats.org/drawingml/2006/main">
            <a:off x="552450" y="26003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Build</a:t>
            </a:r>
          </a:p>
        </p:txBody>
      </p:sp>
      <p:sp>
        <p:nvSpPr>
          <p:cNvPr id="6" name="">
            <a:extLst xmlns:a="http://schemas.openxmlformats.org/drawingml/2006/main">
              <a:ext uri="{FF2B5EF4-FFF2-40B4-BE49-F238E27FC236}">
                <a16:creationId xmlns:a16="http://schemas.microsoft.com/office/drawing/2014/main" id="{F411E0F8-1A79-4AD6-8E4E-388B79791C72}"/>
              </a:ext>
            </a:extLst>
          </p:cNvPr>
          <p:cNvSpPr>
            <a:spLocks xmlns:a="http://schemas.openxmlformats.org/drawingml/2006/main" noGrp="1"/>
          </p:cNvSpPr>
          <p:nvPr/>
        </p:nvSpPr>
        <p:spPr>
          <a:xfrm xmlns:a="http://schemas.openxmlformats.org/drawingml/2006/main">
            <a:off x="552450" y="30003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Create the shape, materials and animation.</a:t>
            </a:r>
          </a:p>
        </p:txBody>
      </p:sp>
      <p:sp>
        <p:nvSpPr>
          <p:cNvPr id="7" name="">
            <a:extLst xmlns:a="http://schemas.openxmlformats.org/drawingml/2006/main">
              <a:ext uri="{FF2B5EF4-FFF2-40B4-BE49-F238E27FC236}">
                <a16:creationId xmlns:a16="http://schemas.microsoft.com/office/drawing/2014/main" id="{BEACE8B0-B946-4617-BCC6-BE8FC053BAC9}"/>
              </a:ext>
            </a:extLst>
          </p:cNvPr>
          <p:cNvSpPr>
            <a:spLocks xmlns:a="http://schemas.openxmlformats.org/drawingml/2006/main" noGrp="1"/>
          </p:cNvSpPr>
          <p:nvPr/>
        </p:nvSpPr>
        <p:spPr>
          <a:xfrm xmlns:a="http://schemas.openxmlformats.org/drawingml/2006/main">
            <a:off x="552450" y="380047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Prepare</a:t>
            </a:r>
          </a:p>
        </p:txBody>
      </p:sp>
      <p:sp>
        <p:nvSpPr>
          <p:cNvPr id="8" name="">
            <a:extLst xmlns:a="http://schemas.openxmlformats.org/drawingml/2006/main">
              <a:ext uri="{FF2B5EF4-FFF2-40B4-BE49-F238E27FC236}">
                <a16:creationId xmlns:a16="http://schemas.microsoft.com/office/drawing/2014/main" id="{F0797206-6439-4FA7-8592-C046CCAF7083}"/>
              </a:ext>
            </a:extLst>
          </p:cNvPr>
          <p:cNvSpPr>
            <a:spLocks xmlns:a="http://schemas.openxmlformats.org/drawingml/2006/main" noGrp="1"/>
          </p:cNvSpPr>
          <p:nvPr/>
        </p:nvSpPr>
        <p:spPr>
          <a:xfrm xmlns:a="http://schemas.openxmlformats.org/drawingml/2006/main">
            <a:off x="552450" y="420052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Simplify heavy details and check scale and part names.</a:t>
            </a:r>
          </a:p>
        </p:txBody>
      </p:sp>
      <p:sp>
        <p:nvSpPr>
          <p:cNvPr id="9" name="">
            <a:extLst xmlns:a="http://schemas.openxmlformats.org/drawingml/2006/main">
              <a:ext uri="{FF2B5EF4-FFF2-40B4-BE49-F238E27FC236}">
                <a16:creationId xmlns:a16="http://schemas.microsoft.com/office/drawing/2014/main" id="{05D066A7-ED2E-4071-8095-F944D39FD314}"/>
              </a:ext>
            </a:extLst>
          </p:cNvPr>
          <p:cNvSpPr>
            <a:spLocks xmlns:a="http://schemas.openxmlformats.org/drawingml/2006/main" noGrp="1"/>
          </p:cNvSpPr>
          <p:nvPr/>
        </p:nvSpPr>
        <p:spPr>
          <a:xfrm xmlns:a="http://schemas.openxmlformats.org/drawingml/2006/main">
            <a:off x="552450" y="50006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Deliver</a:t>
            </a:r>
          </a:p>
        </p:txBody>
      </p:sp>
      <p:sp>
        <p:nvSpPr>
          <p:cNvPr id="10" name="">
            <a:extLst xmlns:a="http://schemas.openxmlformats.org/drawingml/2006/main">
              <a:ext uri="{FF2B5EF4-FFF2-40B4-BE49-F238E27FC236}">
                <a16:creationId xmlns:a16="http://schemas.microsoft.com/office/drawing/2014/main" id="{13DFC1F5-37F3-4081-88AD-C30D61D29A88}"/>
              </a:ext>
            </a:extLst>
          </p:cNvPr>
          <p:cNvSpPr>
            <a:spLocks xmlns:a="http://schemas.openxmlformats.org/drawingml/2006/main" noGrp="1"/>
          </p:cNvSpPr>
          <p:nvPr/>
        </p:nvSpPr>
        <p:spPr>
          <a:xfrm xmlns:a="http://schemas.openxmlformats.org/drawingml/2006/main">
            <a:off x="552450" y="54006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Export GLB and review it in the website viewer.</a:t>
            </a:r>
          </a:p>
        </p:txBody>
      </p:sp>
      <p:pic>
        <p:nvPicPr>
          <p:cNvPr id="11" name="">
            <a:extLst xmlns:a="http://schemas.openxmlformats.org/drawingml/2006/main">
              <a:ext uri="{FF2B5EF4-FFF2-40B4-BE49-F238E27FC236}">
                <a16:creationId xmlns:a16="http://schemas.microsoft.com/office/drawing/2014/main" id="{36CEEF82-81D7-4D0C-834E-30D93FAA769C}"/>
              </a:ext>
            </a:extLst>
          </p:cNvPr>
          <p:cNvPicPr>
            <a:picLocks xmlns:a="http://schemas.openxmlformats.org/drawingml/2006/main" noChangeAspect="1"/>
          </p:cNvPicPr>
          <p:nvPr/>
        </p:nvPicPr>
        <p:blipFill>
          <a:blip xmlns:r="http://schemas.openxmlformats.org/officeDocument/2006/relationships" xmlns:a="http://schemas.openxmlformats.org/drawingml/2006/main" r:embed="R2170e89ba1e847ce"/>
          <a:stretch xmlns:a="http://schemas.openxmlformats.org/drawingml/2006/main"/>
        </p:blipFill>
        <p:spPr>
          <a:xfrm xmlns:a="http://schemas.openxmlformats.org/drawingml/2006/main">
            <a:off x="7086600" y="2571750"/>
            <a:ext cx="3162300" cy="31623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EDB7D1B9-3439-4E4D-9334-77B79FA23DAC}"/>
              </a:ext>
            </a:extLst>
          </p:cNvPr>
          <p:cNvSpPr>
            <a:spLocks xmlns:a="http://schemas.openxmlformats.org/drawingml/2006/main" noGrp="1"/>
          </p:cNvSpPr>
          <p:nvPr/>
        </p:nvSpPr>
        <p:spPr>
          <a:xfrm xmlns:a="http://schemas.openxmlformats.org/drawingml/2006/main">
            <a:off x="5667375" y="5962650"/>
            <a:ext cx="600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66666"/>
                </a:solidFill>
                <a:latin typeface="Arial"/>
                <a:ea typeface="Arial"/>
                <a:cs typeface="Arial"/>
              </a:defRPr>
            </a:defPPr>
          </a:lstStyle>
          <a:p xmlns:a="http://schemas.openxmlformats.org/drawingml/2006/main">
            <a:pPr>
              <a:defRPr sz="1275" b="0">
                <a:solidFill>
                  <a:srgbClr val="666666"/>
                </a:solidFill>
                <a:latin typeface="Arial"/>
                <a:ea typeface="Arial"/>
                <a:cs typeface="Arial"/>
              </a:defRPr>
            </a:pPr>
            <a:r>
              <a:rPr sz="1275" b="0">
                <a:solidFill>
                  <a:srgbClr val="666666"/>
                </a:solidFill>
                <a:latin typeface="Arial"/>
                <a:ea typeface="Arial"/>
                <a:cs typeface="Arial"/>
              </a:rPr>
              <a:t>Example product reference</a:t>
            </a:r>
          </a:p>
        </p:txBody>
      </p:sp>
    </p:spTree>
    <p:extLst>
      <p:ext uri="{BB962C8B-B14F-4D97-AF65-F5344CB8AC3E}">
        <p14:creationId xmlns:p14="http://schemas.microsoft.com/office/powerpoint/2010/main" val="6353973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CF7BE8-5C06-43D4-843B-0DE7989B456C}"/>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990B9340-7655-48E4-9EC2-4B8B4D14F744}"/>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64839664-720F-425A-A751-3AB68019BC7E}"/>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Three.js: build the interaction</a:t>
            </a:r>
          </a:p>
        </p:txBody>
      </p:sp>
      <p:sp>
        <p:nvSpPr>
          <p:cNvPr id="4" name="">
            <a:extLst xmlns:a="http://schemas.openxmlformats.org/drawingml/2006/main">
              <a:ext uri="{FF2B5EF4-FFF2-40B4-BE49-F238E27FC236}">
                <a16:creationId xmlns:a16="http://schemas.microsoft.com/office/drawing/2014/main" id="{BD18940C-2AD3-49F1-B4A4-BF7E28E590B7}"/>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for developers creating a custom 3D website experience.</a:t>
            </a:r>
          </a:p>
        </p:txBody>
      </p:sp>
      <p:sp>
        <p:nvSpPr>
          <p:cNvPr id="5" name="">
            <a:extLst xmlns:a="http://schemas.openxmlformats.org/drawingml/2006/main">
              <a:ext uri="{FF2B5EF4-FFF2-40B4-BE49-F238E27FC236}">
                <a16:creationId xmlns:a16="http://schemas.microsoft.com/office/drawing/2014/main" id="{3AA0CB37-0409-4636-83C6-3CA90F468017}"/>
              </a:ext>
            </a:extLst>
          </p:cNvPr>
          <p:cNvSpPr>
            <a:spLocks xmlns:a="http://schemas.openxmlformats.org/drawingml/2006/main" noGrp="1"/>
          </p:cNvSpPr>
          <p:nvPr/>
        </p:nvSpPr>
        <p:spPr>
          <a:xfrm xmlns:a="http://schemas.openxmlformats.org/drawingml/2006/main">
            <a:off x="552450" y="260032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Set the scene</a:t>
            </a:r>
          </a:p>
        </p:txBody>
      </p:sp>
      <p:sp>
        <p:nvSpPr>
          <p:cNvPr id="6" name="">
            <a:extLst xmlns:a="http://schemas.openxmlformats.org/drawingml/2006/main">
              <a:ext uri="{FF2B5EF4-FFF2-40B4-BE49-F238E27FC236}">
                <a16:creationId xmlns:a16="http://schemas.microsoft.com/office/drawing/2014/main" id="{9D1D34E2-B04F-4F6D-AD1C-2DFB528F2E9F}"/>
              </a:ext>
            </a:extLst>
          </p:cNvPr>
          <p:cNvSpPr>
            <a:spLocks xmlns:a="http://schemas.openxmlformats.org/drawingml/2006/main" noGrp="1"/>
          </p:cNvSpPr>
          <p:nvPr/>
        </p:nvSpPr>
        <p:spPr>
          <a:xfrm xmlns:a="http://schemas.openxmlformats.org/drawingml/2006/main">
            <a:off x="3886200" y="260032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Load the model, place the camera and add lighting.</a:t>
            </a:r>
          </a:p>
        </p:txBody>
      </p:sp>
      <p:sp>
        <p:nvSpPr>
          <p:cNvPr id="7" name="">
            <a:extLst xmlns:a="http://schemas.openxmlformats.org/drawingml/2006/main">
              <a:ext uri="{FF2B5EF4-FFF2-40B4-BE49-F238E27FC236}">
                <a16:creationId xmlns:a16="http://schemas.microsoft.com/office/drawing/2014/main" id="{7873A959-35FE-471A-AEAD-22402A78F5D4}"/>
              </a:ext>
            </a:extLst>
          </p:cNvPr>
          <p:cNvSpPr>
            <a:spLocks xmlns:a="http://schemas.openxmlformats.org/drawingml/2006/main" noGrp="1"/>
          </p:cNvSpPr>
          <p:nvPr/>
        </p:nvSpPr>
        <p:spPr>
          <a:xfrm xmlns:a="http://schemas.openxmlformats.org/drawingml/2006/main">
            <a:off x="552450" y="3771900"/>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Connect controls</a:t>
            </a:r>
          </a:p>
        </p:txBody>
      </p:sp>
      <p:sp>
        <p:nvSpPr>
          <p:cNvPr id="8" name="">
            <a:extLst xmlns:a="http://schemas.openxmlformats.org/drawingml/2006/main">
              <a:ext uri="{FF2B5EF4-FFF2-40B4-BE49-F238E27FC236}">
                <a16:creationId xmlns:a16="http://schemas.microsoft.com/office/drawing/2014/main" id="{EE8E3B38-C8D0-468A-A32E-AFD0525ABCF4}"/>
              </a:ext>
            </a:extLst>
          </p:cNvPr>
          <p:cNvSpPr>
            <a:spLocks xmlns:a="http://schemas.openxmlformats.org/drawingml/2006/main" noGrp="1"/>
          </p:cNvSpPr>
          <p:nvPr/>
        </p:nvSpPr>
        <p:spPr>
          <a:xfrm xmlns:a="http://schemas.openxmlformats.org/drawingml/2006/main">
            <a:off x="3886200" y="3771900"/>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Add rotate, pan, zoom, hotspots or material changes.</a:t>
            </a:r>
          </a:p>
        </p:txBody>
      </p:sp>
      <p:sp>
        <p:nvSpPr>
          <p:cNvPr id="9" name="">
            <a:extLst xmlns:a="http://schemas.openxmlformats.org/drawingml/2006/main">
              <a:ext uri="{FF2B5EF4-FFF2-40B4-BE49-F238E27FC236}">
                <a16:creationId xmlns:a16="http://schemas.microsoft.com/office/drawing/2014/main" id="{7AEA7288-7C0C-4D24-80C8-63444B5B04A2}"/>
              </a:ext>
            </a:extLst>
          </p:cNvPr>
          <p:cNvSpPr>
            <a:spLocks xmlns:a="http://schemas.openxmlformats.org/drawingml/2006/main" noGrp="1"/>
          </p:cNvSpPr>
          <p:nvPr/>
        </p:nvSpPr>
        <p:spPr>
          <a:xfrm xmlns:a="http://schemas.openxmlformats.org/drawingml/2006/main">
            <a:off x="552450" y="494347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Draw the result</a:t>
            </a:r>
          </a:p>
        </p:txBody>
      </p:sp>
      <p:sp>
        <p:nvSpPr>
          <p:cNvPr id="10" name="">
            <a:extLst xmlns:a="http://schemas.openxmlformats.org/drawingml/2006/main">
              <a:ext uri="{FF2B5EF4-FFF2-40B4-BE49-F238E27FC236}">
                <a16:creationId xmlns:a16="http://schemas.microsoft.com/office/drawing/2014/main" id="{930B9B19-E831-40DB-B92A-152997188E20}"/>
              </a:ext>
            </a:extLst>
          </p:cNvPr>
          <p:cNvSpPr>
            <a:spLocks xmlns:a="http://schemas.openxmlformats.org/drawingml/2006/main" noGrp="1"/>
          </p:cNvSpPr>
          <p:nvPr/>
        </p:nvSpPr>
        <p:spPr>
          <a:xfrm xmlns:a="http://schemas.openxmlformats.org/drawingml/2006/main">
            <a:off x="3886200" y="494347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Render the scene when it changes or while it animates.</a:t>
            </a:r>
          </a:p>
        </p:txBody>
      </p:sp>
    </p:spTree>
    <p:extLst>
      <p:ext uri="{BB962C8B-B14F-4D97-AF65-F5344CB8AC3E}">
        <p14:creationId xmlns:p14="http://schemas.microsoft.com/office/powerpoint/2010/main" val="20049418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2492F2-64E0-490C-A2A8-B0D57AB4FE4F}"/>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22414C0D-0F15-4CC8-917F-F478CD1B7721}"/>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812B52B3-A808-428B-B905-F07400B87424}"/>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WebGL and WebGPU: draw the pixels</a:t>
            </a:r>
          </a:p>
        </p:txBody>
      </p:sp>
      <p:sp>
        <p:nvSpPr>
          <p:cNvPr id="4" name="">
            <a:extLst xmlns:a="http://schemas.openxmlformats.org/drawingml/2006/main">
              <a:ext uri="{FF2B5EF4-FFF2-40B4-BE49-F238E27FC236}">
                <a16:creationId xmlns:a16="http://schemas.microsoft.com/office/drawing/2014/main" id="{61259A87-CEB6-4C4F-93C6-7F4F1564014E}"/>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These browser APIs give rendering code access to the GPU.</a:t>
            </a:r>
          </a:p>
        </p:txBody>
      </p:sp>
      <p:sp>
        <p:nvSpPr>
          <p:cNvPr id="5" name="">
            <a:extLst xmlns:a="http://schemas.openxmlformats.org/drawingml/2006/main">
              <a:ext uri="{FF2B5EF4-FFF2-40B4-BE49-F238E27FC236}">
                <a16:creationId xmlns:a16="http://schemas.microsoft.com/office/drawing/2014/main" id="{D777F6C9-A5A3-4009-8515-B2F3C96D0B2F}"/>
              </a:ext>
            </a:extLst>
          </p:cNvPr>
          <p:cNvSpPr>
            <a:spLocks xmlns:a="http://schemas.openxmlformats.org/drawingml/2006/main" noGrp="1"/>
          </p:cNvSpPr>
          <p:nvPr/>
        </p:nvSpPr>
        <p:spPr>
          <a:xfrm xmlns:a="http://schemas.openxmlformats.org/drawingml/2006/main">
            <a:off x="552450" y="260032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WebGL</a:t>
            </a:r>
          </a:p>
        </p:txBody>
      </p:sp>
      <p:sp>
        <p:nvSpPr>
          <p:cNvPr id="6" name="">
            <a:extLst xmlns:a="http://schemas.openxmlformats.org/drawingml/2006/main">
              <a:ext uri="{FF2B5EF4-FFF2-40B4-BE49-F238E27FC236}">
                <a16:creationId xmlns:a16="http://schemas.microsoft.com/office/drawing/2014/main" id="{83144DBA-5022-4B53-B5C1-81A8008CFF89}"/>
              </a:ext>
            </a:extLst>
          </p:cNvPr>
          <p:cNvSpPr>
            <a:spLocks xmlns:a="http://schemas.openxmlformats.org/drawingml/2006/main" noGrp="1"/>
          </p:cNvSpPr>
          <p:nvPr/>
        </p:nvSpPr>
        <p:spPr>
          <a:xfrm xmlns:a="http://schemas.openxmlformats.org/drawingml/2006/main">
            <a:off x="3886200" y="260032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An established foundation for interactive browser graphics.</a:t>
            </a:r>
          </a:p>
        </p:txBody>
      </p:sp>
      <p:sp>
        <p:nvSpPr>
          <p:cNvPr id="7" name="">
            <a:extLst xmlns:a="http://schemas.openxmlformats.org/drawingml/2006/main">
              <a:ext uri="{FF2B5EF4-FFF2-40B4-BE49-F238E27FC236}">
                <a16:creationId xmlns:a16="http://schemas.microsoft.com/office/drawing/2014/main" id="{99350C36-1E66-4F35-8FEC-A7A6077A1E92}"/>
              </a:ext>
            </a:extLst>
          </p:cNvPr>
          <p:cNvSpPr>
            <a:spLocks xmlns:a="http://schemas.openxmlformats.org/drawingml/2006/main" noGrp="1"/>
          </p:cNvSpPr>
          <p:nvPr/>
        </p:nvSpPr>
        <p:spPr>
          <a:xfrm xmlns:a="http://schemas.openxmlformats.org/drawingml/2006/main">
            <a:off x="552450" y="3771900"/>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WebGPU</a:t>
            </a:r>
          </a:p>
        </p:txBody>
      </p:sp>
      <p:sp>
        <p:nvSpPr>
          <p:cNvPr id="8" name="">
            <a:extLst xmlns:a="http://schemas.openxmlformats.org/drawingml/2006/main">
              <a:ext uri="{FF2B5EF4-FFF2-40B4-BE49-F238E27FC236}">
                <a16:creationId xmlns:a16="http://schemas.microsoft.com/office/drawing/2014/main" id="{6165FA68-273F-49E8-AACF-6DCE6D8FD209}"/>
              </a:ext>
            </a:extLst>
          </p:cNvPr>
          <p:cNvSpPr>
            <a:spLocks xmlns:a="http://schemas.openxmlformats.org/drawingml/2006/main" noGrp="1"/>
          </p:cNvSpPr>
          <p:nvPr/>
        </p:nvSpPr>
        <p:spPr>
          <a:xfrm xmlns:a="http://schemas.openxmlformats.org/drawingml/2006/main">
            <a:off x="3886200" y="3771900"/>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 newer API for rendering and GPU computation.</a:t>
            </a:r>
          </a:p>
        </p:txBody>
      </p:sp>
      <p:sp>
        <p:nvSpPr>
          <p:cNvPr id="9" name="">
            <a:extLst xmlns:a="http://schemas.openxmlformats.org/drawingml/2006/main">
              <a:ext uri="{FF2B5EF4-FFF2-40B4-BE49-F238E27FC236}">
                <a16:creationId xmlns:a16="http://schemas.microsoft.com/office/drawing/2014/main" id="{0BF3A142-44D1-43EE-B837-E4C1153C8C0A}"/>
              </a:ext>
            </a:extLst>
          </p:cNvPr>
          <p:cNvSpPr>
            <a:spLocks xmlns:a="http://schemas.openxmlformats.org/drawingml/2006/main" noGrp="1"/>
          </p:cNvSpPr>
          <p:nvPr/>
        </p:nvSpPr>
        <p:spPr>
          <a:xfrm xmlns:a="http://schemas.openxmlformats.org/drawingml/2006/main">
            <a:off x="552450" y="494347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Practical choice</a:t>
            </a:r>
          </a:p>
        </p:txBody>
      </p:sp>
      <p:sp>
        <p:nvSpPr>
          <p:cNvPr id="10" name="">
            <a:extLst xmlns:a="http://schemas.openxmlformats.org/drawingml/2006/main">
              <a:ext uri="{FF2B5EF4-FFF2-40B4-BE49-F238E27FC236}">
                <a16:creationId xmlns:a16="http://schemas.microsoft.com/office/drawing/2014/main" id="{4933D3F7-1913-4372-8DBD-9DB9668DB337}"/>
              </a:ext>
            </a:extLst>
          </p:cNvPr>
          <p:cNvSpPr>
            <a:spLocks xmlns:a="http://schemas.openxmlformats.org/drawingml/2006/main" noGrp="1"/>
          </p:cNvSpPr>
          <p:nvPr/>
        </p:nvSpPr>
        <p:spPr>
          <a:xfrm xmlns:a="http://schemas.openxmlformats.org/drawingml/2006/main">
            <a:off x="3886200" y="494347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Use a supporting library or engine and test target devices.</a:t>
            </a:r>
          </a:p>
        </p:txBody>
      </p:sp>
    </p:spTree>
    <p:extLst>
      <p:ext uri="{BB962C8B-B14F-4D97-AF65-F5344CB8AC3E}">
        <p14:creationId xmlns:p14="http://schemas.microsoft.com/office/powerpoint/2010/main" val="8890066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5EEA3F0-DF61-439F-8306-231CBF81BE58}"/>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3110CCFC-3E4D-4F13-90E3-462DC1A83EF9}"/>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D84BA1AD-158D-4A2D-87CB-78B51C509D2D}"/>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Other tools worth knowing</a:t>
            </a:r>
          </a:p>
        </p:txBody>
      </p:sp>
      <p:sp>
        <p:nvSpPr>
          <p:cNvPr id="4" name="">
            <a:extLst xmlns:a="http://schemas.openxmlformats.org/drawingml/2006/main">
              <a:ext uri="{FF2B5EF4-FFF2-40B4-BE49-F238E27FC236}">
                <a16:creationId xmlns:a16="http://schemas.microsoft.com/office/drawing/2014/main" id="{308FE748-CB52-4AA4-8A04-AF510F392776}"/>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Choose a starting point based on the project and the team.</a:t>
            </a:r>
          </a:p>
        </p:txBody>
      </p:sp>
      <p:graphicFrame>
        <p:nvGraphicFramePr>
          <p:cNvPr id="5" name="">
            <a:extLst xmlns:a="http://schemas.openxmlformats.org/drawingml/2006/main">
              <a:ext uri="{FF2B5EF4-FFF2-40B4-BE49-F238E27FC236}">
                <a16:creationId xmlns:a16="http://schemas.microsoft.com/office/drawing/2014/main" id="{7870EE45-F091-4214-BE0E-1BE37CFF07FC}"/>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727710">
                <a:tc>
                  <a:txBody>
                    <a:bodyPr/>
                    <a:lstStyle/>
                    <a:p>
                      <a:r>
                        <a:rPr sz="1725" b="1">
                          <a:solidFill>
                            <a:srgbClr val="FFFFFF"/>
                          </a:solidFill>
                          <a:latin typeface="Arial"/>
                          <a:ea typeface="Arial"/>
                          <a:cs typeface="Arial"/>
                        </a:rPr>
                        <a:t>Tool</a:t>
                      </a:r>
                    </a:p>
                  </a:txBody>
                  <a:tcPr marL="114300" marR="114300" marT="47625" marB="47625">
                    <a:solidFill>
                      <a:srgbClr val="151515"/>
                    </a:solidFill>
                  </a:tcPr>
                </a:tc>
                <a:tc>
                  <a:txBody>
                    <a:bodyPr/>
                    <a:lstStyle/>
                    <a:p>
                      <a:r>
                        <a:rPr sz="1725" b="1">
                          <a:solidFill>
                            <a:srgbClr val="FFFFFF"/>
                          </a:solidFill>
                          <a:latin typeface="Arial"/>
                          <a:ea typeface="Arial"/>
                          <a:cs typeface="Arial"/>
                        </a:rPr>
                        <a:t>Best starting point</a:t>
                      </a:r>
                    </a:p>
                  </a:txBody>
                  <a:tcPr marL="114300" marR="114300" marT="47625" marB="47625">
                    <a:solidFill>
                      <a:srgbClr val="151515"/>
                    </a:solidFill>
                  </a:tcPr>
                </a:tc>
                <a:tc>
                  <a:txBody>
                    <a:bodyPr/>
                    <a:lstStyle/>
                    <a:p>
                      <a:r>
                        <a:rPr sz="1725" b="1">
                          <a:solidFill>
                            <a:srgbClr val="FFFFFF"/>
                          </a:solidFill>
                          <a:latin typeface="Arial"/>
                          <a:ea typeface="Arial"/>
                          <a:cs typeface="Arial"/>
                        </a:rPr>
                        <a:t>How it reaches the site</a:t>
                      </a:r>
                    </a:p>
                  </a:txBody>
                  <a:tcPr marL="114300" marR="114300" marT="47625" marB="47625">
                    <a:solidFill>
                      <a:srgbClr val="151515"/>
                    </a:solidFill>
                  </a:tcPr>
                </a:tc>
              </a:tr>
              <a:tr h="727710">
                <a:tc>
                  <a:txBody>
                    <a:bodyPr/>
                    <a:lstStyle/>
                    <a:p>
                      <a:r>
                        <a:rPr sz="1725">
                          <a:solidFill>
                            <a:srgbClr val="151515"/>
                          </a:solidFill>
                          <a:latin typeface="Arial"/>
                          <a:ea typeface="Arial"/>
                          <a:cs typeface="Arial"/>
                        </a:rPr>
                        <a:t>model-viewer</a:t>
                      </a:r>
                    </a:p>
                  </a:txBody>
                  <a:tcPr marL="114300" marR="114300" marT="47625" marB="47625"/>
                </a:tc>
                <a:tc>
                  <a:txBody>
                    <a:bodyPr/>
                    <a:lstStyle/>
                    <a:p>
                      <a:r>
                        <a:rPr sz="1725">
                          <a:solidFill>
                            <a:srgbClr val="151515"/>
                          </a:solidFill>
                          <a:latin typeface="Arial"/>
                          <a:ea typeface="Arial"/>
                          <a:cs typeface="Arial"/>
                        </a:rPr>
                        <a:t>Simple product viewer</a:t>
                      </a:r>
                    </a:p>
                  </a:txBody>
                  <a:tcPr marL="114300" marR="114300" marT="47625" marB="47625"/>
                </a:tc>
                <a:tc>
                  <a:txBody>
                    <a:bodyPr/>
                    <a:lstStyle/>
                    <a:p>
                      <a:r>
                        <a:rPr sz="1725">
                          <a:solidFill>
                            <a:srgbClr val="151515"/>
                          </a:solidFill>
                          <a:latin typeface="Arial"/>
                          <a:ea typeface="Arial"/>
                          <a:cs typeface="Arial"/>
                        </a:rPr>
                        <a:t>Add a web component and GLB</a:t>
                      </a:r>
                    </a:p>
                  </a:txBody>
                  <a:tcPr marL="114300" marR="114300" marT="47625" marB="47625"/>
                </a:tc>
              </a:tr>
              <a:tr h="727710">
                <a:tc>
                  <a:txBody>
                    <a:bodyPr/>
                    <a:lstStyle/>
                    <a:p>
                      <a:r>
                        <a:rPr sz="1725">
                          <a:solidFill>
                            <a:srgbClr val="151515"/>
                          </a:solidFill>
                          <a:latin typeface="Arial"/>
                          <a:ea typeface="Arial"/>
                          <a:cs typeface="Arial"/>
                        </a:rPr>
                        <a:t>Spline</a:t>
                      </a:r>
                    </a:p>
                  </a:txBody>
                  <a:tcPr marL="114300" marR="114300" marT="47625" marB="47625"/>
                </a:tc>
                <a:tc>
                  <a:txBody>
                    <a:bodyPr/>
                    <a:lstStyle/>
                    <a:p>
                      <a:r>
                        <a:rPr sz="1725">
                          <a:solidFill>
                            <a:srgbClr val="151515"/>
                          </a:solidFill>
                          <a:latin typeface="Arial"/>
                          <a:ea typeface="Arial"/>
                          <a:cs typeface="Arial"/>
                        </a:rPr>
                        <a:t>Visual interactive design</a:t>
                      </a:r>
                    </a:p>
                  </a:txBody>
                  <a:tcPr marL="114300" marR="114300" marT="47625" marB="47625"/>
                </a:tc>
                <a:tc>
                  <a:txBody>
                    <a:bodyPr/>
                    <a:lstStyle/>
                    <a:p>
                      <a:r>
                        <a:rPr sz="1725">
                          <a:solidFill>
                            <a:srgbClr val="151515"/>
                          </a:solidFill>
                          <a:latin typeface="Arial"/>
                          <a:ea typeface="Arial"/>
                          <a:cs typeface="Arial"/>
                        </a:rPr>
                        <a:t>Publish a viewer embed</a:t>
                      </a:r>
                    </a:p>
                  </a:txBody>
                  <a:tcPr marL="114300" marR="114300" marT="47625" marB="47625"/>
                </a:tc>
              </a:tr>
              <a:tr h="727710">
                <a:tc>
                  <a:txBody>
                    <a:bodyPr/>
                    <a:lstStyle/>
                    <a:p>
                      <a:r>
                        <a:rPr sz="1725">
                          <a:solidFill>
                            <a:srgbClr val="151515"/>
                          </a:solidFill>
                          <a:latin typeface="Arial"/>
                          <a:ea typeface="Arial"/>
                          <a:cs typeface="Arial"/>
                        </a:rPr>
                        <a:t>React Three Fiber</a:t>
                      </a:r>
                    </a:p>
                  </a:txBody>
                  <a:tcPr marL="114300" marR="114300" marT="47625" marB="47625"/>
                </a:tc>
                <a:tc>
                  <a:txBody>
                    <a:bodyPr/>
                    <a:lstStyle/>
                    <a:p>
                      <a:r>
                        <a:rPr sz="1725">
                          <a:solidFill>
                            <a:srgbClr val="151515"/>
                          </a:solidFill>
                          <a:latin typeface="Arial"/>
                          <a:ea typeface="Arial"/>
                          <a:cs typeface="Arial"/>
                        </a:rPr>
                        <a:t>3D in a React app</a:t>
                      </a:r>
                    </a:p>
                  </a:txBody>
                  <a:tcPr marL="114300" marR="114300" marT="47625" marB="47625"/>
                </a:tc>
                <a:tc>
                  <a:txBody>
                    <a:bodyPr/>
                    <a:lstStyle/>
                    <a:p>
                      <a:r>
                        <a:rPr sz="1725">
                          <a:solidFill>
                            <a:srgbClr val="151515"/>
                          </a:solidFill>
                          <a:latin typeface="Arial"/>
                          <a:ea typeface="Arial"/>
                          <a:cs typeface="Arial"/>
                        </a:rPr>
                        <a:t>Build Three.js scenes in React</a:t>
                      </a:r>
                    </a:p>
                  </a:txBody>
                  <a:tcPr marL="114300" marR="114300" marT="47625" marB="47625"/>
                </a:tc>
              </a:tr>
              <a:tr h="727710">
                <a:tc>
                  <a:txBody>
                    <a:bodyPr/>
                    <a:lstStyle/>
                    <a:p>
                      <a:r>
                        <a:rPr sz="1725">
                          <a:solidFill>
                            <a:srgbClr val="151515"/>
                          </a:solidFill>
                          <a:latin typeface="Arial"/>
                          <a:ea typeface="Arial"/>
                          <a:cs typeface="Arial"/>
                        </a:rPr>
                        <a:t>Babylon.js / PlayCanvas</a:t>
                      </a:r>
                    </a:p>
                  </a:txBody>
                  <a:tcPr marL="114300" marR="114300" marT="47625" marB="47625"/>
                </a:tc>
                <a:tc>
                  <a:txBody>
                    <a:bodyPr/>
                    <a:lstStyle/>
                    <a:p>
                      <a:r>
                        <a:rPr sz="1725">
                          <a:solidFill>
                            <a:srgbClr val="151515"/>
                          </a:solidFill>
                          <a:latin typeface="Arial"/>
                          <a:ea typeface="Arial"/>
                          <a:cs typeface="Arial"/>
                        </a:rPr>
                        <a:t>Games and richer 3D apps</a:t>
                      </a:r>
                    </a:p>
                  </a:txBody>
                  <a:tcPr marL="114300" marR="114300" marT="47625" marB="47625"/>
                </a:tc>
                <a:tc>
                  <a:txBody>
                    <a:bodyPr/>
                    <a:lstStyle/>
                    <a:p>
                      <a:r>
                        <a:rPr sz="1725">
                          <a:solidFill>
                            <a:srgbClr val="151515"/>
                          </a:solidFill>
                          <a:latin typeface="Arial"/>
                          <a:ea typeface="Arial"/>
                          <a:cs typeface="Arial"/>
                        </a:rPr>
                        <a:t>Integrate or host the engine app</a:t>
                      </a:r>
                    </a:p>
                  </a:txBody>
                  <a:tcPr marL="114300" marR="114300" marT="47625" marB="47625"/>
                </a:tc>
              </a:tr>
            </a:tbl>
          </a:graphicData>
        </a:graphic>
      </p:graphicFrame>
    </p:spTree>
    <p:extLst>
      <p:ext uri="{BB962C8B-B14F-4D97-AF65-F5344CB8AC3E}">
        <p14:creationId xmlns:p14="http://schemas.microsoft.com/office/powerpoint/2010/main" val="185029801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42E284-7EB3-4515-950F-724F32927635}"/>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1778D934-D768-407B-BA67-A3F6A74319CA}"/>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387B5619-8D04-44B4-B430-929EACCBD326}"/>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Getting 3D onto a website</a:t>
            </a:r>
          </a:p>
        </p:txBody>
      </p:sp>
      <p:sp>
        <p:nvSpPr>
          <p:cNvPr id="4" name="">
            <a:extLst xmlns:a="http://schemas.openxmlformats.org/drawingml/2006/main">
              <a:ext uri="{FF2B5EF4-FFF2-40B4-BE49-F238E27FC236}">
                <a16:creationId xmlns:a16="http://schemas.microsoft.com/office/drawing/2014/main" id="{DB478FC9-19AE-4800-AA1F-9D235575758D}"/>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 same basic workflow applies to Webflow and custom websites.</a:t>
            </a:r>
          </a:p>
        </p:txBody>
      </p:sp>
      <p:sp>
        <p:nvSpPr>
          <p:cNvPr id="5" name="">
            <a:extLst xmlns:a="http://schemas.openxmlformats.org/drawingml/2006/main">
              <a:ext uri="{FF2B5EF4-FFF2-40B4-BE49-F238E27FC236}">
                <a16:creationId xmlns:a16="http://schemas.microsoft.com/office/drawing/2014/main" id="{64046AB1-E691-4B7E-B0FC-79B6D3393F17}"/>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01  Prepare</a:t>
            </a:r>
          </a:p>
        </p:txBody>
      </p:sp>
      <p:sp>
        <p:nvSpPr>
          <p:cNvPr id="6" name="">
            <a:extLst xmlns:a="http://schemas.openxmlformats.org/drawingml/2006/main">
              <a:ext uri="{FF2B5EF4-FFF2-40B4-BE49-F238E27FC236}">
                <a16:creationId xmlns:a16="http://schemas.microsoft.com/office/drawing/2014/main" id="{2D0F3823-2AE4-49CB-8731-722F6749EBFF}"/>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Create and approve a lightweight GLB asset.</a:t>
            </a:r>
          </a:p>
        </p:txBody>
      </p:sp>
      <p:sp>
        <p:nvSpPr>
          <p:cNvPr id="7" name="">
            <a:extLst xmlns:a="http://schemas.openxmlformats.org/drawingml/2006/main">
              <a:ext uri="{FF2B5EF4-FFF2-40B4-BE49-F238E27FC236}">
                <a16:creationId xmlns:a16="http://schemas.microsoft.com/office/drawing/2014/main" id="{D53DB9CC-1E3B-4D68-9C2F-6AC4F3C8C9FF}"/>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02  Connect</a:t>
            </a:r>
          </a:p>
        </p:txBody>
      </p:sp>
      <p:sp>
        <p:nvSpPr>
          <p:cNvPr id="8" name="">
            <a:extLst xmlns:a="http://schemas.openxmlformats.org/drawingml/2006/main">
              <a:ext uri="{FF2B5EF4-FFF2-40B4-BE49-F238E27FC236}">
                <a16:creationId xmlns:a16="http://schemas.microsoft.com/office/drawing/2014/main" id="{6EBAF98C-A283-4292-8A6A-73715583B243}"/>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Choose an embedded viewer or a custom Three.js scene.</a:t>
            </a:r>
          </a:p>
        </p:txBody>
      </p:sp>
      <p:sp>
        <p:nvSpPr>
          <p:cNvPr id="9" name="">
            <a:extLst xmlns:a="http://schemas.openxmlformats.org/drawingml/2006/main">
              <a:ext uri="{FF2B5EF4-FFF2-40B4-BE49-F238E27FC236}">
                <a16:creationId xmlns:a16="http://schemas.microsoft.com/office/drawing/2014/main" id="{B3FCD4A3-33D2-4248-810B-CEB99A703251}"/>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03  Publish</a:t>
            </a:r>
          </a:p>
        </p:txBody>
      </p:sp>
      <p:sp>
        <p:nvSpPr>
          <p:cNvPr id="10" name="">
            <a:extLst xmlns:a="http://schemas.openxmlformats.org/drawingml/2006/main">
              <a:ext uri="{FF2B5EF4-FFF2-40B4-BE49-F238E27FC236}">
                <a16:creationId xmlns:a16="http://schemas.microsoft.com/office/drawing/2014/main" id="{E22F0E83-F1A3-4529-B02A-BB59654117CE}"/>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Host the viewer and assets, then add them to the page.</a:t>
            </a:r>
          </a:p>
        </p:txBody>
      </p:sp>
      <p:sp>
        <p:nvSpPr>
          <p:cNvPr id="11" name="">
            <a:extLst xmlns:a="http://schemas.openxmlformats.org/drawingml/2006/main">
              <a:ext uri="{FF2B5EF4-FFF2-40B4-BE49-F238E27FC236}">
                <a16:creationId xmlns:a16="http://schemas.microsoft.com/office/drawing/2014/main" id="{A31712D0-0D4E-4740-A558-6E1BA4B758E6}"/>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04  Test</a:t>
            </a:r>
          </a:p>
        </p:txBody>
      </p:sp>
      <p:sp>
        <p:nvSpPr>
          <p:cNvPr id="12" name="">
            <a:extLst xmlns:a="http://schemas.openxmlformats.org/drawingml/2006/main">
              <a:ext uri="{FF2B5EF4-FFF2-40B4-BE49-F238E27FC236}">
                <a16:creationId xmlns:a16="http://schemas.microsoft.com/office/drawing/2014/main" id="{1829F4C8-D1B4-4750-9A52-334E4F557459}"/>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Check loading, touch controls and the published URL.</a:t>
            </a:r>
          </a:p>
        </p:txBody>
      </p:sp>
    </p:spTree>
    <p:extLst>
      <p:ext uri="{BB962C8B-B14F-4D97-AF65-F5344CB8AC3E}">
        <p14:creationId xmlns:p14="http://schemas.microsoft.com/office/powerpoint/2010/main" val="12533573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14B256-2B4F-44FA-BBA0-58468C3F8CEA}"/>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9AFBD6AD-8B0D-4DAC-8E52-6C8A06258281}"/>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96B14336-7EDD-45D9-AF8C-EE7D15CECF7A}"/>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Who does what</a:t>
            </a:r>
          </a:p>
        </p:txBody>
      </p:sp>
      <p:sp>
        <p:nvSpPr>
          <p:cNvPr id="4" name="">
            <a:extLst xmlns:a="http://schemas.openxmlformats.org/drawingml/2006/main">
              <a:ext uri="{FF2B5EF4-FFF2-40B4-BE49-F238E27FC236}">
                <a16:creationId xmlns:a16="http://schemas.microsoft.com/office/drawing/2014/main" id="{CF99D33B-7D96-4C41-8905-2582ECB8FB21}"/>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A shared handoff connects the visual idea to the working website.</a:t>
            </a:r>
          </a:p>
        </p:txBody>
      </p:sp>
      <p:sp>
        <p:nvSpPr>
          <p:cNvPr id="5" name="">
            <a:extLst xmlns:a="http://schemas.openxmlformats.org/drawingml/2006/main">
              <a:ext uri="{FF2B5EF4-FFF2-40B4-BE49-F238E27FC236}">
                <a16:creationId xmlns:a16="http://schemas.microsoft.com/office/drawing/2014/main" id="{7EE337FB-10BD-4FA5-BB9D-DBE05174A707}"/>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Designer</a:t>
            </a:r>
          </a:p>
        </p:txBody>
      </p:sp>
      <p:sp>
        <p:nvSpPr>
          <p:cNvPr id="6" name="">
            <a:extLst xmlns:a="http://schemas.openxmlformats.org/drawingml/2006/main">
              <a:ext uri="{FF2B5EF4-FFF2-40B4-BE49-F238E27FC236}">
                <a16:creationId xmlns:a16="http://schemas.microsoft.com/office/drawing/2014/main" id="{078E53AC-B115-4ACA-BAD3-D1BD6929D015}"/>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Defines layout, controls and the first view.</a:t>
            </a:r>
          </a:p>
        </p:txBody>
      </p:sp>
      <p:sp>
        <p:nvSpPr>
          <p:cNvPr id="7" name="">
            <a:extLst xmlns:a="http://schemas.openxmlformats.org/drawingml/2006/main">
              <a:ext uri="{FF2B5EF4-FFF2-40B4-BE49-F238E27FC236}">
                <a16:creationId xmlns:a16="http://schemas.microsoft.com/office/drawing/2014/main" id="{28C98C55-E44E-418E-A012-B8A235ED2B8A}"/>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Motion designer</a:t>
            </a:r>
          </a:p>
        </p:txBody>
      </p:sp>
      <p:sp>
        <p:nvSpPr>
          <p:cNvPr id="8" name="">
            <a:extLst xmlns:a="http://schemas.openxmlformats.org/drawingml/2006/main">
              <a:ext uri="{FF2B5EF4-FFF2-40B4-BE49-F238E27FC236}">
                <a16:creationId xmlns:a16="http://schemas.microsoft.com/office/drawing/2014/main" id="{7FFC6FE2-05AC-4345-85C2-0A36ED2FCF92}"/>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Specifies timing, transitions and interruption behavior.</a:t>
            </a:r>
          </a:p>
        </p:txBody>
      </p:sp>
      <p:sp>
        <p:nvSpPr>
          <p:cNvPr id="9" name="">
            <a:extLst xmlns:a="http://schemas.openxmlformats.org/drawingml/2006/main">
              <a:ext uri="{FF2B5EF4-FFF2-40B4-BE49-F238E27FC236}">
                <a16:creationId xmlns:a16="http://schemas.microsoft.com/office/drawing/2014/main" id="{3B39AF5B-1CF9-44BD-8F89-1295B6470C3D}"/>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3D artist</a:t>
            </a:r>
          </a:p>
        </p:txBody>
      </p:sp>
      <p:sp>
        <p:nvSpPr>
          <p:cNvPr id="10" name="">
            <a:extLst xmlns:a="http://schemas.openxmlformats.org/drawingml/2006/main">
              <a:ext uri="{FF2B5EF4-FFF2-40B4-BE49-F238E27FC236}">
                <a16:creationId xmlns:a16="http://schemas.microsoft.com/office/drawing/2014/main" id="{1A41ADA0-80EF-4FA5-A7F8-F1713E7C1F08}"/>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Delivers the model, materials and animation clips.</a:t>
            </a:r>
          </a:p>
        </p:txBody>
      </p:sp>
      <p:sp>
        <p:nvSpPr>
          <p:cNvPr id="11" name="">
            <a:extLst xmlns:a="http://schemas.openxmlformats.org/drawingml/2006/main">
              <a:ext uri="{FF2B5EF4-FFF2-40B4-BE49-F238E27FC236}">
                <a16:creationId xmlns:a16="http://schemas.microsoft.com/office/drawing/2014/main" id="{345C449E-7E0B-42E6-803E-6AA7765B228F}"/>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Developer</a:t>
            </a:r>
          </a:p>
        </p:txBody>
      </p:sp>
      <p:sp>
        <p:nvSpPr>
          <p:cNvPr id="12" name="">
            <a:extLst xmlns:a="http://schemas.openxmlformats.org/drawingml/2006/main">
              <a:ext uri="{FF2B5EF4-FFF2-40B4-BE49-F238E27FC236}">
                <a16:creationId xmlns:a16="http://schemas.microsoft.com/office/drawing/2014/main" id="{CAB1E578-7F12-43B9-8D48-2ACFEB05B600}"/>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Builds interaction, loading states and deployment.</a:t>
            </a:r>
          </a:p>
        </p:txBody>
      </p:sp>
    </p:spTree>
    <p:extLst>
      <p:ext uri="{BB962C8B-B14F-4D97-AF65-F5344CB8AC3E}">
        <p14:creationId xmlns:p14="http://schemas.microsoft.com/office/powerpoint/2010/main" val="10123794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C8B4F5-CF9C-4852-B6D1-3B8AF3882128}"/>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0DF21F6C-78F8-4E0A-A9CC-CC4D6A3EDD84}"/>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998BB676-3266-4BD9-B500-6556A29D2419}"/>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What makes the result good</a:t>
            </a:r>
          </a:p>
        </p:txBody>
      </p:sp>
      <p:sp>
        <p:nvSpPr>
          <p:cNvPr id="4" name="">
            <a:extLst xmlns:a="http://schemas.openxmlformats.org/drawingml/2006/main">
              <a:ext uri="{FF2B5EF4-FFF2-40B4-BE49-F238E27FC236}">
                <a16:creationId xmlns:a16="http://schemas.microsoft.com/office/drawing/2014/main" id="{8A307D86-A8A8-4D2E-91E6-DC856BBCAF2F}"/>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Visual quality and usability need attention together.</a:t>
            </a:r>
          </a:p>
        </p:txBody>
      </p:sp>
      <p:sp>
        <p:nvSpPr>
          <p:cNvPr id="5" name="">
            <a:extLst xmlns:a="http://schemas.openxmlformats.org/drawingml/2006/main">
              <a:ext uri="{FF2B5EF4-FFF2-40B4-BE49-F238E27FC236}">
                <a16:creationId xmlns:a16="http://schemas.microsoft.com/office/drawing/2014/main" id="{BF656600-F894-47E9-91EA-22DD2EDEDE0E}"/>
              </a:ext>
            </a:extLst>
          </p:cNvPr>
          <p:cNvSpPr>
            <a:spLocks xmlns:a="http://schemas.openxmlformats.org/drawingml/2006/main" noGrp="1"/>
          </p:cNvSpPr>
          <p:nvPr/>
        </p:nvSpPr>
        <p:spPr>
          <a:xfrm xmlns:a="http://schemas.openxmlformats.org/drawingml/2006/main">
            <a:off x="552450" y="260032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Accuracy</a:t>
            </a:r>
          </a:p>
        </p:txBody>
      </p:sp>
      <p:sp>
        <p:nvSpPr>
          <p:cNvPr id="6" name="">
            <a:extLst xmlns:a="http://schemas.openxmlformats.org/drawingml/2006/main">
              <a:ext uri="{FF2B5EF4-FFF2-40B4-BE49-F238E27FC236}">
                <a16:creationId xmlns:a16="http://schemas.microsoft.com/office/drawing/2014/main" id="{5D939B67-782D-4C43-87FB-8643B4855EBF}"/>
              </a:ext>
            </a:extLst>
          </p:cNvPr>
          <p:cNvSpPr>
            <a:spLocks xmlns:a="http://schemas.openxmlformats.org/drawingml/2006/main" noGrp="1"/>
          </p:cNvSpPr>
          <p:nvPr/>
        </p:nvSpPr>
        <p:spPr>
          <a:xfrm xmlns:a="http://schemas.openxmlformats.org/drawingml/2006/main">
            <a:off x="3886200" y="260032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Match the product’s shape before adding visual effects.</a:t>
            </a:r>
          </a:p>
        </p:txBody>
      </p:sp>
      <p:sp>
        <p:nvSpPr>
          <p:cNvPr id="7" name="">
            <a:extLst xmlns:a="http://schemas.openxmlformats.org/drawingml/2006/main">
              <a:ext uri="{FF2B5EF4-FFF2-40B4-BE49-F238E27FC236}">
                <a16:creationId xmlns:a16="http://schemas.microsoft.com/office/drawing/2014/main" id="{84254D2E-3BA4-4B53-88D5-63BAF2C4F687}"/>
              </a:ext>
            </a:extLst>
          </p:cNvPr>
          <p:cNvSpPr>
            <a:spLocks xmlns:a="http://schemas.openxmlformats.org/drawingml/2006/main" noGrp="1"/>
          </p:cNvSpPr>
          <p:nvPr/>
        </p:nvSpPr>
        <p:spPr>
          <a:xfrm xmlns:a="http://schemas.openxmlformats.org/drawingml/2006/main">
            <a:off x="552450" y="3771900"/>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Performance</a:t>
            </a:r>
          </a:p>
        </p:txBody>
      </p:sp>
      <p:sp>
        <p:nvSpPr>
          <p:cNvPr id="8" name="">
            <a:extLst xmlns:a="http://schemas.openxmlformats.org/drawingml/2006/main">
              <a:ext uri="{FF2B5EF4-FFF2-40B4-BE49-F238E27FC236}">
                <a16:creationId xmlns:a16="http://schemas.microsoft.com/office/drawing/2014/main" id="{F6F7E1CD-0F60-4B02-89CC-1FD254FD91A4}"/>
              </a:ext>
            </a:extLst>
          </p:cNvPr>
          <p:cNvSpPr>
            <a:spLocks xmlns:a="http://schemas.openxmlformats.org/drawingml/2006/main" noGrp="1"/>
          </p:cNvSpPr>
          <p:nvPr/>
        </p:nvSpPr>
        <p:spPr>
          <a:xfrm xmlns:a="http://schemas.openxmlformats.org/drawingml/2006/main">
            <a:off x="3886200" y="3771900"/>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Optimize assets and measure on real phones.</a:t>
            </a:r>
          </a:p>
        </p:txBody>
      </p:sp>
      <p:sp>
        <p:nvSpPr>
          <p:cNvPr id="9" name="">
            <a:extLst xmlns:a="http://schemas.openxmlformats.org/drawingml/2006/main">
              <a:ext uri="{FF2B5EF4-FFF2-40B4-BE49-F238E27FC236}">
                <a16:creationId xmlns:a16="http://schemas.microsoft.com/office/drawing/2014/main" id="{5B22D106-5B28-42D7-BD89-A507B0D6F0C0}"/>
              </a:ext>
            </a:extLst>
          </p:cNvPr>
          <p:cNvSpPr>
            <a:spLocks xmlns:a="http://schemas.openxmlformats.org/drawingml/2006/main" noGrp="1"/>
          </p:cNvSpPr>
          <p:nvPr/>
        </p:nvSpPr>
        <p:spPr>
          <a:xfrm xmlns:a="http://schemas.openxmlformats.org/drawingml/2006/main">
            <a:off x="552450" y="494347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Accessibility</a:t>
            </a:r>
          </a:p>
        </p:txBody>
      </p:sp>
      <p:sp>
        <p:nvSpPr>
          <p:cNvPr id="10" name="">
            <a:extLst xmlns:a="http://schemas.openxmlformats.org/drawingml/2006/main">
              <a:ext uri="{FF2B5EF4-FFF2-40B4-BE49-F238E27FC236}">
                <a16:creationId xmlns:a16="http://schemas.microsoft.com/office/drawing/2014/main" id="{9B344391-F7FC-4424-97C8-AAE06F8B9719}"/>
              </a:ext>
            </a:extLst>
          </p:cNvPr>
          <p:cNvSpPr>
            <a:spLocks xmlns:a="http://schemas.openxmlformats.org/drawingml/2006/main" noGrp="1"/>
          </p:cNvSpPr>
          <p:nvPr/>
        </p:nvSpPr>
        <p:spPr>
          <a:xfrm xmlns:a="http://schemas.openxmlformats.org/drawingml/2006/main">
            <a:off x="3886200" y="494347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Provide clear controls, reduced motion and a static fallback.</a:t>
            </a:r>
          </a:p>
        </p:txBody>
      </p:sp>
    </p:spTree>
    <p:extLst>
      <p:ext uri="{BB962C8B-B14F-4D97-AF65-F5344CB8AC3E}">
        <p14:creationId xmlns:p14="http://schemas.microsoft.com/office/powerpoint/2010/main" val="1555535699"/>
      </p:ext>
    </p:extLst>
  </p:cSld>
</p:sld>
</file>

<file path=ppt/slides/slide11.xml><?xml version="1.0" encoding="utf-8"?>
<p:sld xmlns:p="http://schemas.openxmlformats.org/presentationml/2006/main">
  <p:cSld>
    <p:bg>
      <p:bgPr>
        <a:solidFill xmlns:a="http://schemas.openxmlformats.org/drawingml/2006/main">
          <a:srgbClr val="15151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10F279-62E4-4ECD-BF4A-C8CFE2B3BCDB}"/>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4843230B-44CA-4C9C-8A9C-BB612E90854E}"/>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AFC5F57A-9EC6-49D3-86BA-114F2C8F93EF}"/>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FFFFFF"/>
                </a:solidFill>
                <a:latin typeface="Arial"/>
                <a:ea typeface="Arial"/>
                <a:cs typeface="Arial"/>
              </a:defRPr>
            </a:defPPr>
          </a:lstStyle>
          <a:p xmlns:a="http://schemas.openxmlformats.org/drawingml/2006/main">
            <a:pPr>
              <a:defRPr sz="3300" b="0">
                <a:solidFill>
                  <a:srgbClr val="FFFFFF"/>
                </a:solidFill>
                <a:latin typeface="Arial"/>
                <a:ea typeface="Arial"/>
                <a:cs typeface="Arial"/>
              </a:defRPr>
            </a:pPr>
            <a:r>
              <a:rPr sz="3300" b="0">
                <a:solidFill>
                  <a:srgbClr val="FFFFFF"/>
                </a:solidFill>
                <a:latin typeface="Arial"/>
                <a:ea typeface="Arial"/>
                <a:cs typeface="Arial"/>
              </a:rPr>
              <a:t>A simple starting point</a:t>
            </a:r>
          </a:p>
        </p:txBody>
      </p:sp>
      <p:sp>
        <p:nvSpPr>
          <p:cNvPr id="4" name="">
            <a:extLst xmlns:a="http://schemas.openxmlformats.org/drawingml/2006/main">
              <a:ext uri="{FF2B5EF4-FFF2-40B4-BE49-F238E27FC236}">
                <a16:creationId xmlns:a16="http://schemas.microsoft.com/office/drawing/2014/main" id="{3787E8C8-F236-4813-A02B-DB291A2ABD57}"/>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BBBBB"/>
                </a:solidFill>
                <a:latin typeface="Arial"/>
                <a:ea typeface="Arial"/>
                <a:cs typeface="Arial"/>
              </a:defRPr>
            </a:defPPr>
          </a:lstStyle>
          <a:p xmlns:a="http://schemas.openxmlformats.org/drawingml/2006/main">
            <a:pPr>
              <a:defRPr sz="1875" b="0">
                <a:solidFill>
                  <a:srgbClr val="BBBBBB"/>
                </a:solidFill>
                <a:latin typeface="Arial"/>
                <a:ea typeface="Arial"/>
                <a:cs typeface="Arial"/>
              </a:defRPr>
            </a:pPr>
            <a:r>
              <a:rPr sz="1875" b="0">
                <a:solidFill>
                  <a:srgbClr val="BBBBBB"/>
                </a:solidFill>
                <a:latin typeface="Arial"/>
                <a:ea typeface="Arial"/>
                <a:cs typeface="Arial"/>
              </a:rPr>
              <a:t>One model and one useful interaction are enough for a first version.</a:t>
            </a:r>
          </a:p>
        </p:txBody>
      </p:sp>
      <p:sp>
        <p:nvSpPr>
          <p:cNvPr id="5" name="">
            <a:extLst xmlns:a="http://schemas.openxmlformats.org/drawingml/2006/main">
              <a:ext uri="{FF2B5EF4-FFF2-40B4-BE49-F238E27FC236}">
                <a16:creationId xmlns:a16="http://schemas.microsoft.com/office/drawing/2014/main" id="{90EFF90A-66C6-46CD-ABE8-66608F385AE0}"/>
              </a:ext>
            </a:extLst>
          </p:cNvPr>
          <p:cNvSpPr>
            <a:spLocks xmlns:a="http://schemas.openxmlformats.org/drawingml/2006/main" noGrp="1"/>
          </p:cNvSpPr>
          <p:nvPr/>
        </p:nvSpPr>
        <p:spPr>
          <a:xfrm xmlns:a="http://schemas.openxmlformats.org/drawingml/2006/main">
            <a:off x="552450" y="260032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D18AC7"/>
                </a:solidFill>
                <a:latin typeface="Arial"/>
                <a:ea typeface="Arial"/>
                <a:cs typeface="Arial"/>
              </a:defRPr>
            </a:defPPr>
          </a:lstStyle>
          <a:p xmlns:a="http://schemas.openxmlformats.org/drawingml/2006/main">
            <a:pPr>
              <a:defRPr sz="2025" b="1">
                <a:solidFill>
                  <a:srgbClr val="D18AC7"/>
                </a:solidFill>
                <a:latin typeface="Arial"/>
                <a:ea typeface="Arial"/>
                <a:cs typeface="Arial"/>
              </a:defRPr>
            </a:pPr>
            <a:r>
              <a:rPr sz="2025" b="1">
                <a:solidFill>
                  <a:srgbClr val="D18AC7"/>
                </a:solidFill>
                <a:latin typeface="Arial"/>
                <a:ea typeface="Arial"/>
                <a:cs typeface="Arial"/>
              </a:rPr>
              <a:t>Simple product display</a:t>
            </a:r>
          </a:p>
        </p:txBody>
      </p:sp>
      <p:sp>
        <p:nvSpPr>
          <p:cNvPr id="6" name="">
            <a:extLst xmlns:a="http://schemas.openxmlformats.org/drawingml/2006/main">
              <a:ext uri="{FF2B5EF4-FFF2-40B4-BE49-F238E27FC236}">
                <a16:creationId xmlns:a16="http://schemas.microsoft.com/office/drawing/2014/main" id="{7C68FF1D-FE75-4264-9C76-9B71B3B566CD}"/>
              </a:ext>
            </a:extLst>
          </p:cNvPr>
          <p:cNvSpPr>
            <a:spLocks xmlns:a="http://schemas.openxmlformats.org/drawingml/2006/main" noGrp="1"/>
          </p:cNvSpPr>
          <p:nvPr/>
        </p:nvSpPr>
        <p:spPr>
          <a:xfrm xmlns:a="http://schemas.openxmlformats.org/drawingml/2006/main">
            <a:off x="3886200" y="260032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Start with model-viewer.</a:t>
            </a:r>
          </a:p>
        </p:txBody>
      </p:sp>
      <p:sp>
        <p:nvSpPr>
          <p:cNvPr id="7" name="">
            <a:extLst xmlns:a="http://schemas.openxmlformats.org/drawingml/2006/main">
              <a:ext uri="{FF2B5EF4-FFF2-40B4-BE49-F238E27FC236}">
                <a16:creationId xmlns:a16="http://schemas.microsoft.com/office/drawing/2014/main" id="{C3888483-C166-4308-915C-EABEE9E5A2A7}"/>
              </a:ext>
            </a:extLst>
          </p:cNvPr>
          <p:cNvSpPr>
            <a:spLocks xmlns:a="http://schemas.openxmlformats.org/drawingml/2006/main" noGrp="1"/>
          </p:cNvSpPr>
          <p:nvPr/>
        </p:nvSpPr>
        <p:spPr>
          <a:xfrm xmlns:a="http://schemas.openxmlformats.org/drawingml/2006/main">
            <a:off x="552450" y="3771900"/>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D18AC7"/>
                </a:solidFill>
                <a:latin typeface="Arial"/>
                <a:ea typeface="Arial"/>
                <a:cs typeface="Arial"/>
              </a:defRPr>
            </a:defPPr>
          </a:lstStyle>
          <a:p xmlns:a="http://schemas.openxmlformats.org/drawingml/2006/main">
            <a:pPr>
              <a:defRPr sz="2025" b="1">
                <a:solidFill>
                  <a:srgbClr val="D18AC7"/>
                </a:solidFill>
                <a:latin typeface="Arial"/>
                <a:ea typeface="Arial"/>
                <a:cs typeface="Arial"/>
              </a:defRPr>
            </a:pPr>
            <a:r>
              <a:rPr sz="2025" b="1">
                <a:solidFill>
                  <a:srgbClr val="D18AC7"/>
                </a:solidFill>
                <a:latin typeface="Arial"/>
                <a:ea typeface="Arial"/>
                <a:cs typeface="Arial"/>
              </a:rPr>
              <a:t>Custom experience</a:t>
            </a:r>
          </a:p>
        </p:txBody>
      </p:sp>
      <p:sp>
        <p:nvSpPr>
          <p:cNvPr id="8" name="">
            <a:extLst xmlns:a="http://schemas.openxmlformats.org/drawingml/2006/main">
              <a:ext uri="{FF2B5EF4-FFF2-40B4-BE49-F238E27FC236}">
                <a16:creationId xmlns:a16="http://schemas.microsoft.com/office/drawing/2014/main" id="{AF8B948B-4B0D-4784-8ECE-E0C443B05140}"/>
              </a:ext>
            </a:extLst>
          </p:cNvPr>
          <p:cNvSpPr>
            <a:spLocks xmlns:a="http://schemas.openxmlformats.org/drawingml/2006/main" noGrp="1"/>
          </p:cNvSpPr>
          <p:nvPr/>
        </p:nvSpPr>
        <p:spPr>
          <a:xfrm xmlns:a="http://schemas.openxmlformats.org/drawingml/2006/main">
            <a:off x="3886200" y="3771900"/>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Use Blender assets with Three.js.</a:t>
            </a:r>
          </a:p>
        </p:txBody>
      </p:sp>
      <p:sp>
        <p:nvSpPr>
          <p:cNvPr id="9" name="">
            <a:extLst xmlns:a="http://schemas.openxmlformats.org/drawingml/2006/main">
              <a:ext uri="{FF2B5EF4-FFF2-40B4-BE49-F238E27FC236}">
                <a16:creationId xmlns:a16="http://schemas.microsoft.com/office/drawing/2014/main" id="{7D291E5A-68CD-4481-BD65-EFEA0F3BBBB5}"/>
              </a:ext>
            </a:extLst>
          </p:cNvPr>
          <p:cNvSpPr>
            <a:spLocks xmlns:a="http://schemas.openxmlformats.org/drawingml/2006/main" noGrp="1"/>
          </p:cNvSpPr>
          <p:nvPr/>
        </p:nvSpPr>
        <p:spPr>
          <a:xfrm xmlns:a="http://schemas.openxmlformats.org/drawingml/2006/main">
            <a:off x="552450" y="494347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D18AC7"/>
                </a:solidFill>
                <a:latin typeface="Arial"/>
                <a:ea typeface="Arial"/>
                <a:cs typeface="Arial"/>
              </a:defRPr>
            </a:defPPr>
          </a:lstStyle>
          <a:p xmlns:a="http://schemas.openxmlformats.org/drawingml/2006/main">
            <a:pPr>
              <a:defRPr sz="2025" b="1">
                <a:solidFill>
                  <a:srgbClr val="D18AC7"/>
                </a:solidFill>
                <a:latin typeface="Arial"/>
                <a:ea typeface="Arial"/>
                <a:cs typeface="Arial"/>
              </a:defRPr>
            </a:pPr>
            <a:r>
              <a:rPr sz="2025" b="1">
                <a:solidFill>
                  <a:srgbClr val="D18AC7"/>
                </a:solidFill>
                <a:latin typeface="Arial"/>
                <a:ea typeface="Arial"/>
                <a:cs typeface="Arial"/>
              </a:rPr>
              <a:t>Visual exploration</a:t>
            </a:r>
          </a:p>
        </p:txBody>
      </p:sp>
      <p:sp>
        <p:nvSpPr>
          <p:cNvPr id="10" name="">
            <a:extLst xmlns:a="http://schemas.openxmlformats.org/drawingml/2006/main">
              <a:ext uri="{FF2B5EF4-FFF2-40B4-BE49-F238E27FC236}">
                <a16:creationId xmlns:a16="http://schemas.microsoft.com/office/drawing/2014/main" id="{6175D98D-D32D-4265-957B-E61C40EE3676}"/>
              </a:ext>
            </a:extLst>
          </p:cNvPr>
          <p:cNvSpPr>
            <a:spLocks xmlns:a="http://schemas.openxmlformats.org/drawingml/2006/main" noGrp="1"/>
          </p:cNvSpPr>
          <p:nvPr/>
        </p:nvSpPr>
        <p:spPr>
          <a:xfrm xmlns:a="http://schemas.openxmlformats.org/drawingml/2006/main">
            <a:off x="3886200" y="494347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Try Spline, then test the published result.</a:t>
            </a:r>
          </a:p>
        </p:txBody>
      </p:sp>
    </p:spTree>
    <p:extLst>
      <p:ext uri="{BB962C8B-B14F-4D97-AF65-F5344CB8AC3E}">
        <p14:creationId xmlns:p14="http://schemas.microsoft.com/office/powerpoint/2010/main" val="10106907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2026-10-09T10:31:35.4260000Z</dcterms:created>
  <dcterms:modified xsi:type="dcterms:W3CDTF">2026-10-09T10:31:35.4260000Z</dcterms:modified>
</coreProperties>
</file>