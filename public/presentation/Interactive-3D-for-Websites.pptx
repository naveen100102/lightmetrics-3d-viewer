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31cc8b5796f4228" /><Relationship Type="http://schemas.openxmlformats.org/officeDocument/2006/relationships/extended-properties" Target="/docProps/app.xml" Id="R7bc00fb42bc64a33" /><Relationship Type="http://schemas.openxmlformats.org/officeDocument/2006/relationships/officeDocument" Target="/ppt/presentation.xml" Id="R511e78132c874e07" /></Relationships>
</file>

<file path=ppt/presentation.xml><?xml version="1.0" encoding="utf-8"?>
<p:presentation xmlns:p="http://schemas.openxmlformats.org/presentationml/2006/main">
  <p:sldMasterIdLst>
    <p:sldMasterId xmlns:r="http://schemas.openxmlformats.org/officeDocument/2006/relationships" id="2147483648" r:id="R66d17e8de2154850"/>
  </p:sldMasterIdLst>
  <p:notesMasterIdLst>
    <p:notesMasterId xmlns:r="http://schemas.openxmlformats.org/officeDocument/2006/relationships" r:id="R532ac4574be34d7f"/>
  </p:notesMasterIdLst>
  <p:sldIdLst>
    <p:sldId xmlns:r="http://schemas.openxmlformats.org/officeDocument/2006/relationships" id="256" r:id="Rcab4b59de79648a5"/>
    <p:sldId xmlns:r="http://schemas.openxmlformats.org/officeDocument/2006/relationships" id="257" r:id="R102224d9f99a48d1"/>
    <p:sldId xmlns:r="http://schemas.openxmlformats.org/officeDocument/2006/relationships" id="258" r:id="R0be253b8246b47e6"/>
    <p:sldId xmlns:r="http://schemas.openxmlformats.org/officeDocument/2006/relationships" id="259" r:id="Re15e695db1e641b3"/>
    <p:sldId xmlns:r="http://schemas.openxmlformats.org/officeDocument/2006/relationships" id="260" r:id="Rb9864d1d802340e9"/>
    <p:sldId xmlns:r="http://schemas.openxmlformats.org/officeDocument/2006/relationships" id="261" r:id="Rbff391c6b9234a2c"/>
    <p:sldId xmlns:r="http://schemas.openxmlformats.org/officeDocument/2006/relationships" id="262" r:id="R772aa5e0e7794aca"/>
    <p:sldId xmlns:r="http://schemas.openxmlformats.org/officeDocument/2006/relationships" id="263" r:id="R659e062c57ce4e11"/>
    <p:sldId xmlns:r="http://schemas.openxmlformats.org/officeDocument/2006/relationships" id="264" r:id="Rcce99d1fa28d41cf"/>
    <p:sldId xmlns:r="http://schemas.openxmlformats.org/officeDocument/2006/relationships" id="265" r:id="R8932f6f7ba5948b4"/>
    <p:sldId xmlns:r="http://schemas.openxmlformats.org/officeDocument/2006/relationships" id="266" r:id="Rfc394fe2f83a4850"/>
    <p:sldId xmlns:r="http://schemas.openxmlformats.org/officeDocument/2006/relationships" id="267" r:id="R502ebed7951c4358"/>
    <p:sldId xmlns:r="http://schemas.openxmlformats.org/officeDocument/2006/relationships" id="268" r:id="R23ad4a5487064ae5"/>
    <p:sldId xmlns:r="http://schemas.openxmlformats.org/officeDocument/2006/relationships" id="269" r:id="R123cc513d3b44b5e"/>
    <p:sldId xmlns:r="http://schemas.openxmlformats.org/officeDocument/2006/relationships" id="270" r:id="R924847693e3f4a5f"/>
    <p:sldId xmlns:r="http://schemas.openxmlformats.org/officeDocument/2006/relationships" id="271" r:id="Rc2ea802975344e70"/>
    <p:sldId xmlns:r="http://schemas.openxmlformats.org/officeDocument/2006/relationships" id="272" r:id="R13c0d80252ae4075"/>
    <p:sldId xmlns:r="http://schemas.openxmlformats.org/officeDocument/2006/relationships" id="273" r:id="R291802a392394496"/>
    <p:sldId xmlns:r="http://schemas.openxmlformats.org/officeDocument/2006/relationships" id="274" r:id="Rd44bcb7df78b43ef"/>
    <p:sldId xmlns:r="http://schemas.openxmlformats.org/officeDocument/2006/relationships" id="275" r:id="Rd295bd316a654657"/>
    <p:sldId xmlns:r="http://schemas.openxmlformats.org/officeDocument/2006/relationships" id="276" r:id="Rbb63a5f8676b4fd7"/>
    <p:sldId xmlns:r="http://schemas.openxmlformats.org/officeDocument/2006/relationships" id="277" r:id="R1850685f75744ee1"/>
    <p:sldId xmlns:r="http://schemas.openxmlformats.org/officeDocument/2006/relationships" id="278" r:id="Rfc97321f5e4b48f1"/>
    <p:sldId xmlns:r="http://schemas.openxmlformats.org/officeDocument/2006/relationships" id="279" r:id="R679b3b35a7ac4cf2"/>
    <p:sldId xmlns:r="http://schemas.openxmlformats.org/officeDocument/2006/relationships" id="280" r:id="R264bd900a20b48b4"/>
    <p:sldId xmlns:r="http://schemas.openxmlformats.org/officeDocument/2006/relationships" id="281" r:id="Raf36d56ba3134362"/>
    <p:sldId xmlns:r="http://schemas.openxmlformats.org/officeDocument/2006/relationships" id="282" r:id="R71d8fc5d2dba4733"/>
    <p:sldId xmlns:r="http://schemas.openxmlformats.org/officeDocument/2006/relationships" id="283" r:id="Rae02eee09e644c7e"/>
    <p:sldId xmlns:r="http://schemas.openxmlformats.org/officeDocument/2006/relationships" id="284" r:id="Re213d889765745c5"/>
    <p:sldId xmlns:r="http://schemas.openxmlformats.org/officeDocument/2006/relationships" id="285" r:id="Rd826de40f6a7498b"/>
    <p:sldId xmlns:r="http://schemas.openxmlformats.org/officeDocument/2006/relationships" id="286" r:id="Raabace33227d487b"/>
    <p:sldId xmlns:r="http://schemas.openxmlformats.org/officeDocument/2006/relationships" id="287" r:id="R8a4e07bac8e4496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07658532e464bc0" /><Relationship Type="http://schemas.openxmlformats.org/officeDocument/2006/relationships/slideMaster" Target="/ppt/slideMasters/slideMaster1.xml" Id="R66d17e8de2154850" /><Relationship Type="http://schemas.openxmlformats.org/officeDocument/2006/relationships/notesMaster" Target="/ppt/notesMasters/notesMaster1.xml" Id="R532ac4574be34d7f" /><Relationship Type="http://schemas.openxmlformats.org/officeDocument/2006/relationships/presProps" Target="/ppt/presProps.xml" Id="R463e33926f0e44eb" /><Relationship Type="http://schemas.openxmlformats.org/officeDocument/2006/relationships/tableStyles" Target="/ppt/tableStyles.xml" Id="Rd54ba9aa770341d2" /><Relationship Type="http://schemas.openxmlformats.org/officeDocument/2006/relationships/slide" Target="/ppt/slides/slide1.xml" Id="Rcab4b59de79648a5" /><Relationship Type="http://schemas.openxmlformats.org/officeDocument/2006/relationships/slide" Target="/ppt/slides/slide2.xml" Id="R102224d9f99a48d1" /><Relationship Type="http://schemas.openxmlformats.org/officeDocument/2006/relationships/slide" Target="/ppt/slides/slide3.xml" Id="R0be253b8246b47e6" /><Relationship Type="http://schemas.openxmlformats.org/officeDocument/2006/relationships/slide" Target="/ppt/slides/slide4.xml" Id="Re15e695db1e641b3" /><Relationship Type="http://schemas.openxmlformats.org/officeDocument/2006/relationships/slide" Target="/ppt/slides/slide5.xml" Id="Rb9864d1d802340e9" /><Relationship Type="http://schemas.openxmlformats.org/officeDocument/2006/relationships/slide" Target="/ppt/slides/slide6.xml" Id="Rbff391c6b9234a2c" /><Relationship Type="http://schemas.openxmlformats.org/officeDocument/2006/relationships/slide" Target="/ppt/slides/slide7.xml" Id="R772aa5e0e7794aca" /><Relationship Type="http://schemas.openxmlformats.org/officeDocument/2006/relationships/slide" Target="/ppt/slides/slide8.xml" Id="R659e062c57ce4e11" /><Relationship Type="http://schemas.openxmlformats.org/officeDocument/2006/relationships/slide" Target="/ppt/slides/slide9.xml" Id="Rcce99d1fa28d41cf" /><Relationship Type="http://schemas.openxmlformats.org/officeDocument/2006/relationships/slide" Target="/ppt/slides/slide10.xml" Id="R8932f6f7ba5948b4" /><Relationship Type="http://schemas.openxmlformats.org/officeDocument/2006/relationships/slide" Target="/ppt/slides/slide11.xml" Id="Rfc394fe2f83a4850" /><Relationship Type="http://schemas.openxmlformats.org/officeDocument/2006/relationships/slide" Target="/ppt/slides/slide12.xml" Id="R502ebed7951c4358" /><Relationship Type="http://schemas.openxmlformats.org/officeDocument/2006/relationships/slide" Target="/ppt/slides/slide13.xml" Id="R23ad4a5487064ae5" /><Relationship Type="http://schemas.openxmlformats.org/officeDocument/2006/relationships/slide" Target="/ppt/slides/slide14.xml" Id="R123cc513d3b44b5e" /><Relationship Type="http://schemas.openxmlformats.org/officeDocument/2006/relationships/slide" Target="/ppt/slides/slide15.xml" Id="R924847693e3f4a5f" /><Relationship Type="http://schemas.openxmlformats.org/officeDocument/2006/relationships/slide" Target="/ppt/slides/slide16.xml" Id="Rc2ea802975344e70" /><Relationship Type="http://schemas.openxmlformats.org/officeDocument/2006/relationships/slide" Target="/ppt/slides/slide17.xml" Id="R13c0d80252ae4075" /><Relationship Type="http://schemas.openxmlformats.org/officeDocument/2006/relationships/slide" Target="/ppt/slides/slide18.xml" Id="R291802a392394496" /><Relationship Type="http://schemas.openxmlformats.org/officeDocument/2006/relationships/slide" Target="/ppt/slides/slide19.xml" Id="Rd44bcb7df78b43ef" /><Relationship Type="http://schemas.openxmlformats.org/officeDocument/2006/relationships/slide" Target="/ppt/slides/slide20.xml" Id="Rd295bd316a654657" /><Relationship Type="http://schemas.openxmlformats.org/officeDocument/2006/relationships/slide" Target="/ppt/slides/slide21.xml" Id="Rbb63a5f8676b4fd7" /><Relationship Type="http://schemas.openxmlformats.org/officeDocument/2006/relationships/slide" Target="/ppt/slides/slide22.xml" Id="R1850685f75744ee1" /><Relationship Type="http://schemas.openxmlformats.org/officeDocument/2006/relationships/slide" Target="/ppt/slides/slide23.xml" Id="Rfc97321f5e4b48f1" /><Relationship Type="http://schemas.openxmlformats.org/officeDocument/2006/relationships/slide" Target="/ppt/slides/slide24.xml" Id="R679b3b35a7ac4cf2" /><Relationship Type="http://schemas.openxmlformats.org/officeDocument/2006/relationships/slide" Target="/ppt/slides/slide25.xml" Id="R264bd900a20b48b4" /><Relationship Type="http://schemas.openxmlformats.org/officeDocument/2006/relationships/slide" Target="/ppt/slides/slide26.xml" Id="Raf36d56ba3134362" /><Relationship Type="http://schemas.openxmlformats.org/officeDocument/2006/relationships/slide" Target="/ppt/slides/slide27.xml" Id="R71d8fc5d2dba4733" /><Relationship Type="http://schemas.openxmlformats.org/officeDocument/2006/relationships/slide" Target="/ppt/slides/slide28.xml" Id="Rae02eee09e644c7e" /><Relationship Type="http://schemas.openxmlformats.org/officeDocument/2006/relationships/slide" Target="/ppt/slides/slide29.xml" Id="Re213d889765745c5" /><Relationship Type="http://schemas.openxmlformats.org/officeDocument/2006/relationships/slide" Target="/ppt/slides/slide30.xml" Id="Rd826de40f6a7498b" /><Relationship Type="http://schemas.openxmlformats.org/officeDocument/2006/relationships/slide" Target="/ppt/slides/slide31.xml" Id="Raabace33227d487b" /><Relationship Type="http://schemas.openxmlformats.org/officeDocument/2006/relationships/slide" Target="/ppt/slides/slide32.xml" Id="R8a4e07bac8e4496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e4a9619af4048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786f046506447d3" /><Relationship Type="http://schemas.openxmlformats.org/officeDocument/2006/relationships/notesMaster" Target="/ppt/notesMasters/notesMaster1.xml" Id="R98f8f9210d994f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99055545e28490e" /><Relationship Type="http://schemas.openxmlformats.org/officeDocument/2006/relationships/notesMaster" Target="/ppt/notesMasters/notesMaster1.xml" Id="Re1cdc9b355ab4e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ca219a052e974639" /><Relationship Type="http://schemas.openxmlformats.org/officeDocument/2006/relationships/notesMaster" Target="/ppt/notesMasters/notesMaster1.xml" Id="Raed9652570ae4d52" /></Relationships>
</file>

<file path=ppt/notesSlides/_rels/notesSlide4.xml.rels>&#65279;<?xml version="1.0" encoding="utf-8"?><Relationships xmlns="http://schemas.openxmlformats.org/package/2006/relationships"><Relationship Type="http://schemas.openxmlformats.org/officeDocument/2006/relationships/slide" Target="/ppt/slides/slide4.xml" Id="R10c09179ba904b55" /><Relationship Type="http://schemas.openxmlformats.org/officeDocument/2006/relationships/notesMaster" Target="/ppt/notesMasters/notesMaster1.xml" Id="R1ce160d6a7534bc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434646709d4a66" /><Relationship Type="http://schemas.openxmlformats.org/officeDocument/2006/relationships/notesMaster" Target="/ppt/notesMasters/notesMaster1.xml" Id="Rfa7a4f9378f8463d" /></Relationships>
</file>

<file path=ppt/notesSlides/_rels/notesSlide6.xml.rels>&#65279;<?xml version="1.0" encoding="utf-8"?><Relationships xmlns="http://schemas.openxmlformats.org/package/2006/relationships"><Relationship Type="http://schemas.openxmlformats.org/officeDocument/2006/relationships/slide" Target="/ppt/slides/slide6.xml" Id="R559579ad6dea44e1" /><Relationship Type="http://schemas.openxmlformats.org/officeDocument/2006/relationships/notesMaster" Target="/ppt/notesMasters/notesMaster1.xml" Id="Rc20c3f11251f41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45ed8a264bbf4440" /><Relationship Type="http://schemas.openxmlformats.org/officeDocument/2006/relationships/notesMaster" Target="/ppt/notesMasters/notesMaster1.xml" Id="R54407982e9244776" /></Relationships>
</file>

<file path=ppt/notesSlides/_rels/notesSlide8.xml.rels>&#65279;<?xml version="1.0" encoding="utf-8"?><Relationships xmlns="http://schemas.openxmlformats.org/package/2006/relationships"><Relationship Type="http://schemas.openxmlformats.org/officeDocument/2006/relationships/slide" Target="/ppt/slides/slide8.xml" Id="R73831200166445bb" /><Relationship Type="http://schemas.openxmlformats.org/officeDocument/2006/relationships/notesMaster" Target="/ppt/notesMasters/notesMaster1.xml" Id="Rda27fcf6252d43f0" /></Relationships>
</file>

<file path=ppt/notesSlides/_rels/notesSlide9.xml.rels>&#65279;<?xml version="1.0" encoding="utf-8"?><Relationships xmlns="http://schemas.openxmlformats.org/package/2006/relationships"><Relationship Type="http://schemas.openxmlformats.org/officeDocument/2006/relationships/slide" Target="/ppt/slides/slide9.xml" Id="R2282270b25f54738" /><Relationship Type="http://schemas.openxmlformats.org/officeDocument/2006/relationships/notesMaster" Target="/ppt/notesMasters/notesMaster1.xml" Id="R937c7b13c06a41e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1fed37892c146a6" /><Relationship Type="http://schemas.openxmlformats.org/officeDocument/2006/relationships/notesMaster" Target="/ppt/notesMasters/notesMaster1.xml" Id="R8611705182ab4fc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ad3ecd20c104c27" /><Relationship Type="http://schemas.openxmlformats.org/officeDocument/2006/relationships/notesMaster" Target="/ppt/notesMasters/notesMaster1.xml" Id="R95ae3a8ebbfc438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d877a67435645a8" /><Relationship Type="http://schemas.openxmlformats.org/officeDocument/2006/relationships/notesMaster" Target="/ppt/notesMasters/notesMaster1.xml" Id="R46b81d0527ed4fa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c8a31495cac46a7" /><Relationship Type="http://schemas.openxmlformats.org/officeDocument/2006/relationships/notesMaster" Target="/ppt/notesMasters/notesMaster1.xml" Id="R2d5970d99dcd46f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c5bc4b86d9a4cf9" /><Relationship Type="http://schemas.openxmlformats.org/officeDocument/2006/relationships/notesMaster" Target="/ppt/notesMasters/notesMaster1.xml" Id="R09bc96e10784427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13ae8c9817442a0" /><Relationship Type="http://schemas.openxmlformats.org/officeDocument/2006/relationships/notesMaster" Target="/ppt/notesMasters/notesMaster1.xml" Id="R8242b73a10b94fc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c49bd18812b4df1" /><Relationship Type="http://schemas.openxmlformats.org/officeDocument/2006/relationships/notesMaster" Target="/ppt/notesMasters/notesMaster1.xml" Id="R3736d50472e44b6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67e413bac854493" /><Relationship Type="http://schemas.openxmlformats.org/officeDocument/2006/relationships/notesMaster" Target="/ppt/notesMasters/notesMaster1.xml" Id="R569a70057a154ed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9a1028fc6fd40c5" /><Relationship Type="http://schemas.openxmlformats.org/officeDocument/2006/relationships/notesMaster" Target="/ppt/notesMasters/notesMaster1.xml" Id="R2f790b6a4b534b4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a71903c02054619" /><Relationship Type="http://schemas.openxmlformats.org/officeDocument/2006/relationships/notesMaster" Target="/ppt/notesMasters/notesMaster1.xml" Id="Rb9b9cac0cca84d8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15361bbff8040f0" /><Relationship Type="http://schemas.openxmlformats.org/officeDocument/2006/relationships/notesMaster" Target="/ppt/notesMasters/notesMaster1.xml" Id="R2a13f82ad2f0413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b90238d27214d1b" /><Relationship Type="http://schemas.openxmlformats.org/officeDocument/2006/relationships/notesMaster" Target="/ppt/notesMasters/notesMaster1.xml" Id="R33e3018ece5f47a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91b0fe56fd54df1" /><Relationship Type="http://schemas.openxmlformats.org/officeDocument/2006/relationships/notesMaster" Target="/ppt/notesMasters/notesMaster1.xml" Id="R2bc2e9889f6b446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2c4eba8a69149ec" /><Relationship Type="http://schemas.openxmlformats.org/officeDocument/2006/relationships/notesMaster" Target="/ppt/notesMasters/notesMaster1.xml" Id="R2e6b3bd32c94474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7d2155709154fe8" /><Relationship Type="http://schemas.openxmlformats.org/officeDocument/2006/relationships/notesMaster" Target="/ppt/notesMasters/notesMaster1.xml" Id="Rbf7508ee135b491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e5be712b23f44cf" /><Relationship Type="http://schemas.openxmlformats.org/officeDocument/2006/relationships/notesMaster" Target="/ppt/notesMasters/notesMaster1.xml" Id="Rf17c565de5004ba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6c2e3a0da224c27" /><Relationship Type="http://schemas.openxmlformats.org/officeDocument/2006/relationships/notesMaster" Target="/ppt/notesMasters/notesMaster1.xml" Id="R8d09fdc575d248f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99c1ea68c5545ab" /><Relationship Type="http://schemas.openxmlformats.org/officeDocument/2006/relationships/notesMaster" Target="/ppt/notesMasters/notesMaster1.xml" Id="R97c9bb4473e34b7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48cb4f2145c4e05" /><Relationship Type="http://schemas.openxmlformats.org/officeDocument/2006/relationships/notesMaster" Target="/ppt/notesMasters/notesMaster1.xml" Id="R90e6435668234e3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0885da94d8a4248" /><Relationship Type="http://schemas.openxmlformats.org/officeDocument/2006/relationships/notesMaster" Target="/ppt/notesMasters/notesMaster1.xml" Id="R4bb9e2b3f9d14fa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f3f03d859e7450e" /><Relationship Type="http://schemas.openxmlformats.org/officeDocument/2006/relationships/notesMaster" Target="/ppt/notesMasters/notesMaster1.xml" Id="Rdece21c293f6402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57f1c63b9324906" /><Relationship Type="http://schemas.openxmlformats.org/officeDocument/2006/relationships/notesMaster" Target="/ppt/notesMasters/notesMaster1.xml" Id="R35b177e5947a44a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9783116a2c44579" /><Relationship Type="http://schemas.openxmlformats.org/officeDocument/2006/relationships/notesMaster" Target="/ppt/notesMasters/notesMaster1.xml" Id="R4ecdb93f2b5b49a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shared vocabulary and a practical production guide. Read the core slides first. The final examples are optional developer detail. Research checked on 9 October 2026. Recommendations reflect the needs of a branded product website, not a universal ranking.</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audience route: everyone reads slides 1–10. Designers focus on 11–18 and 21–25. Artists and motion designers focus on 6–8 and 19–23. Developers also use the code appendix. No prior graphics programming knowledge is assumed.</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experience categories, not automatic features of every library. A 360-degree photo sequence only reveals captured views. A geometric 3D scene can show intermediate viewpoints if the model contains those surfaces.</a:t>
            </a:r>
          </a:p>
          <a:p xmlns:a="http://schemas.openxmlformats.org/drawingml/2006/main">
            <a:r>
              <a:t/>
            </a:r>
          </a:p>
          <a:p xmlns:a="http://schemas.openxmlformats.org/drawingml/2006/main">
            <a:r>
              <a:t>Sources:</a:t>
            </a:r>
          </a:p>
          <a:p xmlns:a="http://schemas.openxmlformats.org/drawingml/2006/main">
            <a:r>
              <a:t>https://threejs.org/manual/pages/creating-a-scene.html</a:t>
            </a:r>
          </a:p>
          <a:p xmlns:a="http://schemas.openxmlformats.org/drawingml/2006/main">
            <a:r>
              <a:t>https://modelviewer.dev/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this table from top to bottom. Blender is an authoring application. Three.js is a JavaScript library. WebGL is a browser graphics API. They can work together in a single project. React is optional. A browser engine still needs an HTML page and asset hosting.</a:t>
            </a:r>
          </a:p>
          <a:p xmlns:a="http://schemas.openxmlformats.org/drawingml/2006/main">
            <a:r>
              <a:t/>
            </a:r>
          </a:p>
          <a:p xmlns:a="http://schemas.openxmlformats.org/drawingml/2006/main">
            <a:r>
              <a:t>Sources:</a:t>
            </a:r>
          </a:p>
          <a:p xmlns:a="http://schemas.openxmlformats.org/drawingml/2006/main">
            <a:r>
              <a:t>https://docs.blender.org/manual/en/5.1/addons/import_export/scene_gltf2.html</a:t>
            </a:r>
          </a:p>
          <a:p xmlns:a="http://schemas.openxmlformats.org/drawingml/2006/main">
            <a:r>
              <a:t>https://www.khronos.org/gltf/</a:t>
            </a:r>
          </a:p>
          <a:p xmlns:a="http://schemas.openxmlformats.org/drawingml/2006/main">
            <a:r>
              <a:t>https://threejs.org/manual/pages/creating-a-scene.html</a:t>
            </a:r>
          </a:p>
          <a:p xmlns:a="http://schemas.openxmlformats.org/drawingml/2006/main">
            <a:r>
              <a:t>https://developer.mozilla.org/en-US/docs/Web/API/WebGL_API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mesh combines geometry with a material. A normal map can suggest fine surface relief without adding geometry, but does not repair the silhouette. A shader is a program used in rendering to calculate positions or colors. The GPU is the device processor specialized for parallel graphics work.</a:t>
            </a:r>
          </a:p>
          <a:p xmlns:a="http://schemas.openxmlformats.org/drawingml/2006/main">
            <a:r>
              <a:t/>
            </a:r>
          </a:p>
          <a:p xmlns:a="http://schemas.openxmlformats.org/drawingml/2006/main">
            <a:r>
              <a:t>Sources:</a:t>
            </a:r>
          </a:p>
          <a:p xmlns:a="http://schemas.openxmlformats.org/drawingml/2006/main">
            <a:r>
              <a:t>https://threejs.org/manual/pages/creating-a-scene.html</a:t>
            </a:r>
          </a:p>
          <a:p xmlns:a="http://schemas.openxmlformats.org/drawingml/2006/main">
            <a:r>
              <a:t>https://developer.mozilla.org/en-US/docs/Web/API/WebGL_API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UVs describe where a texture sits on the model. Baking converts a complex result into simpler textures or sampled animation. Keep an editable source file as well as the exported asset. The browser does not load a .blend scene directly through a standard GLB loader. Recommendation: use Blender to refine the product’s geometry before adjusting web lighting.</a:t>
            </a:r>
          </a:p>
          <a:p xmlns:a="http://schemas.openxmlformats.org/drawingml/2006/main">
            <a:r>
              <a:t/>
            </a:r>
          </a:p>
          <a:p xmlns:a="http://schemas.openxmlformats.org/drawingml/2006/main">
            <a:r>
              <a:t>Sources:</a:t>
            </a:r>
          </a:p>
          <a:p xmlns:a="http://schemas.openxmlformats.org/drawingml/2006/main">
            <a:r>
              <a:t>https://docs.blender.org/manual/en/5.1/addons/import_export/scene_gltf2.html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glTF is an open runtime asset delivery specification. GLB is its binary container. A GLB can include geometry and textures, but check whether an export references external resources. glTF supports selected material and animation features, not every feature of a digital content creation tool. A file extension alone does not guarantee low size or fast rendering.</a:t>
            </a:r>
          </a:p>
          <a:p xmlns:a="http://schemas.openxmlformats.org/drawingml/2006/main">
            <a:r>
              <a:t/>
            </a:r>
          </a:p>
          <a:p xmlns:a="http://schemas.openxmlformats.org/drawingml/2006/main">
            <a:r>
              <a:t>Sources:</a:t>
            </a:r>
          </a:p>
          <a:p xmlns:a="http://schemas.openxmlformats.org/drawingml/2006/main">
            <a:r>
              <a:t>https://www.khronos.org/gltf/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recommended production workflow. An artist should preserve features needed for interaction, such as a separately selectable lens or removable cover. Compression can reduce transfer size but has decoding cost and may require loader support. Keep the original uncompressed source. Recheck material appearance after conversion.</a:t>
            </a:r>
          </a:p>
          <a:p xmlns:a="http://schemas.openxmlformats.org/drawingml/2006/main">
            <a:r>
              <a:t/>
            </a:r>
          </a:p>
          <a:p xmlns:a="http://schemas.openxmlformats.org/drawingml/2006/main">
            <a:r>
              <a:t>Sources:</a:t>
            </a:r>
          </a:p>
          <a:p xmlns:a="http://schemas.openxmlformats.org/drawingml/2006/main">
            <a:r>
              <a:t>https://docs.blender.org/manual/en/5.1/addons/import_export/scene_gltf2.html</a:t>
            </a:r>
          </a:p>
          <a:p xmlns:a="http://schemas.openxmlformats.org/drawingml/2006/main">
            <a:r>
              <a:t>https://threejs.org/docs/pages/GLTFLoader.html</a:t>
            </a:r>
          </a:p>
          <a:p xmlns:a="http://schemas.openxmlformats.org/drawingml/2006/main">
            <a:r>
              <a:t>https://www.khronos.org/gltf/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WebGL is a browser API, not a modeling application or a ready-made viewer. Libraries usually handle its buffers, shader programs and drawing calls. Learn direct WebGL when you need graphics-engine expertise or a specialized renderer. For a conventional product viewer, a higher-level library is normally easier to maintain. WebGL availability depends on browser and hardware support.</a:t>
            </a:r>
          </a:p>
          <a:p xmlns:a="http://schemas.openxmlformats.org/drawingml/2006/main">
            <a:r>
              <a:t/>
            </a:r>
          </a:p>
          <a:p xmlns:a="http://schemas.openxmlformats.org/drawingml/2006/main">
            <a:r>
              <a:t>Sources:</a:t>
            </a:r>
          </a:p>
          <a:p xmlns:a="http://schemas.openxmlformats.org/drawingml/2006/main">
            <a:r>
              <a:t>https://developer.mozilla.org/en-US/docs/Web/API/WebGL_API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Three.js exposes reusable scene, camera, mesh, material and renderer objects. A developer combines them into the desired experience. Loading and control helpers reduce setup, but accessibility, error states and page behavior remain project work. Libraries do not automatically recreate a product accurately from its photograph.</a:t>
            </a:r>
          </a:p>
          <a:p xmlns:a="http://schemas.openxmlformats.org/drawingml/2006/main">
            <a:r>
              <a:t/>
            </a:r>
          </a:p>
          <a:p xmlns:a="http://schemas.openxmlformats.org/drawingml/2006/main">
            <a:r>
              <a:t>Sources:</a:t>
            </a:r>
          </a:p>
          <a:p xmlns:a="http://schemas.openxmlformats.org/drawingml/2006/main">
            <a:r>
              <a:t>https://threejs.org/manual/pages/creating-a-scene.html</a:t>
            </a:r>
          </a:p>
          <a:p xmlns:a="http://schemas.openxmlformats.org/drawingml/2006/main">
            <a:r>
              <a:t>https://threejs.org/docs/pages/GLTFLoader.html</a:t>
            </a:r>
          </a:p>
          <a:p xmlns:a="http://schemas.openxmlformats.org/drawingml/2006/main">
            <a:r>
              <a:t>https://threejs.org/docs/pages/OrbitControls.html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Effort is a qualitative recommendation, not a measured benchmark. Asset complexity and interaction requirements can dominate the work. A simple embed still needs optimized content, mobile testing and a fallback. Blender complements all these choices as an asset authoring tool.</a:t>
            </a:r>
          </a:p>
          <a:p xmlns:a="http://schemas.openxmlformats.org/drawingml/2006/main">
            <a:r>
              <a:t/>
            </a:r>
          </a:p>
          <a:p xmlns:a="http://schemas.openxmlformats.org/drawingml/2006/main">
            <a:r>
              <a:t>Sources:</a:t>
            </a:r>
          </a:p>
          <a:p xmlns:a="http://schemas.openxmlformats.org/drawingml/2006/main">
            <a:r>
              <a:t>https://modelviewer.dev/</a:t>
            </a:r>
          </a:p>
          <a:p xmlns:a="http://schemas.openxmlformats.org/drawingml/2006/main">
            <a:r>
              <a:t>https://docs.spline.design/exporting-your-scene/web/exporting-as-spline-viewer</a:t>
            </a:r>
          </a:p>
          <a:p xmlns:a="http://schemas.openxmlformats.org/drawingml/2006/main">
            <a:r>
              <a:t>https://r3f.docs.pmnd.rs/getting-started/introduction</a:t>
            </a:r>
          </a:p>
          <a:p xmlns:a="http://schemas.openxmlformats.org/drawingml/2006/main">
            <a:r>
              <a:t>https://www.babylonjs.com/</a:t>
            </a:r>
          </a:p>
          <a:p xmlns:a="http://schemas.openxmlformats.org/drawingml/2006/main">
            <a:r>
              <a:t>https://developer.playcanvas.com/user-manual/editor/</a:t>
            </a:r>
          </a:p>
          <a:p xmlns:a="http://schemas.openxmlformats.org/drawingml/2006/main">
            <a:r>
              <a:t>https://developer.mozilla.org/en-US/docs/Web/API/WebGPU_API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web component is a reusable HTML element with built-in behavior. model-viewer accepts glTF/GLB. It can expose product annotations and animation controls. AR may use WebXR, Scene Viewer or Quick Look depending on configuration and device. Verify the exact product flow on the target phones rather than assuming every AR mode works everywhere.</a:t>
            </a:r>
          </a:p>
          <a:p xmlns:a="http://schemas.openxmlformats.org/drawingml/2006/main">
            <a:r>
              <a:t/>
            </a:r>
          </a:p>
          <a:p xmlns:a="http://schemas.openxmlformats.org/drawingml/2006/main">
            <a:r>
              <a:t>Sources:</a:t>
            </a:r>
          </a:p>
          <a:p xmlns:a="http://schemas.openxmlformats.org/drawingml/2006/main">
            <a:r>
              <a:t>https://modelviewer.dev/</a:t>
            </a:r>
          </a:p>
          <a:p xmlns:a="http://schemas.openxmlformats.org/drawingml/2006/main">
            <a:r>
              <a:t>https://modelviewer.dev/docs/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Spline Viewer is an HTML web component. A public-URL iframe isolates interactions within its frame, while the viewer can support page-level events. This makes Spline useful for design-led exploration. For exact product modeling, evaluate the required modeling workflow and source assets. Pricing and branding restrictions change, so this deck deliberately avoids fixed subscription claims.</a:t>
            </a:r>
          </a:p>
          <a:p xmlns:a="http://schemas.openxmlformats.org/drawingml/2006/main">
            <a:r>
              <a:t/>
            </a:r>
          </a:p>
          <a:p xmlns:a="http://schemas.openxmlformats.org/drawingml/2006/main">
            <a:r>
              <a:t>Sources:</a:t>
            </a:r>
          </a:p>
          <a:p xmlns:a="http://schemas.openxmlformats.org/drawingml/2006/main">
            <a:r>
              <a:t>https://docs.spline.design/exporting-your-scene/web/exporting-as-spline-viewer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React Three Fiber is a React renderer for Three.js. It changes how scenes are authored and composed. It does not create the source model and does not make scene optimization unnecessary. Match compatible React, Fiber and Three.js versions. Prefer plain Three.js if introducing React would add complexity to a small existing non-React viewer.</a:t>
            </a:r>
          </a:p>
          <a:p xmlns:a="http://schemas.openxmlformats.org/drawingml/2006/main">
            <a:r>
              <a:t/>
            </a:r>
          </a:p>
          <a:p xmlns:a="http://schemas.openxmlformats.org/drawingml/2006/main">
            <a:r>
              <a:t>Sources:</a:t>
            </a:r>
          </a:p>
          <a:p xmlns:a="http://schemas.openxmlformats.org/drawingml/2006/main">
            <a:r>
              <a:t>https://r3f.docs.pmnd.rs/getting-started/introduction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can also build product viewers. Their appeal grows when the project needs richer scene management, animation or game-style capabilities. PlayCanvas offers editor workflows and publishing options. Babylon.js provides a broad engine and debugging tools. Prototype the hardest requirement in each shortlisted engine before committing. The best choice depends on team expertise and required features.</a:t>
            </a:r>
          </a:p>
          <a:p xmlns:a="http://schemas.openxmlformats.org/drawingml/2006/main">
            <a:r>
              <a:t/>
            </a:r>
          </a:p>
          <a:p xmlns:a="http://schemas.openxmlformats.org/drawingml/2006/main">
            <a:r>
              <a:t>Sources:</a:t>
            </a:r>
          </a:p>
          <a:p xmlns:a="http://schemas.openxmlformats.org/drawingml/2006/main">
            <a:r>
              <a:t>https://www.babylonjs.com/</a:t>
            </a:r>
          </a:p>
          <a:p xmlns:a="http://schemas.openxmlformats.org/drawingml/2006/main">
            <a:r>
              <a:t>https://developer.playcanvas.com/user-manual/editor/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WebGPU requires a secure context and availability varies across browsers, operating systems and devices. Faster performance is not automatic. The Three.js renderer documentation notes differences in features and workload performance relative to WebGLRenderer. Existing custom shader code may need adaptation. Use a static fallback if the chosen rendering path cannot initialize.</a:t>
            </a:r>
          </a:p>
          <a:p xmlns:a="http://schemas.openxmlformats.org/drawingml/2006/main">
            <a:r>
              <a:t/>
            </a:r>
          </a:p>
          <a:p xmlns:a="http://schemas.openxmlformats.org/drawingml/2006/main">
            <a:r>
              <a:t>Sources:</a:t>
            </a:r>
          </a:p>
          <a:p xmlns:a="http://schemas.openxmlformats.org/drawingml/2006/main">
            <a:r>
              <a:t>https://developer.mozilla.org/en-US/docs/Web/API/WebGPU_API</a:t>
            </a:r>
          </a:p>
          <a:p xmlns:a="http://schemas.openxmlformats.org/drawingml/2006/main">
            <a:r>
              <a:t>https://threejs.org/manual/pages/webgpurenderer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Recommendations: a video can be appropriate for a purely cinematic sequence. A photo spin can preserve photographed appearance when suitable source views exist. CSS perspective is useful for interface elements. WebXR is an API for immersive experiences rather than an asset authoring tool. For WebXR, check HTTPS, permissions and device capabilities.</a:t>
            </a:r>
          </a:p>
          <a:p xmlns:a="http://schemas.openxmlformats.org/drawingml/2006/main">
            <a:r>
              <a:t/>
            </a:r>
          </a:p>
          <a:p xmlns:a="http://schemas.openxmlformats.org/drawingml/2006/main">
            <a:r>
              <a:t>Sources:</a:t>
            </a:r>
          </a:p>
          <a:p xmlns:a="http://schemas.openxmlformats.org/drawingml/2006/main">
            <a:r>
              <a:t>https://developer.mozilla.org/en-US/docs/Web/API/WebXR_Device_API/Permissions_and_security</a:t>
            </a:r>
          </a:p>
          <a:p xmlns:a="http://schemas.openxmlformats.org/drawingml/2006/main">
            <a:r>
              <a:t>https://developer.mozilla.org/en-US/docs/Web/API/WebGL_API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synthesis of the documented capabilities and typical production needs. It is not a benchmark or feature ranking. Validate asset requirements, accessibility, maintenance, hosting and target-device performance before final selection.</a:t>
            </a:r>
          </a:p>
          <a:p xmlns:a="http://schemas.openxmlformats.org/drawingml/2006/main">
            <a:r>
              <a:t/>
            </a:r>
          </a:p>
          <a:p xmlns:a="http://schemas.openxmlformats.org/drawingml/2006/main">
            <a:r>
              <a:t>Sources:</a:t>
            </a:r>
          </a:p>
          <a:p xmlns:a="http://schemas.openxmlformats.org/drawingml/2006/main">
            <a:r>
              <a:t>https://modelviewer.dev/</a:t>
            </a:r>
          </a:p>
          <a:p xmlns:a="http://schemas.openxmlformats.org/drawingml/2006/main">
            <a:r>
              <a:t>https://threejs.org/manual/pages/creating-a-scene.html</a:t>
            </a:r>
          </a:p>
          <a:p xmlns:a="http://schemas.openxmlformats.org/drawingml/2006/main">
            <a:r>
              <a:t>https://r3f.docs.pmnd.rs/getting-started/introduction</a:t>
            </a:r>
          </a:p>
          <a:p xmlns:a="http://schemas.openxmlformats.org/drawingml/2006/main">
            <a:r>
              <a:t>https://docs.spline.design/exporting-your-scene/web/exporting-as-spline-viewer</a:t>
            </a:r>
          </a:p>
          <a:p xmlns:a="http://schemas.openxmlformats.org/drawingml/2006/main">
            <a:r>
              <a:t>https://www.babylonjs.com/</a:t>
            </a:r>
          </a:p>
          <a:p xmlns:a="http://schemas.openxmlformats.org/drawingml/2006/main">
            <a:r>
              <a:t>https://developer.playcanvas.com/user-manual/editor/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Exported glTF animation commonly includes transforms, skeletal motion and morph targets. Check unsupported animated properties and bake where appropriate. Specify triggers, duration, easing, interruption behavior and end states in the handoff. A useful rule is one clear purpose per movement. Reduced-motion users should still receive the same product information.</a:t>
            </a:r>
          </a:p>
          <a:p xmlns:a="http://schemas.openxmlformats.org/drawingml/2006/main">
            <a:r>
              <a:t/>
            </a:r>
          </a:p>
          <a:p xmlns:a="http://schemas.openxmlformats.org/drawingml/2006/main">
            <a:r>
              <a:t>Sources:</a:t>
            </a:r>
          </a:p>
          <a:p xmlns:a="http://schemas.openxmlformats.org/drawingml/2006/main">
            <a:r>
              <a:t>https://docs.blender.org/manual/en/5.1/addons/import_export/scene_gltf2.html</a:t>
            </a:r>
          </a:p>
          <a:p xmlns:a="http://schemas.openxmlformats.org/drawingml/2006/main">
            <a:r>
              <a:t>https://docs.spline.design/exporting-your-scene/web/exporting-as-spline-viewer</a:t>
            </a:r>
          </a:p>
          <a:p xmlns:a="http://schemas.openxmlformats.org/drawingml/2006/main">
            <a:r>
              <a:t>https://threejs.org/docs/pages/OrbitControls.html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Recommended collaboration model. Review together at the GLB stage and again in the live viewer. Include part names, model scale, preferred camera angle and any approved material variants. Keep screenshots of approved views to prevent the look drifting during optimization.</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lesson: a beautiful render of the wrong shape still misrepresents the product. A few images cannot reveal hidden surfaces or exact dimensions. Reference-based reconstruction requires assumptions. For higher fidelity, request additional orthographic views, measurements or CAD when available. This is a practical inference from image-based modeling, not a claim that an image uniquely determines geometry.</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 a budget based on the actual audience and devices. There is no universal polygon or megabyte limit that guarantees success. GPU texture memory can be much larger than the compressed download. Reusing geometry and materials can reduce overhead. Consider rendering only when the scene changes, and pause animation when it is offscreen.</a:t>
            </a:r>
          </a:p>
          <a:p xmlns:a="http://schemas.openxmlformats.org/drawingml/2006/main">
            <a:r>
              <a:t/>
            </a:r>
          </a:p>
          <a:p xmlns:a="http://schemas.openxmlformats.org/drawingml/2006/main">
            <a:r>
              <a:t>Sources:</a:t>
            </a:r>
          </a:p>
          <a:p xmlns:a="http://schemas.openxmlformats.org/drawingml/2006/main">
            <a:r>
              <a:t>https://developer.mozilla.org/en-US/docs/Web/API/WebGL_API/WebGL_best_practices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canvas alone does not expose the product information as ordinary accessible page content. Keep important descriptions in HTML. Avoid trapping touch scrolling. Test pointer, keyboard and touch separately. Keyboard and motion accessibility are implementation responsibilities even when a library supplies basic camera controls.</a:t>
            </a:r>
          </a:p>
          <a:p xmlns:a="http://schemas.openxmlformats.org/drawingml/2006/main">
            <a:r>
              <a:t/>
            </a:r>
          </a:p>
          <a:p xmlns:a="http://schemas.openxmlformats.org/drawingml/2006/main">
            <a:r>
              <a:t>Sources:</a:t>
            </a:r>
          </a:p>
          <a:p xmlns:a="http://schemas.openxmlformats.org/drawingml/2006/main">
            <a:r>
              <a:t>https://modelviewer.dev/docs/</a:t>
            </a:r>
          </a:p>
          <a:p xmlns:a="http://schemas.openxmlformats.org/drawingml/2006/main">
            <a:r>
              <a:t>https://threejs.org/docs/pages/OrbitControls.html</a:t>
            </a:r>
          </a:p>
          <a:p xmlns:a="http://schemas.openxmlformats.org/drawingml/2006/main">
            <a:r>
              <a:t>https://developer.mozilla.org/en-US/docs/Web/API/WebGL_API/WebGL_best_practices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iframe is often the simplest way to isolate an existing viewer. Direct integration gives closer access to page state and layout. Webflow supports custom HTML, CSS and JavaScript embeds subject to its product capabilities. Some code needs the published page to behave fully. Do not embed localhost in a public site. Use the deployed HTTPS viewer URL.</a:t>
            </a:r>
          </a:p>
          <a:p xmlns:a="http://schemas.openxmlformats.org/drawingml/2006/main">
            <a:r>
              <a:t/>
            </a:r>
          </a:p>
          <a:p xmlns:a="http://schemas.openxmlformats.org/drawingml/2006/main">
            <a:r>
              <a:t>Sources:</a:t>
            </a:r>
          </a:p>
          <a:p xmlns:a="http://schemas.openxmlformats.org/drawingml/2006/main">
            <a:r>
              <a:t>https://help.webflow.com/hc/en-us/articles/33961332238611-Custom-code-embed</a:t>
            </a:r>
          </a:p>
          <a:p xmlns:a="http://schemas.openxmlformats.org/drawingml/2006/main">
            <a:r>
              <a:t>https://docs.spline.design/exporting-your-scene/web/exporting-as-spline-viewer</a:t>
            </a:r>
          </a:p>
          <a:p xmlns:a="http://schemas.openxmlformats.org/drawingml/2006/main">
            <a:r>
              <a:t>https://modelviewer.dev/docs/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source reviewed: src/main.js imports createCameraModel from model.js, constructs the scene and uses OrbitControls. It imports GLTFExporter for download. This deck does not claim the current model was authored in Blender or exactly matches the product. Proposed next phase: approve the refined GLB in the existing viewer before replacing production assets. Screenshot is the project’s saved initial-view capture.</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practice sequence rather than a fixed training schedule. Avoid starting with a large scene or many effects. A shared reference model makes disagreements about geometry, lighting and interaction easier to identify. The code appendix shows minimal integration patterns, not complete production applications.</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Install and bundle @google/model-viewer, or load a version-pinned module URL following the official quick-start instructions. The /models and /images paths below must exist on the published host. Give the element a visible CSS size. This illustrative fragment assumes the component has already been registered. AR is deliberately omitted so the example focuses on browser viewing.</a:t>
            </a:r>
          </a:p>
          <a:p xmlns:a="http://schemas.openxmlformats.org/drawingml/2006/main">
            <a:r>
              <a:t/>
            </a:r>
          </a:p>
          <a:p xmlns:a="http://schemas.openxmlformats.org/drawingml/2006/main">
            <a:r>
              <a:t>Sources:</a:t>
            </a:r>
          </a:p>
          <a:p xmlns:a="http://schemas.openxmlformats.org/drawingml/2006/main">
            <a:r>
              <a:t>https://modelviewer.dev/docs/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Assumptions: a renderer, scene and camera already exist, and suitable lighting is configured. The camera must frame the model at its real scale. This fragment is illustrative and has not been packaged as a runnable app. Production work also needs resizing, loading state, cleanup and accessibility. For a static scene, use an on-demand rendering strategy if appropriate.</a:t>
            </a:r>
          </a:p>
          <a:p xmlns:a="http://schemas.openxmlformats.org/drawingml/2006/main">
            <a:r>
              <a:t/>
            </a:r>
          </a:p>
          <a:p xmlns:a="http://schemas.openxmlformats.org/drawingml/2006/main">
            <a:r>
              <a:t>Sources:</a:t>
            </a:r>
          </a:p>
          <a:p xmlns:a="http://schemas.openxmlformats.org/drawingml/2006/main">
            <a:r>
              <a:t>https://threejs.org/docs/pages/GLTFLoader.html</a:t>
            </a:r>
          </a:p>
          <a:p xmlns:a="http://schemas.openxmlformats.org/drawingml/2006/main">
            <a:r>
              <a:t>https://threejs.org/docs/pages/OrbitControls.html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the example URL with the real deployed viewer URL. Use a dedicated viewer layout if the hosted page includes its own header or surrounding content. Fullscreen permission does not grant WebXR permissions. If immersive AR is required, review the appropriate permission policy separately. Check that hosting headers permit embedding.</a:t>
            </a:r>
          </a:p>
          <a:p xmlns:a="http://schemas.openxmlformats.org/drawingml/2006/main">
            <a:r>
              <a:t/>
            </a:r>
          </a:p>
          <a:p xmlns:a="http://schemas.openxmlformats.org/drawingml/2006/main">
            <a:r>
              <a:t>Sources:</a:t>
            </a:r>
          </a:p>
          <a:p xmlns:a="http://schemas.openxmlformats.org/drawingml/2006/main">
            <a:r>
              <a:t>https://help.webflow.com/hc/en-us/articles/33961332238611-Custom-code-embed</a:t>
            </a:r>
          </a:p>
          <a:p xmlns:a="http://schemas.openxmlformats.org/drawingml/2006/main">
            <a:r>
              <a:t>https://developer.mozilla.org/en-US/docs/Web/API/WebXR_Device_API/Permissions_and_security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Direct links:</a:t>
            </a:r>
          </a:p>
          <a:p xmlns:a="http://schemas.openxmlformats.org/drawingml/2006/main">
            <a:r>
              <a:t>https://docs.blender.org/manual/en/5.1/addons/import_export/scene_gltf2.html</a:t>
            </a:r>
          </a:p>
          <a:p xmlns:a="http://schemas.openxmlformats.org/drawingml/2006/main">
            <a:r>
              <a:t>https://www.khronos.org/gltf/</a:t>
            </a:r>
          </a:p>
          <a:p xmlns:a="http://schemas.openxmlformats.org/drawingml/2006/main">
            <a:r>
              <a:t>https://threejs.org/manual/pages/creating-a-scene.html</a:t>
            </a:r>
          </a:p>
          <a:p xmlns:a="http://schemas.openxmlformats.org/drawingml/2006/main">
            <a:r>
              <a:t>https://threejs.org/docs/pages/GLTFLoader.html</a:t>
            </a:r>
          </a:p>
          <a:p xmlns:a="http://schemas.openxmlformats.org/drawingml/2006/main">
            <a:r>
              <a:t>https://threejs.org/docs/pages/OrbitControls.html</a:t>
            </a:r>
          </a:p>
          <a:p xmlns:a="http://schemas.openxmlformats.org/drawingml/2006/main">
            <a:r>
              <a:t>https://developer.mozilla.org/en-US/docs/Web/API/WebGL_API</a:t>
            </a:r>
          </a:p>
          <a:p xmlns:a="http://schemas.openxmlformats.org/drawingml/2006/main">
            <a:r>
              <a:t>https://developer.mozilla.org/en-US/docs/Web/API/WebGPU_API</a:t>
            </a:r>
          </a:p>
          <a:p xmlns:a="http://schemas.openxmlformats.org/drawingml/2006/main">
            <a:r>
              <a:t>https://threejs.org/manual/pages/webgpurenderer</a:t>
            </a:r>
          </a:p>
          <a:p xmlns:a="http://schemas.openxmlformats.org/drawingml/2006/main">
            <a:r>
              <a:t>https://developer.mozilla.org/en-US/docs/Web/API/WebGL_API/WebGL_best_practices</a:t>
            </a:r>
          </a:p>
          <a:p xmlns:a="http://schemas.openxmlformats.org/drawingml/2006/main">
            <a:r>
              <a:t/>
            </a:r>
          </a:p>
          <a:p xmlns:a="http://schemas.openxmlformats.org/drawingml/2006/main">
            <a:r>
              <a:t>Sources:</a:t>
            </a:r>
          </a:p>
          <a:p xmlns:a="http://schemas.openxmlformats.org/drawingml/2006/main">
            <a:r>
              <a:t>https://docs.blender.org/manual/en/5.1/addons/import_export/scene_gltf2.html</a:t>
            </a:r>
          </a:p>
          <a:p xmlns:a="http://schemas.openxmlformats.org/drawingml/2006/main">
            <a:r>
              <a:t>https://www.khronos.org/gltf/</a:t>
            </a:r>
          </a:p>
          <a:p xmlns:a="http://schemas.openxmlformats.org/drawingml/2006/main">
            <a:r>
              <a:t>https://threejs.org/manual/pages/creating-a-scene.html</a:t>
            </a:r>
          </a:p>
          <a:p xmlns:a="http://schemas.openxmlformats.org/drawingml/2006/main">
            <a:r>
              <a:t>https://developer.mozilla.org/en-US/docs/Web/API/WebGL_API</a:t>
            </a:r>
          </a:p>
          <a:p xmlns:a="http://schemas.openxmlformats.org/drawingml/2006/main">
            <a:r>
              <a:t>https://developer.mozilla.org/en-US/docs/Web/API/WebGPU_API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Direct links:</a:t>
            </a:r>
          </a:p>
          <a:p xmlns:a="http://schemas.openxmlformats.org/drawingml/2006/main">
            <a:r>
              <a:t>https://modelviewer.dev/</a:t>
            </a:r>
          </a:p>
          <a:p xmlns:a="http://schemas.openxmlformats.org/drawingml/2006/main">
            <a:r>
              <a:t>https://modelviewer.dev/docs/</a:t>
            </a:r>
          </a:p>
          <a:p xmlns:a="http://schemas.openxmlformats.org/drawingml/2006/main">
            <a:r>
              <a:t>https://docs.spline.design/exporting-your-scene/web/exporting-as-spline-viewer</a:t>
            </a:r>
          </a:p>
          <a:p xmlns:a="http://schemas.openxmlformats.org/drawingml/2006/main">
            <a:r>
              <a:t>https://r3f.docs.pmnd.rs/getting-started/introduction</a:t>
            </a:r>
          </a:p>
          <a:p xmlns:a="http://schemas.openxmlformats.org/drawingml/2006/main">
            <a:r>
              <a:t>https://www.babylonjs.com/</a:t>
            </a:r>
          </a:p>
          <a:p xmlns:a="http://schemas.openxmlformats.org/drawingml/2006/main">
            <a:r>
              <a:t>https://developer.playcanvas.com/user-manual/editor/</a:t>
            </a:r>
          </a:p>
          <a:p xmlns:a="http://schemas.openxmlformats.org/drawingml/2006/main">
            <a:r>
              <a:t>https://help.webflow.com/hc/en-us/articles/33961332238611-Custom-code-embed</a:t>
            </a:r>
          </a:p>
          <a:p xmlns:a="http://schemas.openxmlformats.org/drawingml/2006/main">
            <a:r>
              <a:t>https://developer.mozilla.org/en-US/docs/Web/API/WebXR_Device_API/Permissions_and_security</a:t>
            </a:r>
          </a:p>
          <a:p xmlns:a="http://schemas.openxmlformats.org/drawingml/2006/main">
            <a:r>
              <a:t>Research checked 9 October 2026. Browser support, pricing and export capabilities may change.</a:t>
            </a:r>
          </a:p>
          <a:p xmlns:a="http://schemas.openxmlformats.org/drawingml/2006/main">
            <a:r>
              <a:t/>
            </a:r>
          </a:p>
          <a:p xmlns:a="http://schemas.openxmlformats.org/drawingml/2006/main">
            <a:r>
              <a:t>Sources:</a:t>
            </a:r>
          </a:p>
          <a:p xmlns:a="http://schemas.openxmlformats.org/drawingml/2006/main">
            <a:r>
              <a:t>https://modelviewer.dev/</a:t>
            </a:r>
          </a:p>
          <a:p xmlns:a="http://schemas.openxmlformats.org/drawingml/2006/main">
            <a:r>
              <a:t>https://docs.spline.design/exporting-your-scene/web/exporting-as-spline-viewer</a:t>
            </a:r>
          </a:p>
          <a:p xmlns:a="http://schemas.openxmlformats.org/drawingml/2006/main">
            <a:r>
              <a:t>https://r3f.docs.pmnd.rs/getting-started/introduction</a:t>
            </a:r>
          </a:p>
          <a:p xmlns:a="http://schemas.openxmlformats.org/drawingml/2006/main">
            <a:r>
              <a:t>https://www.babylonjs.com/</a:t>
            </a:r>
          </a:p>
          <a:p xmlns:a="http://schemas.openxmlformats.org/drawingml/2006/main">
            <a:r>
              <a:t>https://developer.playcanvas.com/user-manual/editor/</a:t>
            </a:r>
          </a:p>
          <a:p xmlns:a="http://schemas.openxmlformats.org/drawingml/2006/main">
            <a:r>
              <a:t>https://help.webflow.com/hc/en-us/articles/33961332238611-Custom-code-embed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Recommendations are tailored to the project and the comparisons in this guide. The final choice should account for maintainers, device support and the required interaction. Accurate geometry and a considerate user experience matter more than adding effects.</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f2df4aa8b7543f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5447325cf4c49a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00e2568f87f4da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09898d2ee954aa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bcf9e3c15d34d8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aedf1df3baa4d8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818C633-BF48-4914-806D-8B80827BC00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964FAB5-D4A4-4FC5-921E-7BD65EF0A73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8AE207E-7EB2-48FF-83A5-D32E04D08EB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8ACEC1-7F6F-43B2-8686-4ECACEA211E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FF89B1D-C785-4E91-9CB3-A8CFDDC968E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6519224-8CA3-4D34-B5B8-5C8C40A381F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A98FED2-0F40-44F9-A7E2-AB671638AC4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8DC05C3-9FC9-4DBE-B3EB-A1F63511A85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1FE0464-F431-4F87-8136-CF9F3AD5DF7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6891B90-D662-4F70-BA96-BA1CBD6E59B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bd4ca1690894646" /><Relationship Type="http://schemas.openxmlformats.org/officeDocument/2006/relationships/slideLayout" Target="/ppt/slideLayouts/slideLayout1.xml" Id="R46d1036244354a6e" /><Relationship Type="http://schemas.openxmlformats.org/officeDocument/2006/relationships/slideLayout" Target="/ppt/slideLayouts/slideLayout2.xml" Id="Rea569de191134bdb" /><Relationship Type="http://schemas.openxmlformats.org/officeDocument/2006/relationships/slideLayout" Target="/ppt/slideLayouts/slideLayout3.xml" Id="Rfe21a1def1f94d3e" /><Relationship Type="http://schemas.openxmlformats.org/officeDocument/2006/relationships/slideLayout" Target="/ppt/slideLayouts/slideLayout4.xml" Id="R97ff3fa947c64f3c" /><Relationship Type="http://schemas.openxmlformats.org/officeDocument/2006/relationships/slideLayout" Target="/ppt/slideLayouts/slideLayout5.xml" Id="Re446811752c44356" /><Relationship Type="http://schemas.openxmlformats.org/officeDocument/2006/relationships/slideLayout" Target="/ppt/slideLayouts/slideLayout6.xml" Id="R2610fa6dcab941f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d1036244354a6e"/>
    <p:sldLayoutId xmlns:r="http://schemas.openxmlformats.org/officeDocument/2006/relationships" id="2147483650" r:id="Rea569de191134bdb"/>
    <p:sldLayoutId xmlns:r="http://schemas.openxmlformats.org/officeDocument/2006/relationships" id="2147483651" r:id="Rfe21a1def1f94d3e"/>
    <p:sldLayoutId xmlns:r="http://schemas.openxmlformats.org/officeDocument/2006/relationships" id="2147483652" r:id="R97ff3fa947c64f3c"/>
    <p:sldLayoutId xmlns:r="http://schemas.openxmlformats.org/officeDocument/2006/relationships" id="2147483653" r:id="Re446811752c44356"/>
    <p:sldLayoutId xmlns:r="http://schemas.openxmlformats.org/officeDocument/2006/relationships" id="2147483654" r:id="R2610fa6dcab941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e8bcdd6deda4597" /><Relationship Type="http://schemas.openxmlformats.org/officeDocument/2006/relationships/notesSlide" Target="/ppt/notesSlides/notesSlide1.xml" Id="Re0a9c44695da45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3061d1d692446b8" /><Relationship Type="http://schemas.openxmlformats.org/officeDocument/2006/relationships/notesSlide" Target="/ppt/notesSlides/notesSlide2.xml" Id="Re068a862fb2045e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c26040737144b7a" /><Relationship Type="http://schemas.openxmlformats.org/officeDocument/2006/relationships/notesSlide" Target="/ppt/notesSlides/notesSlide3.xml" Id="Rac99ed2b5b244cc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d00226532324a1c" /><Relationship Type="http://schemas.openxmlformats.org/officeDocument/2006/relationships/notesSlide" Target="/ppt/notesSlides/notesSlide4.xml" Id="Rd9ed5ad1272a44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ba97b02c73c4cff" /><Relationship Type="http://schemas.openxmlformats.org/officeDocument/2006/relationships/notesSlide" Target="/ppt/notesSlides/notesSlide5.xml" Id="R39cd14b7ff5e426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9cf73509c0144bf" /><Relationship Type="http://schemas.openxmlformats.org/officeDocument/2006/relationships/image" Target="/ppt/media/image.png" Id="Ra16e1d6a92c344ce" /><Relationship Type="http://schemas.openxmlformats.org/officeDocument/2006/relationships/notesSlide" Target="/ppt/notesSlides/notesSlide6.xml" Id="Rdfedd801e7ba4a1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ef1197ffdf44791" /><Relationship Type="http://schemas.openxmlformats.org/officeDocument/2006/relationships/notesSlide" Target="/ppt/notesSlides/notesSlide7.xml" Id="Rd82e85f51c904f3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9e65439dd5946ba" /><Relationship Type="http://schemas.openxmlformats.org/officeDocument/2006/relationships/notesSlide" Target="/ppt/notesSlides/notesSlide8.xml" Id="R0ad615c3d7fb48c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bff375d38754c53" /><Relationship Type="http://schemas.openxmlformats.org/officeDocument/2006/relationships/notesSlide" Target="/ppt/notesSlides/notesSlide9.xml" Id="R96e0fbe0c84e479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321699ed07f48bb" /><Relationship Type="http://schemas.openxmlformats.org/officeDocument/2006/relationships/notesSlide" Target="/ppt/notesSlides/notesSlide10.xml" Id="R937fe2fb0aa646a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a8c066de6c34342" /><Relationship Type="http://schemas.openxmlformats.org/officeDocument/2006/relationships/notesSlide" Target="/ppt/notesSlides/notesSlide11.xml" Id="Re86ba8292f214a4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286efeea7e54c0f" /><Relationship Type="http://schemas.openxmlformats.org/officeDocument/2006/relationships/notesSlide" Target="/ppt/notesSlides/notesSlide12.xml" Id="Re979e8487200404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0fb407b95c744fd" /><Relationship Type="http://schemas.openxmlformats.org/officeDocument/2006/relationships/notesSlide" Target="/ppt/notesSlides/notesSlide13.xml" Id="R46f7c92f1c6245e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40197f928e34937" /><Relationship Type="http://schemas.openxmlformats.org/officeDocument/2006/relationships/notesSlide" Target="/ppt/notesSlides/notesSlide14.xml" Id="R00047958bfc9498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a68671d9fbd4591" /><Relationship Type="http://schemas.openxmlformats.org/officeDocument/2006/relationships/notesSlide" Target="/ppt/notesSlides/notesSlide15.xml" Id="R94527f74bc4d4c4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f89e0ddc18c4c25" /><Relationship Type="http://schemas.openxmlformats.org/officeDocument/2006/relationships/notesSlide" Target="/ppt/notesSlides/notesSlide16.xml" Id="R14058d3e080b402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745bcfd5cca4e06" /><Relationship Type="http://schemas.openxmlformats.org/officeDocument/2006/relationships/notesSlide" Target="/ppt/notesSlides/notesSlide17.xml" Id="R77e0fece02cc4b9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2cc89b71f4f46ef" /><Relationship Type="http://schemas.openxmlformats.org/officeDocument/2006/relationships/notesSlide" Target="/ppt/notesSlides/notesSlide18.xml" Id="R13e2e56f7827454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90f9750ea1a4af3" /><Relationship Type="http://schemas.openxmlformats.org/officeDocument/2006/relationships/notesSlide" Target="/ppt/notesSlides/notesSlide19.xml" Id="Ra17a6153eaaa447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e7366a7591e4354" /><Relationship Type="http://schemas.openxmlformats.org/officeDocument/2006/relationships/notesSlide" Target="/ppt/notesSlides/notesSlide20.xml" Id="R07bfebe9e5f2405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c24d4ae78444f38" /><Relationship Type="http://schemas.openxmlformats.org/officeDocument/2006/relationships/image" Target="/ppt/media/image2.png" Id="R1d818d34653042a6" /><Relationship Type="http://schemas.openxmlformats.org/officeDocument/2006/relationships/notesSlide" Target="/ppt/notesSlides/notesSlide21.xml" Id="Ra3f41a1d7443486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80fa2ebd3ff485a" /><Relationship Type="http://schemas.openxmlformats.org/officeDocument/2006/relationships/notesSlide" Target="/ppt/notesSlides/notesSlide22.xml" Id="Ree46a10f7e1f404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e85b124c1c7466b" /><Relationship Type="http://schemas.openxmlformats.org/officeDocument/2006/relationships/notesSlide" Target="/ppt/notesSlides/notesSlide23.xml" Id="R25d20bb9a394430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8c9dc92956240c6" /><Relationship Type="http://schemas.openxmlformats.org/officeDocument/2006/relationships/notesSlide" Target="/ppt/notesSlides/notesSlide24.xml" Id="R718d7e0889114b6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2777c9003e074ee8" /><Relationship Type="http://schemas.openxmlformats.org/officeDocument/2006/relationships/image" Target="/ppt/media/image.jpeg" Id="R5eb38e52b51c4dc9" /><Relationship Type="http://schemas.openxmlformats.org/officeDocument/2006/relationships/notesSlide" Target="/ppt/notesSlides/notesSlide25.xml" Id="Rd2dc1f3da183434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3b40650b4db481b" /><Relationship Type="http://schemas.openxmlformats.org/officeDocument/2006/relationships/notesSlide" Target="/ppt/notesSlides/notesSlide26.xml" Id="Rc45981c2b320409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14a0732819634843" /><Relationship Type="http://schemas.openxmlformats.org/officeDocument/2006/relationships/notesSlide" Target="/ppt/notesSlides/notesSlide27.xml" Id="Rab086db8848445e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33b5019d6484e12" /><Relationship Type="http://schemas.openxmlformats.org/officeDocument/2006/relationships/notesSlide" Target="/ppt/notesSlides/notesSlide28.xml" Id="R4f0d488cf3e1473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f6105776cc1a483e" /><Relationship Type="http://schemas.openxmlformats.org/officeDocument/2006/relationships/notesSlide" Target="/ppt/notesSlides/notesSlide29.xml" Id="R5d5a60a3f97547f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800bec2ca5104982" /><Relationship Type="http://schemas.openxmlformats.org/officeDocument/2006/relationships/notesSlide" Target="/ppt/notesSlides/notesSlide30.xml" Id="R8df1a338894f466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cdc8490c72904b7a" /><Relationship Type="http://schemas.openxmlformats.org/officeDocument/2006/relationships/notesSlide" Target="/ppt/notesSlides/notesSlide31.xml" Id="Rd869bfbd18e74e1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3097b0e141a245c5" /><Relationship Type="http://schemas.openxmlformats.org/officeDocument/2006/relationships/notesSlide" Target="/ppt/notesSlides/notesSlide32.xml" Id="R3b6abb896dac412e" /></Relationships>
</file>

<file path=ppt/slides/slide1.xml><?xml version="1.0" encoding="utf-8"?>
<p:sld xmlns:p="http://schemas.openxmlformats.org/presentationml/2006/main">
  <p:cSld>
    <p:bg>
      <p:bgPr>
        <a:solidFill xmlns:a="http://schemas.openxmlformats.org/drawingml/2006/main">
          <a:srgbClr val="15151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698343F-15BE-4233-8A9F-C5C2E0FE3EE3}"/>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BBBBB"/>
                </a:solidFill>
                <a:latin typeface="Arial"/>
                <a:ea typeface="Arial"/>
                <a:cs typeface="Arial"/>
              </a:defRPr>
            </a:defPPr>
          </a:lstStyle>
          <a:p xmlns:a="http://schemas.openxmlformats.org/drawingml/2006/main">
            <a:pPr>
              <a:defRPr sz="1125" b="0">
                <a:solidFill>
                  <a:srgbClr val="BBBBBB"/>
                </a:solidFill>
                <a:latin typeface="Arial"/>
                <a:ea typeface="Arial"/>
                <a:cs typeface="Arial"/>
              </a:defRPr>
            </a:pPr>
            <a:r>
              <a:rPr sz="1125" b="0">
                <a:solidFill>
                  <a:srgbClr val="BBBBBB"/>
                </a:solidFill>
                <a:latin typeface="Arial"/>
                <a:ea typeface="Arial"/>
                <a:cs typeface="Arial"/>
              </a:rPr>
              <a:t>LIGHTMETRICS   /   3D EXPLORATION</a:t>
            </a:r>
          </a:p>
        </p:txBody>
      </p:sp>
      <p:sp>
        <p:nvSpPr>
          <p:cNvPr id="2" name="">
            <a:extLst xmlns:a="http://schemas.openxmlformats.org/drawingml/2006/main">
              <a:ext uri="{FF2B5EF4-FFF2-40B4-BE49-F238E27FC236}">
                <a16:creationId xmlns:a16="http://schemas.microsoft.com/office/drawing/2014/main" id="{23E44F58-7540-435B-B2F7-3841BACDD218}"/>
              </a:ext>
            </a:extLst>
          </p:cNvPr>
          <p:cNvSpPr>
            <a:spLocks xmlns:a="http://schemas.openxmlformats.org/drawingml/2006/main" noGrp="1"/>
          </p:cNvSpPr>
          <p:nvPr/>
        </p:nvSpPr>
        <p:spPr>
          <a:xfrm xmlns:a="http://schemas.openxmlformats.org/drawingml/2006/main">
            <a:off x="11049000" y="2857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BBBBB"/>
                </a:solidFill>
                <a:latin typeface="Arial"/>
                <a:ea typeface="Arial"/>
                <a:cs typeface="Arial"/>
              </a:defRPr>
            </a:defPPr>
          </a:lstStyle>
          <a:p xmlns:a="http://schemas.openxmlformats.org/drawingml/2006/main">
            <a:pPr>
              <a:defRPr sz="1125" b="0">
                <a:solidFill>
                  <a:srgbClr val="BBBBBB"/>
                </a:solidFill>
                <a:latin typeface="Arial"/>
                <a:ea typeface="Arial"/>
                <a:cs typeface="Arial"/>
              </a:defRPr>
            </a:pPr>
            <a:r>
              <a:rPr sz="1125" b="0">
                <a:solidFill>
                  <a:srgbClr val="BBBBB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427F96E9-E3B8-4897-BB74-D152E7BD606E}"/>
              </a:ext>
            </a:extLst>
          </p:cNvPr>
          <p:cNvSpPr>
            <a:spLocks xmlns:a="http://schemas.openxmlformats.org/drawingml/2006/main" noGrp="1"/>
          </p:cNvSpPr>
          <p:nvPr/>
        </p:nvSpPr>
        <p:spPr>
          <a:xfrm xmlns:a="http://schemas.openxmlformats.org/drawingml/2006/main">
            <a:off x="533400" y="1524000"/>
            <a:ext cx="10477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000" b="0">
                <a:solidFill>
                  <a:srgbClr val="FFFFFF"/>
                </a:solidFill>
                <a:latin typeface="Arial"/>
                <a:ea typeface="Arial"/>
                <a:cs typeface="Arial"/>
              </a:defRPr>
            </a:defPPr>
          </a:lstStyle>
          <a:p xmlns:a="http://schemas.openxmlformats.org/drawingml/2006/main">
            <a:pPr>
              <a:defRPr sz="6000" b="0">
                <a:solidFill>
                  <a:srgbClr val="FFFFFF"/>
                </a:solidFill>
                <a:latin typeface="Arial"/>
                <a:ea typeface="Arial"/>
                <a:cs typeface="Arial"/>
              </a:defRPr>
            </a:pPr>
            <a:r>
              <a:rPr sz="6000" b="0">
                <a:solidFill>
                  <a:srgbClr val="FFFFFF"/>
                </a:solidFill>
                <a:latin typeface="Arial"/>
                <a:ea typeface="Arial"/>
                <a:cs typeface="Arial"/>
              </a:rPr>
              <a:t>Interactive 3D</a:t>
            </a:r>
          </a:p>
          <a:p xmlns:a="http://schemas.openxmlformats.org/drawingml/2006/main">
            <a:pPr>
              <a:defRPr sz="6000" b="0">
                <a:solidFill>
                  <a:srgbClr val="FFFFFF"/>
                </a:solidFill>
                <a:latin typeface="Arial"/>
                <a:ea typeface="Arial"/>
                <a:cs typeface="Arial"/>
              </a:defRPr>
            </a:pPr>
            <a:r>
              <a:rPr sz="6000" b="0">
                <a:solidFill>
                  <a:srgbClr val="FFFFFF"/>
                </a:solidFill>
                <a:latin typeface="Arial"/>
                <a:ea typeface="Arial"/>
                <a:cs typeface="Arial"/>
              </a:rPr>
              <a:t>for websites</a:t>
            </a:r>
          </a:p>
        </p:txBody>
      </p:sp>
      <p:sp>
        <p:nvSpPr>
          <p:cNvPr id="4" name="">
            <a:extLst xmlns:a="http://schemas.openxmlformats.org/drawingml/2006/main">
              <a:ext uri="{FF2B5EF4-FFF2-40B4-BE49-F238E27FC236}">
                <a16:creationId xmlns:a16="http://schemas.microsoft.com/office/drawing/2014/main" id="{76A9F3DF-3D0E-475E-B707-EFAC4822B590}"/>
              </a:ext>
            </a:extLst>
          </p:cNvPr>
          <p:cNvSpPr>
            <a:spLocks xmlns:a="http://schemas.openxmlformats.org/drawingml/2006/main" noGrp="1"/>
          </p:cNvSpPr>
          <p:nvPr/>
        </p:nvSpPr>
        <p:spPr>
          <a:xfrm xmlns:a="http://schemas.openxmlformats.org/drawingml/2006/main">
            <a:off x="571500" y="4000500"/>
            <a:ext cx="876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BBBBBB"/>
                </a:solidFill>
                <a:latin typeface="Arial"/>
                <a:ea typeface="Arial"/>
                <a:cs typeface="Arial"/>
              </a:defRPr>
            </a:defPPr>
          </a:lstStyle>
          <a:p xmlns:a="http://schemas.openxmlformats.org/drawingml/2006/main">
            <a:pPr>
              <a:defRPr sz="2175" b="0">
                <a:solidFill>
                  <a:srgbClr val="BBBBBB"/>
                </a:solidFill>
                <a:latin typeface="Arial"/>
                <a:ea typeface="Arial"/>
                <a:cs typeface="Arial"/>
              </a:defRPr>
            </a:pPr>
            <a:r>
              <a:rPr sz="2175" b="0">
                <a:solidFill>
                  <a:srgbClr val="BBBBBB"/>
                </a:solidFill>
                <a:latin typeface="Arial"/>
                <a:ea typeface="Arial"/>
                <a:cs typeface="Arial"/>
              </a:rPr>
              <a:t>A practical guide for designers, motion designers, 3D artists and developers</a:t>
            </a:r>
          </a:p>
        </p:txBody>
      </p:sp>
      <p:sp>
        <p:nvSpPr>
          <p:cNvPr id="5" name="">
            <a:extLst xmlns:a="http://schemas.openxmlformats.org/drawingml/2006/main">
              <a:ext uri="{FF2B5EF4-FFF2-40B4-BE49-F238E27FC236}">
                <a16:creationId xmlns:a16="http://schemas.microsoft.com/office/drawing/2014/main" id="{C160C03B-54B6-4CCA-8C33-27AA092F6E81}"/>
              </a:ext>
            </a:extLst>
          </p:cNvPr>
          <p:cNvSpPr>
            <a:spLocks xmlns:a="http://schemas.openxmlformats.org/drawingml/2006/main" noGrp="1"/>
          </p:cNvSpPr>
          <p:nvPr/>
        </p:nvSpPr>
        <p:spPr>
          <a:xfrm xmlns:a="http://schemas.openxmlformats.org/drawingml/2006/main">
            <a:off x="571500" y="58102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D18AC7"/>
                </a:solidFill>
                <a:latin typeface="Arial"/>
                <a:ea typeface="Arial"/>
                <a:cs typeface="Arial"/>
              </a:defRPr>
            </a:defPPr>
          </a:lstStyle>
          <a:p xmlns:a="http://schemas.openxmlformats.org/drawingml/2006/main">
            <a:pPr>
              <a:defRPr sz="1425" b="0">
                <a:solidFill>
                  <a:srgbClr val="D18AC7"/>
                </a:solidFill>
                <a:latin typeface="Arial"/>
                <a:ea typeface="Arial"/>
                <a:cs typeface="Arial"/>
              </a:defRPr>
            </a:pPr>
            <a:r>
              <a:rPr sz="1425" b="0">
                <a:solidFill>
                  <a:srgbClr val="D18AC7"/>
                </a:solidFill>
                <a:latin typeface="Arial"/>
                <a:ea typeface="Arial"/>
                <a:cs typeface="Arial"/>
              </a:rPr>
              <a:t>TOOLS, WORKFLOWS AND WEBSITE INTEGRATION</a:t>
            </a:r>
          </a:p>
        </p:txBody>
      </p:sp>
    </p:spTree>
    <p:extLst>
      <p:ext uri="{BB962C8B-B14F-4D97-AF65-F5344CB8AC3E}">
        <p14:creationId xmlns:p14="http://schemas.microsoft.com/office/powerpoint/2010/main" val="4638022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3AB4D27-398A-487A-A271-B9BF271FCEA8}"/>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LIGHTMETRICS   /   3D EXPLORATION</a:t>
            </a:r>
          </a:p>
        </p:txBody>
      </p:sp>
      <p:sp>
        <p:nvSpPr>
          <p:cNvPr id="2" name="">
            <a:extLst xmlns:a="http://schemas.openxmlformats.org/drawingml/2006/main">
              <a:ext uri="{FF2B5EF4-FFF2-40B4-BE49-F238E27FC236}">
                <a16:creationId xmlns:a16="http://schemas.microsoft.com/office/drawing/2014/main" id="{B0BDBACD-AAE9-4E48-A9DD-10F346374572}"/>
              </a:ext>
            </a:extLst>
          </p:cNvPr>
          <p:cNvSpPr>
            <a:spLocks xmlns:a="http://schemas.openxmlformats.org/drawingml/2006/main" noGrp="1"/>
          </p:cNvSpPr>
          <p:nvPr/>
        </p:nvSpPr>
        <p:spPr>
          <a:xfrm xmlns:a="http://schemas.openxmlformats.org/drawingml/2006/main">
            <a:off x="11049000" y="2857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D2DFD4FC-4D44-4414-BD09-6ECAA036591B}"/>
              </a:ext>
            </a:extLst>
          </p:cNvPr>
          <p:cNvSpPr>
            <a:spLocks xmlns:a="http://schemas.openxmlformats.org/drawingml/2006/main" noGrp="1"/>
          </p:cNvSpPr>
          <p:nvPr/>
        </p:nvSpPr>
        <p:spPr>
          <a:xfrm xmlns:a="http://schemas.openxmlformats.org/drawingml/2006/main">
            <a:off x="533400" y="89535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151515"/>
                </a:solidFill>
                <a:latin typeface="Arial"/>
                <a:ea typeface="Arial"/>
                <a:cs typeface="Arial"/>
              </a:defRPr>
            </a:defPPr>
          </a:lstStyle>
          <a:p xmlns:a="http://schemas.openxmlformats.org/drawingml/2006/main">
            <a:pPr>
              <a:defRPr sz="3300" b="0">
                <a:solidFill>
                  <a:srgbClr val="151515"/>
                </a:solidFill>
                <a:latin typeface="Arial"/>
                <a:ea typeface="Arial"/>
                <a:cs typeface="Arial"/>
              </a:defRPr>
            </a:pPr>
            <a:r>
              <a:rPr sz="3300" b="0">
                <a:solidFill>
                  <a:srgbClr val="151515"/>
                </a:solidFill>
                <a:latin typeface="Arial"/>
                <a:ea typeface="Arial"/>
                <a:cs typeface="Arial"/>
              </a:rPr>
              <a:t>The questions this guide answers</a:t>
            </a:r>
          </a:p>
        </p:txBody>
      </p:sp>
      <p:sp>
        <p:nvSpPr>
          <p:cNvPr id="4" name="">
            <a:extLst xmlns:a="http://schemas.openxmlformats.org/drawingml/2006/main">
              <a:ext uri="{FF2B5EF4-FFF2-40B4-BE49-F238E27FC236}">
                <a16:creationId xmlns:a16="http://schemas.microsoft.com/office/drawing/2014/main" id="{41C4D09E-9009-43C4-940E-774E75E3A7D7}"/>
              </a:ext>
            </a:extLst>
          </p:cNvPr>
          <p:cNvSpPr>
            <a:spLocks xmlns:a="http://schemas.openxmlformats.org/drawingml/2006/main" noGrp="1"/>
          </p:cNvSpPr>
          <p:nvPr/>
        </p:nvSpPr>
        <p:spPr>
          <a:xfrm xmlns:a="http://schemas.openxmlformats.org/drawingml/2006/main">
            <a:off x="552450" y="16764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6666"/>
                </a:solidFill>
                <a:latin typeface="Arial"/>
                <a:ea typeface="Arial"/>
                <a:cs typeface="Arial"/>
              </a:defRPr>
            </a:defPPr>
          </a:lstStyle>
          <a:p xmlns:a="http://schemas.openxmlformats.org/drawingml/2006/main">
            <a:pPr>
              <a:defRPr sz="1875" b="0">
                <a:solidFill>
                  <a:srgbClr val="666666"/>
                </a:solidFill>
                <a:latin typeface="Arial"/>
                <a:ea typeface="Arial"/>
                <a:cs typeface="Arial"/>
              </a:defRPr>
            </a:pPr>
            <a:r>
              <a:rPr sz="1875" b="0">
                <a:solidFill>
                  <a:srgbClr val="666666"/>
                </a:solidFill>
                <a:latin typeface="Arial"/>
                <a:ea typeface="Arial"/>
                <a:cs typeface="Arial"/>
              </a:rPr>
              <a:t>The experience comes first. The tools follow.</a:t>
            </a:r>
          </a:p>
        </p:txBody>
      </p:sp>
      <p:sp>
        <p:nvSpPr>
          <p:cNvPr id="5" name="">
            <a:extLst xmlns:a="http://schemas.openxmlformats.org/drawingml/2006/main">
              <a:ext uri="{FF2B5EF4-FFF2-40B4-BE49-F238E27FC236}">
                <a16:creationId xmlns:a16="http://schemas.microsoft.com/office/drawing/2014/main" id="{F89DBA69-6691-43E9-AB89-9E566A7B0CD0}"/>
              </a:ext>
            </a:extLst>
          </p:cNvPr>
          <p:cNvSpPr>
            <a:spLocks xmlns:a="http://schemas.openxmlformats.org/drawingml/2006/main" noGrp="1"/>
          </p:cNvSpPr>
          <p:nvPr/>
        </p:nvSpPr>
        <p:spPr>
          <a:xfrm xmlns:a="http://schemas.openxmlformats.org/drawingml/2006/main">
            <a:off x="552450" y="2600325"/>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01  Understand</a:t>
            </a:r>
          </a:p>
        </p:txBody>
      </p:sp>
      <p:sp>
        <p:nvSpPr>
          <p:cNvPr id="6" name="">
            <a:extLst xmlns:a="http://schemas.openxmlformats.org/drawingml/2006/main">
              <a:ext uri="{FF2B5EF4-FFF2-40B4-BE49-F238E27FC236}">
                <a16:creationId xmlns:a16="http://schemas.microsoft.com/office/drawing/2014/main" id="{5A5B2813-829F-4695-84CA-57DA05FE0C99}"/>
              </a:ext>
            </a:extLst>
          </p:cNvPr>
          <p:cNvSpPr>
            <a:spLocks xmlns:a="http://schemas.openxmlformats.org/drawingml/2006/main" noGrp="1"/>
          </p:cNvSpPr>
          <p:nvPr/>
        </p:nvSpPr>
        <p:spPr>
          <a:xfrm xmlns:a="http://schemas.openxmlformats.org/drawingml/2006/main">
            <a:off x="3886200" y="2600325"/>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What makes a website genuinely interactive in 3D?</a:t>
            </a:r>
          </a:p>
        </p:txBody>
      </p:sp>
      <p:sp>
        <p:nvSpPr>
          <p:cNvPr id="7" name="">
            <a:extLst xmlns:a="http://schemas.openxmlformats.org/drawingml/2006/main">
              <a:ext uri="{FF2B5EF4-FFF2-40B4-BE49-F238E27FC236}">
                <a16:creationId xmlns:a16="http://schemas.microsoft.com/office/drawing/2014/main" id="{05C2C8A8-AFDD-4DEC-BCDA-4E89C4FB7D4B}"/>
              </a:ext>
            </a:extLst>
          </p:cNvPr>
          <p:cNvSpPr>
            <a:spLocks xmlns:a="http://schemas.openxmlformats.org/drawingml/2006/main" noGrp="1"/>
          </p:cNvSpPr>
          <p:nvPr/>
        </p:nvSpPr>
        <p:spPr>
          <a:xfrm xmlns:a="http://schemas.openxmlformats.org/drawingml/2006/main">
            <a:off x="552450" y="3505200"/>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02  Compare</a:t>
            </a:r>
          </a:p>
        </p:txBody>
      </p:sp>
      <p:sp>
        <p:nvSpPr>
          <p:cNvPr id="8" name="">
            <a:extLst xmlns:a="http://schemas.openxmlformats.org/drawingml/2006/main">
              <a:ext uri="{FF2B5EF4-FFF2-40B4-BE49-F238E27FC236}">
                <a16:creationId xmlns:a16="http://schemas.microsoft.com/office/drawing/2014/main" id="{7E27730C-9FEC-4626-B00E-260F7E579622}"/>
              </a:ext>
            </a:extLst>
          </p:cNvPr>
          <p:cNvSpPr>
            <a:spLocks xmlns:a="http://schemas.openxmlformats.org/drawingml/2006/main" noGrp="1"/>
          </p:cNvSpPr>
          <p:nvPr/>
        </p:nvSpPr>
        <p:spPr>
          <a:xfrm xmlns:a="http://schemas.openxmlformats.org/drawingml/2006/main">
            <a:off x="3886200" y="3505200"/>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Where do Blender, Three.js and WebGL fit?</a:t>
            </a:r>
          </a:p>
        </p:txBody>
      </p:sp>
      <p:sp>
        <p:nvSpPr>
          <p:cNvPr id="9" name="">
            <a:extLst xmlns:a="http://schemas.openxmlformats.org/drawingml/2006/main">
              <a:ext uri="{FF2B5EF4-FFF2-40B4-BE49-F238E27FC236}">
                <a16:creationId xmlns:a16="http://schemas.microsoft.com/office/drawing/2014/main" id="{023C86B9-9484-4482-9FE8-8EE5D593B766}"/>
              </a:ext>
            </a:extLst>
          </p:cNvPr>
          <p:cNvSpPr>
            <a:spLocks xmlns:a="http://schemas.openxmlformats.org/drawingml/2006/main" noGrp="1"/>
          </p:cNvSpPr>
          <p:nvPr/>
        </p:nvSpPr>
        <p:spPr>
          <a:xfrm xmlns:a="http://schemas.openxmlformats.org/drawingml/2006/main">
            <a:off x="552450" y="4410075"/>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03  Produce</a:t>
            </a:r>
          </a:p>
        </p:txBody>
      </p:sp>
      <p:sp>
        <p:nvSpPr>
          <p:cNvPr id="10" name="">
            <a:extLst xmlns:a="http://schemas.openxmlformats.org/drawingml/2006/main">
              <a:ext uri="{FF2B5EF4-FFF2-40B4-BE49-F238E27FC236}">
                <a16:creationId xmlns:a16="http://schemas.microsoft.com/office/drawing/2014/main" id="{29DF0239-8CD6-4BEA-A33E-34CA8AF7A8F6}"/>
              </a:ext>
            </a:extLst>
          </p:cNvPr>
          <p:cNvSpPr>
            <a:spLocks xmlns:a="http://schemas.openxmlformats.org/drawingml/2006/main" noGrp="1"/>
          </p:cNvSpPr>
          <p:nvPr/>
        </p:nvSpPr>
        <p:spPr>
          <a:xfrm xmlns:a="http://schemas.openxmlformats.org/drawingml/2006/main">
            <a:off x="3886200" y="4410075"/>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How do assets, motion and code reach a live site?</a:t>
            </a:r>
          </a:p>
        </p:txBody>
      </p:sp>
      <p:sp>
        <p:nvSpPr>
          <p:cNvPr id="11" name="">
            <a:extLst xmlns:a="http://schemas.openxmlformats.org/drawingml/2006/main">
              <a:ext uri="{FF2B5EF4-FFF2-40B4-BE49-F238E27FC236}">
                <a16:creationId xmlns:a16="http://schemas.microsoft.com/office/drawing/2014/main" id="{55F83334-E217-44E2-9626-FEA552303103}"/>
              </a:ext>
            </a:extLst>
          </p:cNvPr>
          <p:cNvSpPr>
            <a:spLocks xmlns:a="http://schemas.openxmlformats.org/drawingml/2006/main" noGrp="1"/>
          </p:cNvSpPr>
          <p:nvPr/>
        </p:nvSpPr>
        <p:spPr>
          <a:xfrm xmlns:a="http://schemas.openxmlformats.org/drawingml/2006/main">
            <a:off x="552450" y="5314950"/>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04  Choose</a:t>
            </a:r>
          </a:p>
        </p:txBody>
      </p:sp>
      <p:sp>
        <p:nvSpPr>
          <p:cNvPr id="12" name="">
            <a:extLst xmlns:a="http://schemas.openxmlformats.org/drawingml/2006/main">
              <a:ext uri="{FF2B5EF4-FFF2-40B4-BE49-F238E27FC236}">
                <a16:creationId xmlns:a16="http://schemas.microsoft.com/office/drawing/2014/main" id="{4EBB5475-7EB1-4201-8978-53DB8B85208D}"/>
              </a:ext>
            </a:extLst>
          </p:cNvPr>
          <p:cNvSpPr>
            <a:spLocks xmlns:a="http://schemas.openxmlformats.org/drawingml/2006/main" noGrp="1"/>
          </p:cNvSpPr>
          <p:nvPr/>
        </p:nvSpPr>
        <p:spPr>
          <a:xfrm xmlns:a="http://schemas.openxmlformats.org/drawingml/2006/main">
            <a:off x="3886200" y="5314950"/>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Which approach fits your team and your project?</a:t>
            </a:r>
          </a:p>
        </p:txBody>
      </p:sp>
    </p:spTree>
    <p:extLst>
      <p:ext uri="{BB962C8B-B14F-4D97-AF65-F5344CB8AC3E}">
        <p14:creationId xmlns:p14="http://schemas.microsoft.com/office/powerpoint/2010/main" val="18351240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510F9BE-8121-41EF-B20E-6C557BD8B7BC}"/>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LIGHTMETRICS   /   3D EXPLORATION</a:t>
            </a:r>
          </a:p>
        </p:txBody>
      </p:sp>
      <p:sp>
        <p:nvSpPr>
          <p:cNvPr id="2" name="">
            <a:extLst xmlns:a="http://schemas.openxmlformats.org/drawingml/2006/main">
              <a:ext uri="{FF2B5EF4-FFF2-40B4-BE49-F238E27FC236}">
                <a16:creationId xmlns:a16="http://schemas.microsoft.com/office/drawing/2014/main" id="{A70F6979-E7DC-4418-9920-932AAC168BE3}"/>
              </a:ext>
            </a:extLst>
          </p:cNvPr>
          <p:cNvSpPr>
            <a:spLocks xmlns:a="http://schemas.openxmlformats.org/drawingml/2006/main" noGrp="1"/>
          </p:cNvSpPr>
          <p:nvPr/>
        </p:nvSpPr>
        <p:spPr>
          <a:xfrm xmlns:a="http://schemas.openxmlformats.org/drawingml/2006/main">
            <a:off x="11049000" y="2857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0F9C4DD8-4DAD-438E-9CBB-9899BAA449B2}"/>
              </a:ext>
            </a:extLst>
          </p:cNvPr>
          <p:cNvSpPr>
            <a:spLocks xmlns:a="http://schemas.openxmlformats.org/drawingml/2006/main" noGrp="1"/>
          </p:cNvSpPr>
          <p:nvPr/>
        </p:nvSpPr>
        <p:spPr>
          <a:xfrm xmlns:a="http://schemas.openxmlformats.org/drawingml/2006/main">
            <a:off x="533400" y="89535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151515"/>
                </a:solidFill>
                <a:latin typeface="Arial"/>
                <a:ea typeface="Arial"/>
                <a:cs typeface="Arial"/>
              </a:defRPr>
            </a:defPPr>
          </a:lstStyle>
          <a:p xmlns:a="http://schemas.openxmlformats.org/drawingml/2006/main">
            <a:pPr>
              <a:defRPr sz="3300" b="0">
                <a:solidFill>
                  <a:srgbClr val="151515"/>
                </a:solidFill>
                <a:latin typeface="Arial"/>
                <a:ea typeface="Arial"/>
                <a:cs typeface="Arial"/>
              </a:defRPr>
            </a:pPr>
            <a:r>
              <a:rPr sz="3300" b="0">
                <a:solidFill>
                  <a:srgbClr val="151515"/>
                </a:solidFill>
                <a:latin typeface="Arial"/>
                <a:ea typeface="Arial"/>
                <a:cs typeface="Arial"/>
              </a:rPr>
              <a:t>What interactive 3D adds</a:t>
            </a:r>
          </a:p>
        </p:txBody>
      </p:sp>
      <p:sp>
        <p:nvSpPr>
          <p:cNvPr id="4" name="">
            <a:extLst xmlns:a="http://schemas.openxmlformats.org/drawingml/2006/main">
              <a:ext uri="{FF2B5EF4-FFF2-40B4-BE49-F238E27FC236}">
                <a16:creationId xmlns:a16="http://schemas.microsoft.com/office/drawing/2014/main" id="{1E8DF0C3-FA15-4282-BCB7-CAFF46A7EE69}"/>
              </a:ext>
            </a:extLst>
          </p:cNvPr>
          <p:cNvSpPr>
            <a:spLocks xmlns:a="http://schemas.openxmlformats.org/drawingml/2006/main" noGrp="1"/>
          </p:cNvSpPr>
          <p:nvPr/>
        </p:nvSpPr>
        <p:spPr>
          <a:xfrm xmlns:a="http://schemas.openxmlformats.org/drawingml/2006/main">
            <a:off x="552450" y="16764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6666"/>
                </a:solidFill>
                <a:latin typeface="Arial"/>
                <a:ea typeface="Arial"/>
                <a:cs typeface="Arial"/>
              </a:defRPr>
            </a:defPPr>
          </a:lstStyle>
          <a:p xmlns:a="http://schemas.openxmlformats.org/drawingml/2006/main">
            <a:pPr>
              <a:defRPr sz="1875" b="0">
                <a:solidFill>
                  <a:srgbClr val="666666"/>
                </a:solidFill>
                <a:latin typeface="Arial"/>
                <a:ea typeface="Arial"/>
                <a:cs typeface="Arial"/>
              </a:defRPr>
            </a:pPr>
            <a:r>
              <a:rPr sz="1875" b="0">
                <a:solidFill>
                  <a:srgbClr val="666666"/>
                </a:solidFill>
                <a:latin typeface="Arial"/>
                <a:ea typeface="Arial"/>
                <a:cs typeface="Arial"/>
              </a:rPr>
              <a:t>The visitor changes the view or the scene while the browser draws it.</a:t>
            </a:r>
          </a:p>
        </p:txBody>
      </p:sp>
      <p:sp>
        <p:nvSpPr>
          <p:cNvPr id="5" name="">
            <a:extLst xmlns:a="http://schemas.openxmlformats.org/drawingml/2006/main">
              <a:ext uri="{FF2B5EF4-FFF2-40B4-BE49-F238E27FC236}">
                <a16:creationId xmlns:a16="http://schemas.microsoft.com/office/drawing/2014/main" id="{CD4B544B-C3B9-4302-B9F6-35614B3F2349}"/>
              </a:ext>
            </a:extLst>
          </p:cNvPr>
          <p:cNvSpPr>
            <a:spLocks xmlns:a="http://schemas.openxmlformats.org/drawingml/2006/main" noGrp="1"/>
          </p:cNvSpPr>
          <p:nvPr/>
        </p:nvSpPr>
        <p:spPr>
          <a:xfrm xmlns:a="http://schemas.openxmlformats.org/drawingml/2006/main">
            <a:off x="552450" y="2600325"/>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Product viewer</a:t>
            </a:r>
          </a:p>
        </p:txBody>
      </p:sp>
      <p:sp>
        <p:nvSpPr>
          <p:cNvPr id="6" name="">
            <a:extLst xmlns:a="http://schemas.openxmlformats.org/drawingml/2006/main">
              <a:ext uri="{FF2B5EF4-FFF2-40B4-BE49-F238E27FC236}">
                <a16:creationId xmlns:a16="http://schemas.microsoft.com/office/drawing/2014/main" id="{DB526946-A57B-48F4-8733-731431511DB9}"/>
              </a:ext>
            </a:extLst>
          </p:cNvPr>
          <p:cNvSpPr>
            <a:spLocks xmlns:a="http://schemas.openxmlformats.org/drawingml/2006/main" noGrp="1"/>
          </p:cNvSpPr>
          <p:nvPr/>
        </p:nvSpPr>
        <p:spPr>
          <a:xfrm xmlns:a="http://schemas.openxmlformats.org/drawingml/2006/main">
            <a:off x="3886200" y="2600325"/>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Rotate, zoom and inspect a camera from multiple angles.</a:t>
            </a:r>
          </a:p>
        </p:txBody>
      </p:sp>
      <p:sp>
        <p:nvSpPr>
          <p:cNvPr id="7" name="">
            <a:extLst xmlns:a="http://schemas.openxmlformats.org/drawingml/2006/main">
              <a:ext uri="{FF2B5EF4-FFF2-40B4-BE49-F238E27FC236}">
                <a16:creationId xmlns:a16="http://schemas.microsoft.com/office/drawing/2014/main" id="{AC93A39A-441A-440A-9826-CD13D459F31E}"/>
              </a:ext>
            </a:extLst>
          </p:cNvPr>
          <p:cNvSpPr>
            <a:spLocks xmlns:a="http://schemas.openxmlformats.org/drawingml/2006/main" noGrp="1"/>
          </p:cNvSpPr>
          <p:nvPr/>
        </p:nvSpPr>
        <p:spPr>
          <a:xfrm xmlns:a="http://schemas.openxmlformats.org/drawingml/2006/main">
            <a:off x="552450" y="3505200"/>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Configurator</a:t>
            </a:r>
          </a:p>
        </p:txBody>
      </p:sp>
      <p:sp>
        <p:nvSpPr>
          <p:cNvPr id="8" name="">
            <a:extLst xmlns:a="http://schemas.openxmlformats.org/drawingml/2006/main">
              <a:ext uri="{FF2B5EF4-FFF2-40B4-BE49-F238E27FC236}">
                <a16:creationId xmlns:a16="http://schemas.microsoft.com/office/drawing/2014/main" id="{513C061B-CF32-46E4-A506-76D921E43D08}"/>
              </a:ext>
            </a:extLst>
          </p:cNvPr>
          <p:cNvSpPr>
            <a:spLocks xmlns:a="http://schemas.openxmlformats.org/drawingml/2006/main" noGrp="1"/>
          </p:cNvSpPr>
          <p:nvPr/>
        </p:nvSpPr>
        <p:spPr>
          <a:xfrm xmlns:a="http://schemas.openxmlformats.org/drawingml/2006/main">
            <a:off x="3886200" y="3505200"/>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Change a material, finish or accessory and see the result.</a:t>
            </a:r>
          </a:p>
        </p:txBody>
      </p:sp>
      <p:sp>
        <p:nvSpPr>
          <p:cNvPr id="9" name="">
            <a:extLst xmlns:a="http://schemas.openxmlformats.org/drawingml/2006/main">
              <a:ext uri="{FF2B5EF4-FFF2-40B4-BE49-F238E27FC236}">
                <a16:creationId xmlns:a16="http://schemas.microsoft.com/office/drawing/2014/main" id="{C753ACA3-9D68-429F-A94E-5723F6BED21E}"/>
              </a:ext>
            </a:extLst>
          </p:cNvPr>
          <p:cNvSpPr>
            <a:spLocks xmlns:a="http://schemas.openxmlformats.org/drawingml/2006/main" noGrp="1"/>
          </p:cNvSpPr>
          <p:nvPr/>
        </p:nvSpPr>
        <p:spPr>
          <a:xfrm xmlns:a="http://schemas.openxmlformats.org/drawingml/2006/main">
            <a:off x="552450" y="4410075"/>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Guided story</a:t>
            </a:r>
          </a:p>
        </p:txBody>
      </p:sp>
      <p:sp>
        <p:nvSpPr>
          <p:cNvPr id="10" name="">
            <a:extLst xmlns:a="http://schemas.openxmlformats.org/drawingml/2006/main">
              <a:ext uri="{FF2B5EF4-FFF2-40B4-BE49-F238E27FC236}">
                <a16:creationId xmlns:a16="http://schemas.microsoft.com/office/drawing/2014/main" id="{EA188203-E4DE-49E3-BA98-0E2CE371B37A}"/>
              </a:ext>
            </a:extLst>
          </p:cNvPr>
          <p:cNvSpPr>
            <a:spLocks xmlns:a="http://schemas.openxmlformats.org/drawingml/2006/main" noGrp="1"/>
          </p:cNvSpPr>
          <p:nvPr/>
        </p:nvSpPr>
        <p:spPr>
          <a:xfrm xmlns:a="http://schemas.openxmlformats.org/drawingml/2006/main">
            <a:off x="3886200" y="4410075"/>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Reveal a feature through controlled camera movement.</a:t>
            </a:r>
          </a:p>
        </p:txBody>
      </p:sp>
      <p:sp>
        <p:nvSpPr>
          <p:cNvPr id="11" name="">
            <a:extLst xmlns:a="http://schemas.openxmlformats.org/drawingml/2006/main">
              <a:ext uri="{FF2B5EF4-FFF2-40B4-BE49-F238E27FC236}">
                <a16:creationId xmlns:a16="http://schemas.microsoft.com/office/drawing/2014/main" id="{89F7BE47-CF59-47A4-9AC0-69B004659DA4}"/>
              </a:ext>
            </a:extLst>
          </p:cNvPr>
          <p:cNvSpPr>
            <a:spLocks xmlns:a="http://schemas.openxmlformats.org/drawingml/2006/main" noGrp="1"/>
          </p:cNvSpPr>
          <p:nvPr/>
        </p:nvSpPr>
        <p:spPr>
          <a:xfrm xmlns:a="http://schemas.openxmlformats.org/drawingml/2006/main">
            <a:off x="552450" y="5314950"/>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Simulation / game</a:t>
            </a:r>
          </a:p>
        </p:txBody>
      </p:sp>
      <p:sp>
        <p:nvSpPr>
          <p:cNvPr id="12" name="">
            <a:extLst xmlns:a="http://schemas.openxmlformats.org/drawingml/2006/main">
              <a:ext uri="{FF2B5EF4-FFF2-40B4-BE49-F238E27FC236}">
                <a16:creationId xmlns:a16="http://schemas.microsoft.com/office/drawing/2014/main" id="{3CA64BD3-D47C-45A0-9B91-20EB9FCC90A9}"/>
              </a:ext>
            </a:extLst>
          </p:cNvPr>
          <p:cNvSpPr>
            <a:spLocks xmlns:a="http://schemas.openxmlformats.org/drawingml/2006/main" noGrp="1"/>
          </p:cNvSpPr>
          <p:nvPr/>
        </p:nvSpPr>
        <p:spPr>
          <a:xfrm xmlns:a="http://schemas.openxmlformats.org/drawingml/2006/main">
            <a:off x="3886200" y="5314950"/>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Explore a space and respond to objects or rules.</a:t>
            </a:r>
          </a:p>
        </p:txBody>
      </p:sp>
    </p:spTree>
    <p:extLst>
      <p:ext uri="{BB962C8B-B14F-4D97-AF65-F5344CB8AC3E}">
        <p14:creationId xmlns:p14="http://schemas.microsoft.com/office/powerpoint/2010/main" val="17973170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F1006EA-2F38-48D7-BFC3-2F5A3CEFDFB8}"/>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LIGHTMETRICS   /   3D EXPLORATION</a:t>
            </a:r>
          </a:p>
        </p:txBody>
      </p:sp>
      <p:sp>
        <p:nvSpPr>
          <p:cNvPr id="2" name="">
            <a:extLst xmlns:a="http://schemas.openxmlformats.org/drawingml/2006/main">
              <a:ext uri="{FF2B5EF4-FFF2-40B4-BE49-F238E27FC236}">
                <a16:creationId xmlns:a16="http://schemas.microsoft.com/office/drawing/2014/main" id="{1DA6E432-4DD4-4FDE-BC33-0F5CFF70BB1B}"/>
              </a:ext>
            </a:extLst>
          </p:cNvPr>
          <p:cNvSpPr>
            <a:spLocks xmlns:a="http://schemas.openxmlformats.org/drawingml/2006/main" noGrp="1"/>
          </p:cNvSpPr>
          <p:nvPr/>
        </p:nvSpPr>
        <p:spPr>
          <a:xfrm xmlns:a="http://schemas.openxmlformats.org/drawingml/2006/main">
            <a:off x="11049000" y="2857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8CF15CD5-B66A-4BDC-B5B5-5DD39F34C953}"/>
              </a:ext>
            </a:extLst>
          </p:cNvPr>
          <p:cNvSpPr>
            <a:spLocks xmlns:a="http://schemas.openxmlformats.org/drawingml/2006/main" noGrp="1"/>
          </p:cNvSpPr>
          <p:nvPr/>
        </p:nvSpPr>
        <p:spPr>
          <a:xfrm xmlns:a="http://schemas.openxmlformats.org/drawingml/2006/main">
            <a:off x="533400" y="89535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151515"/>
                </a:solidFill>
                <a:latin typeface="Arial"/>
                <a:ea typeface="Arial"/>
                <a:cs typeface="Arial"/>
              </a:defRPr>
            </a:defPPr>
          </a:lstStyle>
          <a:p xmlns:a="http://schemas.openxmlformats.org/drawingml/2006/main">
            <a:pPr>
              <a:defRPr sz="3300" b="0">
                <a:solidFill>
                  <a:srgbClr val="151515"/>
                </a:solidFill>
                <a:latin typeface="Arial"/>
                <a:ea typeface="Arial"/>
                <a:cs typeface="Arial"/>
              </a:defRPr>
            </a:pPr>
            <a:r>
              <a:rPr sz="3300" b="0">
                <a:solidFill>
                  <a:srgbClr val="151515"/>
                </a:solidFill>
                <a:latin typeface="Arial"/>
                <a:ea typeface="Arial"/>
                <a:cs typeface="Arial"/>
              </a:rPr>
              <a:t>The five layers of a 3D website</a:t>
            </a:r>
          </a:p>
        </p:txBody>
      </p:sp>
      <p:sp>
        <p:nvSpPr>
          <p:cNvPr id="4" name="">
            <a:extLst xmlns:a="http://schemas.openxmlformats.org/drawingml/2006/main">
              <a:ext uri="{FF2B5EF4-FFF2-40B4-BE49-F238E27FC236}">
                <a16:creationId xmlns:a16="http://schemas.microsoft.com/office/drawing/2014/main" id="{87783E88-DDF2-47F5-9BED-15B216DD9A48}"/>
              </a:ext>
            </a:extLst>
          </p:cNvPr>
          <p:cNvSpPr>
            <a:spLocks xmlns:a="http://schemas.openxmlformats.org/drawingml/2006/main" noGrp="1"/>
          </p:cNvSpPr>
          <p:nvPr/>
        </p:nvSpPr>
        <p:spPr>
          <a:xfrm xmlns:a="http://schemas.openxmlformats.org/drawingml/2006/main">
            <a:off x="552450" y="16764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6666"/>
                </a:solidFill>
                <a:latin typeface="Arial"/>
                <a:ea typeface="Arial"/>
                <a:cs typeface="Arial"/>
              </a:defRPr>
            </a:defPPr>
          </a:lstStyle>
          <a:p xmlns:a="http://schemas.openxmlformats.org/drawingml/2006/main">
            <a:pPr>
              <a:defRPr sz="1875" b="0">
                <a:solidFill>
                  <a:srgbClr val="666666"/>
                </a:solidFill>
                <a:latin typeface="Arial"/>
                <a:ea typeface="Arial"/>
                <a:cs typeface="Arial"/>
              </a:defRPr>
            </a:pPr>
            <a:r>
              <a:rPr sz="1875" b="0">
                <a:solidFill>
                  <a:srgbClr val="666666"/>
                </a:solidFill>
                <a:latin typeface="Arial"/>
                <a:ea typeface="Arial"/>
                <a:cs typeface="Arial"/>
              </a:rPr>
              <a:t>Each layer solves a different part of the problem.</a:t>
            </a:r>
          </a:p>
        </p:txBody>
      </p:sp>
      <p:graphicFrame>
        <p:nvGraphicFramePr>
          <p:cNvPr id="5" name="">
            <a:extLst xmlns:a="http://schemas.openxmlformats.org/drawingml/2006/main">
              <a:ext uri="{FF2B5EF4-FFF2-40B4-BE49-F238E27FC236}">
                <a16:creationId xmlns:a16="http://schemas.microsoft.com/office/drawing/2014/main" id="{4ABBE4E1-65E2-481C-955A-59234C759943}"/>
              </a:ext>
            </a:extLst>
          </p:cNvPr>
          <p:cNvGraphicFramePr/>
          <p:nvPr/>
        </p:nvGraphicFramePr>
        <p:xfrm>
          <a:off xmlns:a="http://schemas.openxmlformats.org/drawingml/2006/main" x="552450" y="2562225"/>
          <a:ext xmlns:a="http://schemas.openxmlformats.org/drawingml/2006/main" cx="11087100" cy="3638550"/>
        </p:xfrm>
        <a:graphic xmlns:a="http://schemas.openxmlformats.org/drawingml/2006/main">
          <a:graphicData uri="http://schemas.openxmlformats.org/drawingml/2006/table">
            <a:tbl>
              <a:tblPr/>
              <a:tblGrid>
                <a:gridCol w="3095625"/>
                <a:gridCol w="3905250"/>
                <a:gridCol w="4086225"/>
              </a:tblGrid>
              <a:tr h="606425">
                <a:tc>
                  <a:txBody>
                    <a:bodyPr/>
                    <a:lstStyle/>
                    <a:p>
                      <a:r>
                        <a:rPr sz="1725" b="1">
                          <a:solidFill>
                            <a:srgbClr val="FFFFFF"/>
                          </a:solidFill>
                          <a:latin typeface="Arial"/>
                          <a:ea typeface="Arial"/>
                          <a:cs typeface="Arial"/>
                        </a:rPr>
                        <a:t>Layer</a:t>
                      </a:r>
                    </a:p>
                  </a:txBody>
                  <a:tcPr marL="114300" marR="114300" marT="47625" marB="47625">
                    <a:solidFill>
                      <a:srgbClr val="151515"/>
                    </a:solidFill>
                  </a:tcPr>
                </a:tc>
                <a:tc>
                  <a:txBody>
                    <a:bodyPr/>
                    <a:lstStyle/>
                    <a:p>
                      <a:r>
                        <a:rPr sz="1725" b="1">
                          <a:solidFill>
                            <a:srgbClr val="FFFFFF"/>
                          </a:solidFill>
                          <a:latin typeface="Arial"/>
                          <a:ea typeface="Arial"/>
                          <a:cs typeface="Arial"/>
                        </a:rPr>
                        <a:t>Examples</a:t>
                      </a:r>
                    </a:p>
                  </a:txBody>
                  <a:tcPr marL="114300" marR="114300" marT="47625" marB="47625">
                    <a:solidFill>
                      <a:srgbClr val="151515"/>
                    </a:solidFill>
                  </a:tcPr>
                </a:tc>
                <a:tc>
                  <a:txBody>
                    <a:bodyPr/>
                    <a:lstStyle/>
                    <a:p>
                      <a:r>
                        <a:rPr sz="1725" b="1">
                          <a:solidFill>
                            <a:srgbClr val="FFFFFF"/>
                          </a:solidFill>
                          <a:latin typeface="Arial"/>
                          <a:ea typeface="Arial"/>
                          <a:cs typeface="Arial"/>
                        </a:rPr>
                        <a:t>Responsibility</a:t>
                      </a:r>
                    </a:p>
                  </a:txBody>
                  <a:tcPr marL="114300" marR="114300" marT="47625" marB="47625">
                    <a:solidFill>
                      <a:srgbClr val="151515"/>
                    </a:solidFill>
                  </a:tcPr>
                </a:tc>
              </a:tr>
              <a:tr h="606425">
                <a:tc>
                  <a:txBody>
                    <a:bodyPr/>
                    <a:lstStyle/>
                    <a:p>
                      <a:r>
                        <a:rPr sz="1725">
                          <a:solidFill>
                            <a:srgbClr val="151515"/>
                          </a:solidFill>
                          <a:latin typeface="Arial"/>
                          <a:ea typeface="Arial"/>
                          <a:cs typeface="Arial"/>
                        </a:rPr>
                        <a:t>Create the asset</a:t>
                      </a:r>
                    </a:p>
                  </a:txBody>
                  <a:tcPr marL="114300" marR="114300" marT="47625" marB="47625"/>
                </a:tc>
                <a:tc>
                  <a:txBody>
                    <a:bodyPr/>
                    <a:lstStyle/>
                    <a:p>
                      <a:r>
                        <a:rPr sz="1725">
                          <a:solidFill>
                            <a:srgbClr val="151515"/>
                          </a:solidFill>
                          <a:latin typeface="Arial"/>
                          <a:ea typeface="Arial"/>
                          <a:cs typeface="Arial"/>
                        </a:rPr>
                        <a:t>Blender</a:t>
                      </a:r>
                    </a:p>
                  </a:txBody>
                  <a:tcPr marL="114300" marR="114300" marT="47625" marB="47625"/>
                </a:tc>
                <a:tc>
                  <a:txBody>
                    <a:bodyPr/>
                    <a:lstStyle/>
                    <a:p>
                      <a:r>
                        <a:rPr sz="1725">
                          <a:solidFill>
                            <a:srgbClr val="151515"/>
                          </a:solidFill>
                          <a:latin typeface="Arial"/>
                          <a:ea typeface="Arial"/>
                          <a:cs typeface="Arial"/>
                        </a:rPr>
                        <a:t>Shape, materials and animation</a:t>
                      </a:r>
                    </a:p>
                  </a:txBody>
                  <a:tcPr marL="114300" marR="114300" marT="47625" marB="47625"/>
                </a:tc>
              </a:tr>
              <a:tr h="606425">
                <a:tc>
                  <a:txBody>
                    <a:bodyPr/>
                    <a:lstStyle/>
                    <a:p>
                      <a:r>
                        <a:rPr sz="1725">
                          <a:solidFill>
                            <a:srgbClr val="151515"/>
                          </a:solidFill>
                          <a:latin typeface="Arial"/>
                          <a:ea typeface="Arial"/>
                          <a:cs typeface="Arial"/>
                        </a:rPr>
                        <a:t>Deliver the asset</a:t>
                      </a:r>
                    </a:p>
                  </a:txBody>
                  <a:tcPr marL="114300" marR="114300" marT="47625" marB="47625"/>
                </a:tc>
                <a:tc>
                  <a:txBody>
                    <a:bodyPr/>
                    <a:lstStyle/>
                    <a:p>
                      <a:r>
                        <a:rPr sz="1725">
                          <a:solidFill>
                            <a:srgbClr val="151515"/>
                          </a:solidFill>
                          <a:latin typeface="Arial"/>
                          <a:ea typeface="Arial"/>
                          <a:cs typeface="Arial"/>
                        </a:rPr>
                        <a:t>glTF / GLB</a:t>
                      </a:r>
                    </a:p>
                  </a:txBody>
                  <a:tcPr marL="114300" marR="114300" marT="47625" marB="47625"/>
                </a:tc>
                <a:tc>
                  <a:txBody>
                    <a:bodyPr/>
                    <a:lstStyle/>
                    <a:p>
                      <a:r>
                        <a:rPr sz="1725">
                          <a:solidFill>
                            <a:srgbClr val="151515"/>
                          </a:solidFill>
                          <a:latin typeface="Arial"/>
                          <a:ea typeface="Arial"/>
                          <a:cs typeface="Arial"/>
                        </a:rPr>
                        <a:t>Portable scene and model data</a:t>
                      </a:r>
                    </a:p>
                  </a:txBody>
                  <a:tcPr marL="114300" marR="114300" marT="47625" marB="47625"/>
                </a:tc>
              </a:tr>
              <a:tr h="606425">
                <a:tc>
                  <a:txBody>
                    <a:bodyPr/>
                    <a:lstStyle/>
                    <a:p>
                      <a:r>
                        <a:rPr sz="1725">
                          <a:solidFill>
                            <a:srgbClr val="151515"/>
                          </a:solidFill>
                          <a:latin typeface="Arial"/>
                          <a:ea typeface="Arial"/>
                          <a:cs typeface="Arial"/>
                        </a:rPr>
                        <a:t>Run the experience</a:t>
                      </a:r>
                    </a:p>
                  </a:txBody>
                  <a:tcPr marL="114300" marR="114300" marT="47625" marB="47625"/>
                </a:tc>
                <a:tc>
                  <a:txBody>
                    <a:bodyPr/>
                    <a:lstStyle/>
                    <a:p>
                      <a:r>
                        <a:rPr sz="1725">
                          <a:solidFill>
                            <a:srgbClr val="151515"/>
                          </a:solidFill>
                          <a:latin typeface="Arial"/>
                          <a:ea typeface="Arial"/>
                          <a:cs typeface="Arial"/>
                        </a:rPr>
                        <a:t>Three.js / viewer / engine</a:t>
                      </a:r>
                    </a:p>
                  </a:txBody>
                  <a:tcPr marL="114300" marR="114300" marT="47625" marB="47625"/>
                </a:tc>
                <a:tc>
                  <a:txBody>
                    <a:bodyPr/>
                    <a:lstStyle/>
                    <a:p>
                      <a:r>
                        <a:rPr sz="1725">
                          <a:solidFill>
                            <a:srgbClr val="151515"/>
                          </a:solidFill>
                          <a:latin typeface="Arial"/>
                          <a:ea typeface="Arial"/>
                          <a:cs typeface="Arial"/>
                        </a:rPr>
                        <a:t>Loading, camera and interaction</a:t>
                      </a:r>
                    </a:p>
                  </a:txBody>
                  <a:tcPr marL="114300" marR="114300" marT="47625" marB="47625"/>
                </a:tc>
              </a:tr>
              <a:tr h="606425">
                <a:tc>
                  <a:txBody>
                    <a:bodyPr/>
                    <a:lstStyle/>
                    <a:p>
                      <a:r>
                        <a:rPr sz="1725">
                          <a:solidFill>
                            <a:srgbClr val="151515"/>
                          </a:solidFill>
                          <a:latin typeface="Arial"/>
                          <a:ea typeface="Arial"/>
                          <a:cs typeface="Arial"/>
                        </a:rPr>
                        <a:t>Draw on the device</a:t>
                      </a:r>
                    </a:p>
                  </a:txBody>
                  <a:tcPr marL="114300" marR="114300" marT="47625" marB="47625"/>
                </a:tc>
                <a:tc>
                  <a:txBody>
                    <a:bodyPr/>
                    <a:lstStyle/>
                    <a:p>
                      <a:r>
                        <a:rPr sz="1725">
                          <a:solidFill>
                            <a:srgbClr val="151515"/>
                          </a:solidFill>
                          <a:latin typeface="Arial"/>
                          <a:ea typeface="Arial"/>
                          <a:cs typeface="Arial"/>
                        </a:rPr>
                        <a:t>WebGL / WebGPU</a:t>
                      </a:r>
                    </a:p>
                  </a:txBody>
                  <a:tcPr marL="114300" marR="114300" marT="47625" marB="47625"/>
                </a:tc>
                <a:tc>
                  <a:txBody>
                    <a:bodyPr/>
                    <a:lstStyle/>
                    <a:p>
                      <a:r>
                        <a:rPr sz="1725">
                          <a:solidFill>
                            <a:srgbClr val="151515"/>
                          </a:solidFill>
                          <a:latin typeface="Arial"/>
                          <a:ea typeface="Arial"/>
                          <a:cs typeface="Arial"/>
                        </a:rPr>
                        <a:t>Browser access to the GPU</a:t>
                      </a:r>
                    </a:p>
                  </a:txBody>
                  <a:tcPr marL="114300" marR="114300" marT="47625" marB="47625"/>
                </a:tc>
              </a:tr>
              <a:tr h="606425">
                <a:tc>
                  <a:txBody>
                    <a:bodyPr/>
                    <a:lstStyle/>
                    <a:p>
                      <a:r>
                        <a:rPr sz="1725">
                          <a:solidFill>
                            <a:srgbClr val="151515"/>
                          </a:solidFill>
                          <a:latin typeface="Arial"/>
                          <a:ea typeface="Arial"/>
                          <a:cs typeface="Arial"/>
                        </a:rPr>
                        <a:t>Present the page</a:t>
                      </a:r>
                    </a:p>
                  </a:txBody>
                  <a:tcPr marL="114300" marR="114300" marT="47625" marB="47625"/>
                </a:tc>
                <a:tc>
                  <a:txBody>
                    <a:bodyPr/>
                    <a:lstStyle/>
                    <a:p>
                      <a:r>
                        <a:rPr sz="1725">
                          <a:solidFill>
                            <a:srgbClr val="151515"/>
                          </a:solidFill>
                          <a:latin typeface="Arial"/>
                          <a:ea typeface="Arial"/>
                          <a:cs typeface="Arial"/>
                        </a:rPr>
                        <a:t>HTML / CSS / Webflow / React</a:t>
                      </a:r>
                    </a:p>
                  </a:txBody>
                  <a:tcPr marL="114300" marR="114300" marT="47625" marB="47625"/>
                </a:tc>
                <a:tc>
                  <a:txBody>
                    <a:bodyPr/>
                    <a:lstStyle/>
                    <a:p>
                      <a:r>
                        <a:rPr sz="1725">
                          <a:solidFill>
                            <a:srgbClr val="151515"/>
                          </a:solidFill>
                          <a:latin typeface="Arial"/>
                          <a:ea typeface="Arial"/>
                          <a:cs typeface="Arial"/>
                        </a:rPr>
                        <a:t>Text, navigation and accessible controls</a:t>
                      </a:r>
                    </a:p>
                  </a:txBody>
                  <a:tcPr marL="114300" marR="114300" marT="47625" marB="47625"/>
                </a:tc>
              </a:tr>
            </a:tbl>
          </a:graphicData>
        </a:graphic>
      </p:graphicFrame>
    </p:spTree>
    <p:extLst>
      <p:ext uri="{BB962C8B-B14F-4D97-AF65-F5344CB8AC3E}">
        <p14:creationId xmlns:p14="http://schemas.microsoft.com/office/powerpoint/2010/main" val="102072338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F85BA45-A86C-45E8-880F-51C57385F47C}"/>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LIGHTMETRICS   /   3D EXPLORATION</a:t>
            </a:r>
          </a:p>
        </p:txBody>
      </p:sp>
      <p:sp>
        <p:nvSpPr>
          <p:cNvPr id="2" name="">
            <a:extLst xmlns:a="http://schemas.openxmlformats.org/drawingml/2006/main">
              <a:ext uri="{FF2B5EF4-FFF2-40B4-BE49-F238E27FC236}">
                <a16:creationId xmlns:a16="http://schemas.microsoft.com/office/drawing/2014/main" id="{1AA52670-7341-4D1E-8BC1-A6F738504689}"/>
              </a:ext>
            </a:extLst>
          </p:cNvPr>
          <p:cNvSpPr>
            <a:spLocks xmlns:a="http://schemas.openxmlformats.org/drawingml/2006/main" noGrp="1"/>
          </p:cNvSpPr>
          <p:nvPr/>
        </p:nvSpPr>
        <p:spPr>
          <a:xfrm xmlns:a="http://schemas.openxmlformats.org/drawingml/2006/main">
            <a:off x="11049000" y="2857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DC17B023-3D2B-4F92-B63A-D9469560A881}"/>
              </a:ext>
            </a:extLst>
          </p:cNvPr>
          <p:cNvSpPr>
            <a:spLocks xmlns:a="http://schemas.openxmlformats.org/drawingml/2006/main" noGrp="1"/>
          </p:cNvSpPr>
          <p:nvPr/>
        </p:nvSpPr>
        <p:spPr>
          <a:xfrm xmlns:a="http://schemas.openxmlformats.org/drawingml/2006/main">
            <a:off x="533400" y="89535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151515"/>
                </a:solidFill>
                <a:latin typeface="Arial"/>
                <a:ea typeface="Arial"/>
                <a:cs typeface="Arial"/>
              </a:defRPr>
            </a:defPPr>
          </a:lstStyle>
          <a:p xmlns:a="http://schemas.openxmlformats.org/drawingml/2006/main">
            <a:pPr>
              <a:defRPr sz="3300" b="0">
                <a:solidFill>
                  <a:srgbClr val="151515"/>
                </a:solidFill>
                <a:latin typeface="Arial"/>
                <a:ea typeface="Arial"/>
                <a:cs typeface="Arial"/>
              </a:defRPr>
            </a:pPr>
            <a:r>
              <a:rPr sz="3300" b="0">
                <a:solidFill>
                  <a:srgbClr val="151515"/>
                </a:solidFill>
                <a:latin typeface="Arial"/>
                <a:ea typeface="Arial"/>
                <a:cs typeface="Arial"/>
              </a:rPr>
              <a:t>A small 3D vocabulary</a:t>
            </a:r>
          </a:p>
        </p:txBody>
      </p:sp>
      <p:sp>
        <p:nvSpPr>
          <p:cNvPr id="4" name="">
            <a:extLst xmlns:a="http://schemas.openxmlformats.org/drawingml/2006/main">
              <a:ext uri="{FF2B5EF4-FFF2-40B4-BE49-F238E27FC236}">
                <a16:creationId xmlns:a16="http://schemas.microsoft.com/office/drawing/2014/main" id="{22CDD13B-1B03-41D2-BA80-1597C1EFED86}"/>
              </a:ext>
            </a:extLst>
          </p:cNvPr>
          <p:cNvSpPr>
            <a:spLocks xmlns:a="http://schemas.openxmlformats.org/drawingml/2006/main" noGrp="1"/>
          </p:cNvSpPr>
          <p:nvPr/>
        </p:nvSpPr>
        <p:spPr>
          <a:xfrm xmlns:a="http://schemas.openxmlformats.org/drawingml/2006/main">
            <a:off x="552450" y="16764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6666"/>
                </a:solidFill>
                <a:latin typeface="Arial"/>
                <a:ea typeface="Arial"/>
                <a:cs typeface="Arial"/>
              </a:defRPr>
            </a:defPPr>
          </a:lstStyle>
          <a:p xmlns:a="http://schemas.openxmlformats.org/drawingml/2006/main">
            <a:pPr>
              <a:defRPr sz="1875" b="0">
                <a:solidFill>
                  <a:srgbClr val="666666"/>
                </a:solidFill>
                <a:latin typeface="Arial"/>
                <a:ea typeface="Arial"/>
                <a:cs typeface="Arial"/>
              </a:defRPr>
            </a:pPr>
            <a:r>
              <a:rPr sz="1875" b="0">
                <a:solidFill>
                  <a:srgbClr val="666666"/>
                </a:solidFill>
                <a:latin typeface="Arial"/>
                <a:ea typeface="Arial"/>
                <a:cs typeface="Arial"/>
              </a:rPr>
              <a:t>Six terms explain most conversations between design and development.</a:t>
            </a:r>
          </a:p>
        </p:txBody>
      </p:sp>
      <p:sp>
        <p:nvSpPr>
          <p:cNvPr id="5" name="">
            <a:extLst xmlns:a="http://schemas.openxmlformats.org/drawingml/2006/main">
              <a:ext uri="{FF2B5EF4-FFF2-40B4-BE49-F238E27FC236}">
                <a16:creationId xmlns:a16="http://schemas.microsoft.com/office/drawing/2014/main" id="{CDD24091-4C48-4E37-9CAB-5F4BC72D1F9D}"/>
              </a:ext>
            </a:extLst>
          </p:cNvPr>
          <p:cNvSpPr>
            <a:spLocks xmlns:a="http://schemas.openxmlformats.org/drawingml/2006/main" noGrp="1"/>
          </p:cNvSpPr>
          <p:nvPr/>
        </p:nvSpPr>
        <p:spPr>
          <a:xfrm xmlns:a="http://schemas.openxmlformats.org/drawingml/2006/main">
            <a:off x="552450" y="260032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Mesh</a:t>
            </a:r>
          </a:p>
        </p:txBody>
      </p:sp>
      <p:sp>
        <p:nvSpPr>
          <p:cNvPr id="6" name="">
            <a:extLst xmlns:a="http://schemas.openxmlformats.org/drawingml/2006/main">
              <a:ext uri="{FF2B5EF4-FFF2-40B4-BE49-F238E27FC236}">
                <a16:creationId xmlns:a16="http://schemas.microsoft.com/office/drawing/2014/main" id="{087CD318-E15F-4539-841C-2163BDE9E324}"/>
              </a:ext>
            </a:extLst>
          </p:cNvPr>
          <p:cNvSpPr>
            <a:spLocks xmlns:a="http://schemas.openxmlformats.org/drawingml/2006/main" noGrp="1"/>
          </p:cNvSpPr>
          <p:nvPr/>
        </p:nvSpPr>
        <p:spPr>
          <a:xfrm xmlns:a="http://schemas.openxmlformats.org/drawingml/2006/main">
            <a:off x="3886200" y="2600325"/>
            <a:ext cx="771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The object’s shape, usually made from triangles.</a:t>
            </a:r>
          </a:p>
        </p:txBody>
      </p:sp>
      <p:sp>
        <p:nvSpPr>
          <p:cNvPr id="7" name="">
            <a:extLst xmlns:a="http://schemas.openxmlformats.org/drawingml/2006/main">
              <a:ext uri="{FF2B5EF4-FFF2-40B4-BE49-F238E27FC236}">
                <a16:creationId xmlns:a16="http://schemas.microsoft.com/office/drawing/2014/main" id="{3670AA25-C113-435E-A8C8-EF24416D2A34}"/>
              </a:ext>
            </a:extLst>
          </p:cNvPr>
          <p:cNvSpPr>
            <a:spLocks xmlns:a="http://schemas.openxmlformats.org/drawingml/2006/main" noGrp="1"/>
          </p:cNvSpPr>
          <p:nvPr/>
        </p:nvSpPr>
        <p:spPr>
          <a:xfrm xmlns:a="http://schemas.openxmlformats.org/drawingml/2006/main">
            <a:off x="552450" y="321945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Material</a:t>
            </a:r>
          </a:p>
        </p:txBody>
      </p:sp>
      <p:sp>
        <p:nvSpPr>
          <p:cNvPr id="8" name="">
            <a:extLst xmlns:a="http://schemas.openxmlformats.org/drawingml/2006/main">
              <a:ext uri="{FF2B5EF4-FFF2-40B4-BE49-F238E27FC236}">
                <a16:creationId xmlns:a16="http://schemas.microsoft.com/office/drawing/2014/main" id="{51269A29-4848-477C-9568-48CC0F43D94C}"/>
              </a:ext>
            </a:extLst>
          </p:cNvPr>
          <p:cNvSpPr>
            <a:spLocks xmlns:a="http://schemas.openxmlformats.org/drawingml/2006/main" noGrp="1"/>
          </p:cNvSpPr>
          <p:nvPr/>
        </p:nvSpPr>
        <p:spPr>
          <a:xfrm xmlns:a="http://schemas.openxmlformats.org/drawingml/2006/main">
            <a:off x="3886200" y="3219450"/>
            <a:ext cx="771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Rules for how a surface reflects or transmits light.</a:t>
            </a:r>
          </a:p>
        </p:txBody>
      </p:sp>
      <p:sp>
        <p:nvSpPr>
          <p:cNvPr id="9" name="">
            <a:extLst xmlns:a="http://schemas.openxmlformats.org/drawingml/2006/main">
              <a:ext uri="{FF2B5EF4-FFF2-40B4-BE49-F238E27FC236}">
                <a16:creationId xmlns:a16="http://schemas.microsoft.com/office/drawing/2014/main" id="{885A017C-5D6F-4EA0-909E-A577F1798F3E}"/>
              </a:ext>
            </a:extLst>
          </p:cNvPr>
          <p:cNvSpPr>
            <a:spLocks xmlns:a="http://schemas.openxmlformats.org/drawingml/2006/main" noGrp="1"/>
          </p:cNvSpPr>
          <p:nvPr/>
        </p:nvSpPr>
        <p:spPr>
          <a:xfrm xmlns:a="http://schemas.openxmlformats.org/drawingml/2006/main">
            <a:off x="552450" y="383857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Texture</a:t>
            </a:r>
          </a:p>
        </p:txBody>
      </p:sp>
      <p:sp>
        <p:nvSpPr>
          <p:cNvPr id="10" name="">
            <a:extLst xmlns:a="http://schemas.openxmlformats.org/drawingml/2006/main">
              <a:ext uri="{FF2B5EF4-FFF2-40B4-BE49-F238E27FC236}">
                <a16:creationId xmlns:a16="http://schemas.microsoft.com/office/drawing/2014/main" id="{4A7C1375-E486-4FFD-844E-9A68ECD2E9EC}"/>
              </a:ext>
            </a:extLst>
          </p:cNvPr>
          <p:cNvSpPr>
            <a:spLocks xmlns:a="http://schemas.openxmlformats.org/drawingml/2006/main" noGrp="1"/>
          </p:cNvSpPr>
          <p:nvPr/>
        </p:nvSpPr>
        <p:spPr>
          <a:xfrm xmlns:a="http://schemas.openxmlformats.org/drawingml/2006/main">
            <a:off x="3886200" y="3838575"/>
            <a:ext cx="771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An image that adds color or surface information.</a:t>
            </a:r>
          </a:p>
        </p:txBody>
      </p:sp>
      <p:sp>
        <p:nvSpPr>
          <p:cNvPr id="11" name="">
            <a:extLst xmlns:a="http://schemas.openxmlformats.org/drawingml/2006/main">
              <a:ext uri="{FF2B5EF4-FFF2-40B4-BE49-F238E27FC236}">
                <a16:creationId xmlns:a16="http://schemas.microsoft.com/office/drawing/2014/main" id="{98F7CC32-0ECE-4DCA-AFC5-AFD029CA1FEF}"/>
              </a:ext>
            </a:extLst>
          </p:cNvPr>
          <p:cNvSpPr>
            <a:spLocks xmlns:a="http://schemas.openxmlformats.org/drawingml/2006/main" noGrp="1"/>
          </p:cNvSpPr>
          <p:nvPr/>
        </p:nvSpPr>
        <p:spPr>
          <a:xfrm xmlns:a="http://schemas.openxmlformats.org/drawingml/2006/main">
            <a:off x="552450" y="445770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Camera</a:t>
            </a:r>
          </a:p>
        </p:txBody>
      </p:sp>
      <p:sp>
        <p:nvSpPr>
          <p:cNvPr id="12" name="">
            <a:extLst xmlns:a="http://schemas.openxmlformats.org/drawingml/2006/main">
              <a:ext uri="{FF2B5EF4-FFF2-40B4-BE49-F238E27FC236}">
                <a16:creationId xmlns:a16="http://schemas.microsoft.com/office/drawing/2014/main" id="{7161F5E6-C079-45C9-97BF-8C02169FAB7D}"/>
              </a:ext>
            </a:extLst>
          </p:cNvPr>
          <p:cNvSpPr>
            <a:spLocks xmlns:a="http://schemas.openxmlformats.org/drawingml/2006/main" noGrp="1"/>
          </p:cNvSpPr>
          <p:nvPr/>
        </p:nvSpPr>
        <p:spPr>
          <a:xfrm xmlns:a="http://schemas.openxmlformats.org/drawingml/2006/main">
            <a:off x="3886200" y="4457700"/>
            <a:ext cx="771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The viewpoint and lens used to see the scene.</a:t>
            </a:r>
          </a:p>
        </p:txBody>
      </p:sp>
      <p:sp>
        <p:nvSpPr>
          <p:cNvPr id="13" name="">
            <a:extLst xmlns:a="http://schemas.openxmlformats.org/drawingml/2006/main">
              <a:ext uri="{FF2B5EF4-FFF2-40B4-BE49-F238E27FC236}">
                <a16:creationId xmlns:a16="http://schemas.microsoft.com/office/drawing/2014/main" id="{948D69D0-8CC5-4911-B0FE-D92615290727}"/>
              </a:ext>
            </a:extLst>
          </p:cNvPr>
          <p:cNvSpPr>
            <a:spLocks xmlns:a="http://schemas.openxmlformats.org/drawingml/2006/main" noGrp="1"/>
          </p:cNvSpPr>
          <p:nvPr/>
        </p:nvSpPr>
        <p:spPr>
          <a:xfrm xmlns:a="http://schemas.openxmlformats.org/drawingml/2006/main">
            <a:off x="552450" y="507682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Scene</a:t>
            </a:r>
          </a:p>
        </p:txBody>
      </p:sp>
      <p:sp>
        <p:nvSpPr>
          <p:cNvPr id="14" name="">
            <a:extLst xmlns:a="http://schemas.openxmlformats.org/drawingml/2006/main">
              <a:ext uri="{FF2B5EF4-FFF2-40B4-BE49-F238E27FC236}">
                <a16:creationId xmlns:a16="http://schemas.microsoft.com/office/drawing/2014/main" id="{28AA9FFF-C2F0-4F43-B67C-F0C8342B8438}"/>
              </a:ext>
            </a:extLst>
          </p:cNvPr>
          <p:cNvSpPr>
            <a:spLocks xmlns:a="http://schemas.openxmlformats.org/drawingml/2006/main" noGrp="1"/>
          </p:cNvSpPr>
          <p:nvPr/>
        </p:nvSpPr>
        <p:spPr>
          <a:xfrm xmlns:a="http://schemas.openxmlformats.org/drawingml/2006/main">
            <a:off x="3886200" y="5076825"/>
            <a:ext cx="771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The collection of objects, cameras and lights.</a:t>
            </a:r>
          </a:p>
        </p:txBody>
      </p:sp>
      <p:sp>
        <p:nvSpPr>
          <p:cNvPr id="15" name="">
            <a:extLst xmlns:a="http://schemas.openxmlformats.org/drawingml/2006/main">
              <a:ext uri="{FF2B5EF4-FFF2-40B4-BE49-F238E27FC236}">
                <a16:creationId xmlns:a16="http://schemas.microsoft.com/office/drawing/2014/main" id="{DB9575AD-DEF1-43F3-9EA7-CDC4AE080167}"/>
              </a:ext>
            </a:extLst>
          </p:cNvPr>
          <p:cNvSpPr>
            <a:spLocks xmlns:a="http://schemas.openxmlformats.org/drawingml/2006/main" noGrp="1"/>
          </p:cNvSpPr>
          <p:nvPr/>
        </p:nvSpPr>
        <p:spPr>
          <a:xfrm xmlns:a="http://schemas.openxmlformats.org/drawingml/2006/main">
            <a:off x="552450" y="569595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Render</a:t>
            </a:r>
          </a:p>
        </p:txBody>
      </p:sp>
      <p:sp>
        <p:nvSpPr>
          <p:cNvPr id="16" name="">
            <a:extLst xmlns:a="http://schemas.openxmlformats.org/drawingml/2006/main">
              <a:ext uri="{FF2B5EF4-FFF2-40B4-BE49-F238E27FC236}">
                <a16:creationId xmlns:a16="http://schemas.microsoft.com/office/drawing/2014/main" id="{1013AF43-C391-4743-B6CA-1E924D9E7722}"/>
              </a:ext>
            </a:extLst>
          </p:cNvPr>
          <p:cNvSpPr>
            <a:spLocks xmlns:a="http://schemas.openxmlformats.org/drawingml/2006/main" noGrp="1"/>
          </p:cNvSpPr>
          <p:nvPr/>
        </p:nvSpPr>
        <p:spPr>
          <a:xfrm xmlns:a="http://schemas.openxmlformats.org/drawingml/2006/main">
            <a:off x="3886200" y="5695950"/>
            <a:ext cx="771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Calculate the final image visible on the screen.</a:t>
            </a:r>
          </a:p>
        </p:txBody>
      </p:sp>
    </p:spTree>
    <p:extLst>
      <p:ext uri="{BB962C8B-B14F-4D97-AF65-F5344CB8AC3E}">
        <p14:creationId xmlns:p14="http://schemas.microsoft.com/office/powerpoint/2010/main" val="20648418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762D05D-EAAD-4F96-9A9E-CC9611E53847}"/>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LIGHTMETRICS   /   3D EXPLORATION</a:t>
            </a:r>
          </a:p>
        </p:txBody>
      </p:sp>
      <p:sp>
        <p:nvSpPr>
          <p:cNvPr id="2" name="">
            <a:extLst xmlns:a="http://schemas.openxmlformats.org/drawingml/2006/main">
              <a:ext uri="{FF2B5EF4-FFF2-40B4-BE49-F238E27FC236}">
                <a16:creationId xmlns:a16="http://schemas.microsoft.com/office/drawing/2014/main" id="{9E877B52-89F4-47F7-BADF-FED175D239B0}"/>
              </a:ext>
            </a:extLst>
          </p:cNvPr>
          <p:cNvSpPr>
            <a:spLocks xmlns:a="http://schemas.openxmlformats.org/drawingml/2006/main" noGrp="1"/>
          </p:cNvSpPr>
          <p:nvPr/>
        </p:nvSpPr>
        <p:spPr>
          <a:xfrm xmlns:a="http://schemas.openxmlformats.org/drawingml/2006/main">
            <a:off x="11049000" y="2857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47C17389-8D0F-41D1-B713-D5D8000D58F9}"/>
              </a:ext>
            </a:extLst>
          </p:cNvPr>
          <p:cNvSpPr>
            <a:spLocks xmlns:a="http://schemas.openxmlformats.org/drawingml/2006/main" noGrp="1"/>
          </p:cNvSpPr>
          <p:nvPr/>
        </p:nvSpPr>
        <p:spPr>
          <a:xfrm xmlns:a="http://schemas.openxmlformats.org/drawingml/2006/main">
            <a:off x="533400" y="89535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151515"/>
                </a:solidFill>
                <a:latin typeface="Arial"/>
                <a:ea typeface="Arial"/>
                <a:cs typeface="Arial"/>
              </a:defRPr>
            </a:defPPr>
          </a:lstStyle>
          <a:p xmlns:a="http://schemas.openxmlformats.org/drawingml/2006/main">
            <a:pPr>
              <a:defRPr sz="3300" b="0">
                <a:solidFill>
                  <a:srgbClr val="151515"/>
                </a:solidFill>
                <a:latin typeface="Arial"/>
                <a:ea typeface="Arial"/>
                <a:cs typeface="Arial"/>
              </a:defRPr>
            </a:pPr>
            <a:r>
              <a:rPr sz="3300" b="0">
                <a:solidFill>
                  <a:srgbClr val="151515"/>
                </a:solidFill>
                <a:latin typeface="Arial"/>
                <a:ea typeface="Arial"/>
                <a:cs typeface="Arial"/>
              </a:rPr>
              <a:t>Blender creates the source asset</a:t>
            </a:r>
          </a:p>
        </p:txBody>
      </p:sp>
      <p:sp>
        <p:nvSpPr>
          <p:cNvPr id="4" name="">
            <a:extLst xmlns:a="http://schemas.openxmlformats.org/drawingml/2006/main">
              <a:ext uri="{FF2B5EF4-FFF2-40B4-BE49-F238E27FC236}">
                <a16:creationId xmlns:a16="http://schemas.microsoft.com/office/drawing/2014/main" id="{3EE4AB49-35F0-4244-BFDB-8093439B7773}"/>
              </a:ext>
            </a:extLst>
          </p:cNvPr>
          <p:cNvSpPr>
            <a:spLocks xmlns:a="http://schemas.openxmlformats.org/drawingml/2006/main" noGrp="1"/>
          </p:cNvSpPr>
          <p:nvPr/>
        </p:nvSpPr>
        <p:spPr>
          <a:xfrm xmlns:a="http://schemas.openxmlformats.org/drawingml/2006/main">
            <a:off x="552450" y="16764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6666"/>
                </a:solidFill>
                <a:latin typeface="Arial"/>
                <a:ea typeface="Arial"/>
                <a:cs typeface="Arial"/>
              </a:defRPr>
            </a:defPPr>
          </a:lstStyle>
          <a:p xmlns:a="http://schemas.openxmlformats.org/drawingml/2006/main">
            <a:pPr>
              <a:defRPr sz="1875" b="0">
                <a:solidFill>
                  <a:srgbClr val="666666"/>
                </a:solidFill>
                <a:latin typeface="Arial"/>
                <a:ea typeface="Arial"/>
                <a:cs typeface="Arial"/>
              </a:defRPr>
            </a:pPr>
            <a:r>
              <a:rPr sz="1875" b="0">
                <a:solidFill>
                  <a:srgbClr val="666666"/>
                </a:solidFill>
                <a:latin typeface="Arial"/>
                <a:ea typeface="Arial"/>
                <a:cs typeface="Arial"/>
              </a:rPr>
              <a:t>Best fit: detailed modeling, material preparation and authored animation.</a:t>
            </a:r>
          </a:p>
        </p:txBody>
      </p:sp>
      <p:sp>
        <p:nvSpPr>
          <p:cNvPr id="5" name="">
            <a:extLst xmlns:a="http://schemas.openxmlformats.org/drawingml/2006/main">
              <a:ext uri="{FF2B5EF4-FFF2-40B4-BE49-F238E27FC236}">
                <a16:creationId xmlns:a16="http://schemas.microsoft.com/office/drawing/2014/main" id="{D442A471-C370-46F0-9DE6-64903F2E28C8}"/>
              </a:ext>
            </a:extLst>
          </p:cNvPr>
          <p:cNvSpPr>
            <a:spLocks xmlns:a="http://schemas.openxmlformats.org/drawingml/2006/main" noGrp="1"/>
          </p:cNvSpPr>
          <p:nvPr/>
        </p:nvSpPr>
        <p:spPr>
          <a:xfrm xmlns:a="http://schemas.openxmlformats.org/drawingml/2006/main">
            <a:off x="552450" y="260032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961A86"/>
                </a:solidFill>
                <a:latin typeface="Arial"/>
                <a:ea typeface="Arial"/>
                <a:cs typeface="Arial"/>
              </a:defRPr>
            </a:defPPr>
          </a:lstStyle>
          <a:p xmlns:a="http://schemas.openxmlformats.org/drawingml/2006/main">
            <a:pPr>
              <a:defRPr sz="1875" b="1">
                <a:solidFill>
                  <a:srgbClr val="961A86"/>
                </a:solidFill>
                <a:latin typeface="Arial"/>
                <a:ea typeface="Arial"/>
                <a:cs typeface="Arial"/>
              </a:defRPr>
            </a:pPr>
            <a:r>
              <a:rPr sz="1875" b="1">
                <a:solidFill>
                  <a:srgbClr val="961A86"/>
                </a:solidFill>
                <a:latin typeface="Arial"/>
                <a:ea typeface="Arial"/>
                <a:cs typeface="Arial"/>
              </a:rPr>
              <a:t>How it works</a:t>
            </a:r>
          </a:p>
        </p:txBody>
      </p:sp>
      <p:sp>
        <p:nvSpPr>
          <p:cNvPr id="6" name="">
            <a:extLst xmlns:a="http://schemas.openxmlformats.org/drawingml/2006/main">
              <a:ext uri="{FF2B5EF4-FFF2-40B4-BE49-F238E27FC236}">
                <a16:creationId xmlns:a16="http://schemas.microsoft.com/office/drawing/2014/main" id="{EFA0875F-4149-40ED-91FA-38ACBF2BBDCB}"/>
              </a:ext>
            </a:extLst>
          </p:cNvPr>
          <p:cNvSpPr>
            <a:spLocks xmlns:a="http://schemas.openxmlformats.org/drawingml/2006/main" noGrp="1"/>
          </p:cNvSpPr>
          <p:nvPr/>
        </p:nvSpPr>
        <p:spPr>
          <a:xfrm xmlns:a="http://schemas.openxmlformats.org/drawingml/2006/main">
            <a:off x="552450" y="3000375"/>
            <a:ext cx="4572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51515"/>
                </a:solidFill>
                <a:latin typeface="Arial"/>
                <a:ea typeface="Arial"/>
                <a:cs typeface="Arial"/>
              </a:defRPr>
            </a:defPPr>
          </a:lstStyle>
          <a:p xmlns:a="http://schemas.openxmlformats.org/drawingml/2006/main">
            <a:pPr>
              <a:defRPr sz="1875" b="0">
                <a:solidFill>
                  <a:srgbClr val="151515"/>
                </a:solidFill>
                <a:latin typeface="Arial"/>
                <a:ea typeface="Arial"/>
                <a:cs typeface="Arial"/>
              </a:defRPr>
            </a:pPr>
            <a:r>
              <a:rPr sz="1875" b="0">
                <a:solidFill>
                  <a:srgbClr val="151515"/>
                </a:solidFill>
                <a:latin typeface="Arial"/>
                <a:ea typeface="Arial"/>
                <a:cs typeface="Arial"/>
              </a:rPr>
              <a:t>An artist edits geometry, UVs, materials and keyframes in a desktop scene.</a:t>
            </a:r>
          </a:p>
        </p:txBody>
      </p:sp>
      <p:sp>
        <p:nvSpPr>
          <p:cNvPr id="7" name="">
            <a:extLst xmlns:a="http://schemas.openxmlformats.org/drawingml/2006/main">
              <a:ext uri="{FF2B5EF4-FFF2-40B4-BE49-F238E27FC236}">
                <a16:creationId xmlns:a16="http://schemas.microsoft.com/office/drawing/2014/main" id="{41FF9C45-E36F-46F4-BE95-EA9A5815B978}"/>
              </a:ext>
            </a:extLst>
          </p:cNvPr>
          <p:cNvSpPr>
            <a:spLocks xmlns:a="http://schemas.openxmlformats.org/drawingml/2006/main" noGrp="1"/>
          </p:cNvSpPr>
          <p:nvPr/>
        </p:nvSpPr>
        <p:spPr>
          <a:xfrm xmlns:a="http://schemas.openxmlformats.org/drawingml/2006/main">
            <a:off x="552450" y="38004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961A86"/>
                </a:solidFill>
                <a:latin typeface="Arial"/>
                <a:ea typeface="Arial"/>
                <a:cs typeface="Arial"/>
              </a:defRPr>
            </a:defPPr>
          </a:lstStyle>
          <a:p xmlns:a="http://schemas.openxmlformats.org/drawingml/2006/main">
            <a:pPr>
              <a:defRPr sz="1875" b="1">
                <a:solidFill>
                  <a:srgbClr val="961A86"/>
                </a:solidFill>
                <a:latin typeface="Arial"/>
                <a:ea typeface="Arial"/>
                <a:cs typeface="Arial"/>
              </a:defRPr>
            </a:pPr>
            <a:r>
              <a:rPr sz="1875" b="1">
                <a:solidFill>
                  <a:srgbClr val="961A86"/>
                </a:solidFill>
                <a:latin typeface="Arial"/>
                <a:ea typeface="Arial"/>
                <a:cs typeface="Arial"/>
              </a:rPr>
              <a:t>Website handoff</a:t>
            </a:r>
          </a:p>
        </p:txBody>
      </p:sp>
      <p:sp>
        <p:nvSpPr>
          <p:cNvPr id="8" name="">
            <a:extLst xmlns:a="http://schemas.openxmlformats.org/drawingml/2006/main">
              <a:ext uri="{FF2B5EF4-FFF2-40B4-BE49-F238E27FC236}">
                <a16:creationId xmlns:a16="http://schemas.microsoft.com/office/drawing/2014/main" id="{A757B9D6-0495-4F21-9069-2B56040890C3}"/>
              </a:ext>
            </a:extLst>
          </p:cNvPr>
          <p:cNvSpPr>
            <a:spLocks xmlns:a="http://schemas.openxmlformats.org/drawingml/2006/main" noGrp="1"/>
          </p:cNvSpPr>
          <p:nvPr/>
        </p:nvSpPr>
        <p:spPr>
          <a:xfrm xmlns:a="http://schemas.openxmlformats.org/drawingml/2006/main">
            <a:off x="552450" y="4200525"/>
            <a:ext cx="4572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51515"/>
                </a:solidFill>
                <a:latin typeface="Arial"/>
                <a:ea typeface="Arial"/>
                <a:cs typeface="Arial"/>
              </a:defRPr>
            </a:defPPr>
          </a:lstStyle>
          <a:p xmlns:a="http://schemas.openxmlformats.org/drawingml/2006/main">
            <a:pPr>
              <a:defRPr sz="1875" b="0">
                <a:solidFill>
                  <a:srgbClr val="151515"/>
                </a:solidFill>
                <a:latin typeface="Arial"/>
                <a:ea typeface="Arial"/>
                <a:cs typeface="Arial"/>
              </a:defRPr>
            </a:pPr>
            <a:r>
              <a:rPr sz="1875" b="0">
                <a:solidFill>
                  <a:srgbClr val="151515"/>
                </a:solidFill>
                <a:latin typeface="Arial"/>
                <a:ea typeface="Arial"/>
                <a:cs typeface="Arial"/>
              </a:rPr>
              <a:t>Export a web-ready GLB, then load it with a viewer or engine.</a:t>
            </a:r>
          </a:p>
        </p:txBody>
      </p:sp>
      <p:sp>
        <p:nvSpPr>
          <p:cNvPr id="9" name="">
            <a:extLst xmlns:a="http://schemas.openxmlformats.org/drawingml/2006/main">
              <a:ext uri="{FF2B5EF4-FFF2-40B4-BE49-F238E27FC236}">
                <a16:creationId xmlns:a16="http://schemas.microsoft.com/office/drawing/2014/main" id="{745503A4-2F3D-4DE5-BCB2-9900CCD6615C}"/>
              </a:ext>
            </a:extLst>
          </p:cNvPr>
          <p:cNvSpPr>
            <a:spLocks xmlns:a="http://schemas.openxmlformats.org/drawingml/2006/main" noGrp="1"/>
          </p:cNvSpPr>
          <p:nvPr/>
        </p:nvSpPr>
        <p:spPr>
          <a:xfrm xmlns:a="http://schemas.openxmlformats.org/drawingml/2006/main">
            <a:off x="552450" y="500062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961A86"/>
                </a:solidFill>
                <a:latin typeface="Arial"/>
                <a:ea typeface="Arial"/>
                <a:cs typeface="Arial"/>
              </a:defRPr>
            </a:defPPr>
          </a:lstStyle>
          <a:p xmlns:a="http://schemas.openxmlformats.org/drawingml/2006/main">
            <a:pPr>
              <a:defRPr sz="1875" b="1">
                <a:solidFill>
                  <a:srgbClr val="961A86"/>
                </a:solidFill>
                <a:latin typeface="Arial"/>
                <a:ea typeface="Arial"/>
                <a:cs typeface="Arial"/>
              </a:defRPr>
            </a:pPr>
            <a:r>
              <a:rPr sz="1875" b="1">
                <a:solidFill>
                  <a:srgbClr val="961A86"/>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9B757DA4-6AA3-49BE-95CD-1427F5FF258D}"/>
              </a:ext>
            </a:extLst>
          </p:cNvPr>
          <p:cNvSpPr>
            <a:spLocks xmlns:a="http://schemas.openxmlformats.org/drawingml/2006/main" noGrp="1"/>
          </p:cNvSpPr>
          <p:nvPr/>
        </p:nvSpPr>
        <p:spPr>
          <a:xfrm xmlns:a="http://schemas.openxmlformats.org/drawingml/2006/main">
            <a:off x="552450" y="5400675"/>
            <a:ext cx="4572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51515"/>
                </a:solidFill>
                <a:latin typeface="Arial"/>
                <a:ea typeface="Arial"/>
                <a:cs typeface="Arial"/>
              </a:defRPr>
            </a:defPPr>
          </a:lstStyle>
          <a:p xmlns:a="http://schemas.openxmlformats.org/drawingml/2006/main">
            <a:pPr>
              <a:defRPr sz="1875" b="0">
                <a:solidFill>
                  <a:srgbClr val="151515"/>
                </a:solidFill>
                <a:latin typeface="Arial"/>
                <a:ea typeface="Arial"/>
                <a:cs typeface="Arial"/>
              </a:defRPr>
            </a:pPr>
            <a:r>
              <a:rPr sz="1875" b="0">
                <a:solidFill>
                  <a:srgbClr val="151515"/>
                </a:solidFill>
                <a:latin typeface="Arial"/>
                <a:ea typeface="Arial"/>
                <a:cs typeface="Arial"/>
              </a:rPr>
              <a:t>Check export compatibility. Complex materials and simulations may need baking.</a:t>
            </a:r>
          </a:p>
        </p:txBody>
      </p:sp>
      <p:pic>
        <p:nvPicPr>
          <p:cNvPr id="11" name="">
            <a:extLst xmlns:a="http://schemas.openxmlformats.org/drawingml/2006/main">
              <a:ext uri="{FF2B5EF4-FFF2-40B4-BE49-F238E27FC236}">
                <a16:creationId xmlns:a16="http://schemas.microsoft.com/office/drawing/2014/main" id="{BA4A0803-46B3-43F9-BD98-EE161550F782}"/>
              </a:ext>
            </a:extLst>
          </p:cNvPr>
          <p:cNvPicPr>
            <a:picLocks xmlns:a="http://schemas.openxmlformats.org/drawingml/2006/main" noChangeAspect="1"/>
          </p:cNvPicPr>
          <p:nvPr/>
        </p:nvPicPr>
        <p:blipFill>
          <a:blip xmlns:r="http://schemas.openxmlformats.org/officeDocument/2006/relationships" xmlns:a="http://schemas.openxmlformats.org/drawingml/2006/main" r:embed="Ra16e1d6a92c344ce"/>
          <a:stretch xmlns:a="http://schemas.openxmlformats.org/drawingml/2006/main"/>
        </p:blipFill>
        <p:spPr>
          <a:xfrm xmlns:a="http://schemas.openxmlformats.org/drawingml/2006/main">
            <a:off x="7086600" y="2571750"/>
            <a:ext cx="3162300" cy="31623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CFE89AB-C652-41A8-8415-20E24ECB1DAA}"/>
              </a:ext>
            </a:extLst>
          </p:cNvPr>
          <p:cNvSpPr>
            <a:spLocks xmlns:a="http://schemas.openxmlformats.org/drawingml/2006/main" noGrp="1"/>
          </p:cNvSpPr>
          <p:nvPr/>
        </p:nvSpPr>
        <p:spPr>
          <a:xfrm xmlns:a="http://schemas.openxmlformats.org/drawingml/2006/main">
            <a:off x="5667375" y="5962650"/>
            <a:ext cx="600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66666"/>
                </a:solidFill>
                <a:latin typeface="Arial"/>
                <a:ea typeface="Arial"/>
                <a:cs typeface="Arial"/>
              </a:defRPr>
            </a:defPPr>
          </a:lstStyle>
          <a:p xmlns:a="http://schemas.openxmlformats.org/drawingml/2006/main">
            <a:pPr>
              <a:defRPr sz="1275" b="0">
                <a:solidFill>
                  <a:srgbClr val="666666"/>
                </a:solidFill>
                <a:latin typeface="Arial"/>
                <a:ea typeface="Arial"/>
                <a:cs typeface="Arial"/>
              </a:defRPr>
            </a:pPr>
            <a:r>
              <a:rPr sz="1275" b="0">
                <a:solidFill>
                  <a:srgbClr val="666666"/>
                </a:solidFill>
                <a:latin typeface="Arial"/>
                <a:ea typeface="Arial"/>
                <a:cs typeface="Arial"/>
              </a:rPr>
              <a:t>Camera reference used in this project</a:t>
            </a:r>
          </a:p>
        </p:txBody>
      </p:sp>
    </p:spTree>
    <p:extLst>
      <p:ext uri="{BB962C8B-B14F-4D97-AF65-F5344CB8AC3E}">
        <p14:creationId xmlns:p14="http://schemas.microsoft.com/office/powerpoint/2010/main" val="201323452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CDD48F6-5AC1-4E23-B128-2B03CDA7C293}"/>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LIGHTMETRICS   /   3D EXPLORATION</a:t>
            </a:r>
          </a:p>
        </p:txBody>
      </p:sp>
      <p:sp>
        <p:nvSpPr>
          <p:cNvPr id="2" name="">
            <a:extLst xmlns:a="http://schemas.openxmlformats.org/drawingml/2006/main">
              <a:ext uri="{FF2B5EF4-FFF2-40B4-BE49-F238E27FC236}">
                <a16:creationId xmlns:a16="http://schemas.microsoft.com/office/drawing/2014/main" id="{209892C4-DB82-478E-8D08-16A3A71D2F05}"/>
              </a:ext>
            </a:extLst>
          </p:cNvPr>
          <p:cNvSpPr>
            <a:spLocks xmlns:a="http://schemas.openxmlformats.org/drawingml/2006/main" noGrp="1"/>
          </p:cNvSpPr>
          <p:nvPr/>
        </p:nvSpPr>
        <p:spPr>
          <a:xfrm xmlns:a="http://schemas.openxmlformats.org/drawingml/2006/main">
            <a:off x="11049000" y="2857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26E1DD4A-205D-4DD5-810B-47E78EC76D05}"/>
              </a:ext>
            </a:extLst>
          </p:cNvPr>
          <p:cNvSpPr>
            <a:spLocks xmlns:a="http://schemas.openxmlformats.org/drawingml/2006/main" noGrp="1"/>
          </p:cNvSpPr>
          <p:nvPr/>
        </p:nvSpPr>
        <p:spPr>
          <a:xfrm xmlns:a="http://schemas.openxmlformats.org/drawingml/2006/main">
            <a:off x="533400" y="89535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151515"/>
                </a:solidFill>
                <a:latin typeface="Arial"/>
                <a:ea typeface="Arial"/>
                <a:cs typeface="Arial"/>
              </a:defRPr>
            </a:defPPr>
          </a:lstStyle>
          <a:p xmlns:a="http://schemas.openxmlformats.org/drawingml/2006/main">
            <a:pPr>
              <a:defRPr sz="3300" b="0">
                <a:solidFill>
                  <a:srgbClr val="151515"/>
                </a:solidFill>
                <a:latin typeface="Arial"/>
                <a:ea typeface="Arial"/>
                <a:cs typeface="Arial"/>
              </a:defRPr>
            </a:pPr>
            <a:r>
              <a:rPr sz="3300" b="0">
                <a:solidFill>
                  <a:srgbClr val="151515"/>
                </a:solidFill>
                <a:latin typeface="Arial"/>
                <a:ea typeface="Arial"/>
                <a:cs typeface="Arial"/>
              </a:rPr>
              <a:t>GLB is the handoff file</a:t>
            </a:r>
          </a:p>
        </p:txBody>
      </p:sp>
      <p:sp>
        <p:nvSpPr>
          <p:cNvPr id="4" name="">
            <a:extLst xmlns:a="http://schemas.openxmlformats.org/drawingml/2006/main">
              <a:ext uri="{FF2B5EF4-FFF2-40B4-BE49-F238E27FC236}">
                <a16:creationId xmlns:a16="http://schemas.microsoft.com/office/drawing/2014/main" id="{C1C3E9D5-765F-4A48-98FC-7D5361F30CFA}"/>
              </a:ext>
            </a:extLst>
          </p:cNvPr>
          <p:cNvSpPr>
            <a:spLocks xmlns:a="http://schemas.openxmlformats.org/drawingml/2006/main" noGrp="1"/>
          </p:cNvSpPr>
          <p:nvPr/>
        </p:nvSpPr>
        <p:spPr>
          <a:xfrm xmlns:a="http://schemas.openxmlformats.org/drawingml/2006/main">
            <a:off x="552450" y="16764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6666"/>
                </a:solidFill>
                <a:latin typeface="Arial"/>
                <a:ea typeface="Arial"/>
                <a:cs typeface="Arial"/>
              </a:defRPr>
            </a:defPPr>
          </a:lstStyle>
          <a:p xmlns:a="http://schemas.openxmlformats.org/drawingml/2006/main">
            <a:pPr>
              <a:defRPr sz="1875" b="0">
                <a:solidFill>
                  <a:srgbClr val="666666"/>
                </a:solidFill>
                <a:latin typeface="Arial"/>
                <a:ea typeface="Arial"/>
                <a:cs typeface="Arial"/>
              </a:defRPr>
            </a:pPr>
            <a:r>
              <a:rPr sz="1875" b="0">
                <a:solidFill>
                  <a:srgbClr val="666666"/>
                </a:solidFill>
                <a:latin typeface="Arial"/>
                <a:ea typeface="Arial"/>
                <a:cs typeface="Arial"/>
              </a:rPr>
              <a:t>A practical delivery format for models on the web.</a:t>
            </a:r>
          </a:p>
        </p:txBody>
      </p:sp>
      <p:graphicFrame>
        <p:nvGraphicFramePr>
          <p:cNvPr id="5" name="">
            <a:extLst xmlns:a="http://schemas.openxmlformats.org/drawingml/2006/main">
              <a:ext uri="{FF2B5EF4-FFF2-40B4-BE49-F238E27FC236}">
                <a16:creationId xmlns:a16="http://schemas.microsoft.com/office/drawing/2014/main" id="{04D1D07F-4D1C-4B02-80CD-831BE9E8AB52}"/>
              </a:ext>
            </a:extLst>
          </p:cNvPr>
          <p:cNvGraphicFramePr/>
          <p:nvPr/>
        </p:nvGraphicFramePr>
        <p:xfrm>
          <a:off xmlns:a="http://schemas.openxmlformats.org/drawingml/2006/main" x="552450" y="2562225"/>
          <a:ext xmlns:a="http://schemas.openxmlformats.org/drawingml/2006/main" cx="11087100" cy="3638550"/>
        </p:xfrm>
        <a:graphic xmlns:a="http://schemas.openxmlformats.org/drawingml/2006/main">
          <a:graphicData uri="http://schemas.openxmlformats.org/drawingml/2006/table">
            <a:tbl>
              <a:tblPr/>
              <a:tblGrid>
                <a:gridCol w="3095625"/>
                <a:gridCol w="3905250"/>
                <a:gridCol w="4086225"/>
              </a:tblGrid>
              <a:tr h="727710">
                <a:tc>
                  <a:txBody>
                    <a:bodyPr/>
                    <a:lstStyle/>
                    <a:p>
                      <a:r>
                        <a:rPr sz="1725" b="1">
                          <a:solidFill>
                            <a:srgbClr val="FFFFFF"/>
                          </a:solidFill>
                          <a:latin typeface="Arial"/>
                          <a:ea typeface="Arial"/>
                          <a:cs typeface="Arial"/>
                        </a:rPr>
                        <a:t>Format</a:t>
                      </a:r>
                    </a:p>
                  </a:txBody>
                  <a:tcPr marL="114300" marR="114300" marT="47625" marB="47625">
                    <a:solidFill>
                      <a:srgbClr val="151515"/>
                    </a:solidFill>
                  </a:tcPr>
                </a:tc>
                <a:tc>
                  <a:txBody>
                    <a:bodyPr/>
                    <a:lstStyle/>
                    <a:p>
                      <a:r>
                        <a:rPr sz="1725" b="1">
                          <a:solidFill>
                            <a:srgbClr val="FFFFFF"/>
                          </a:solidFill>
                          <a:latin typeface="Arial"/>
                          <a:ea typeface="Arial"/>
                          <a:cs typeface="Arial"/>
                        </a:rPr>
                        <a:t>Purpose</a:t>
                      </a:r>
                    </a:p>
                  </a:txBody>
                  <a:tcPr marL="114300" marR="114300" marT="47625" marB="47625">
                    <a:solidFill>
                      <a:srgbClr val="151515"/>
                    </a:solidFill>
                  </a:tcPr>
                </a:tc>
                <a:tc>
                  <a:txBody>
                    <a:bodyPr/>
                    <a:lstStyle/>
                    <a:p>
                      <a:r>
                        <a:rPr sz="1725" b="1">
                          <a:solidFill>
                            <a:srgbClr val="FFFFFF"/>
                          </a:solidFill>
                          <a:latin typeface="Arial"/>
                          <a:ea typeface="Arial"/>
                          <a:cs typeface="Arial"/>
                        </a:rPr>
                        <a:t>Website workflow</a:t>
                      </a:r>
                    </a:p>
                  </a:txBody>
                  <a:tcPr marL="114300" marR="114300" marT="47625" marB="47625">
                    <a:solidFill>
                      <a:srgbClr val="151515"/>
                    </a:solidFill>
                  </a:tcPr>
                </a:tc>
              </a:tr>
              <a:tr h="727710">
                <a:tc>
                  <a:txBody>
                    <a:bodyPr/>
                    <a:lstStyle/>
                    <a:p>
                      <a:r>
                        <a:rPr sz="1725">
                          <a:solidFill>
                            <a:srgbClr val="151515"/>
                          </a:solidFill>
                          <a:latin typeface="Arial"/>
                          <a:ea typeface="Arial"/>
                          <a:cs typeface="Arial"/>
                        </a:rPr>
                        <a:t>.blend</a:t>
                      </a:r>
                    </a:p>
                  </a:txBody>
                  <a:tcPr marL="114300" marR="114300" marT="47625" marB="47625"/>
                </a:tc>
                <a:tc>
                  <a:txBody>
                    <a:bodyPr/>
                    <a:lstStyle/>
                    <a:p>
                      <a:r>
                        <a:rPr sz="1725">
                          <a:solidFill>
                            <a:srgbClr val="151515"/>
                          </a:solidFill>
                          <a:latin typeface="Arial"/>
                          <a:ea typeface="Arial"/>
                          <a:cs typeface="Arial"/>
                        </a:rPr>
                        <a:t>Editable Blender project</a:t>
                      </a:r>
                    </a:p>
                  </a:txBody>
                  <a:tcPr marL="114300" marR="114300" marT="47625" marB="47625"/>
                </a:tc>
                <a:tc>
                  <a:txBody>
                    <a:bodyPr/>
                    <a:lstStyle/>
                    <a:p>
                      <a:r>
                        <a:rPr sz="1725">
                          <a:solidFill>
                            <a:srgbClr val="151515"/>
                          </a:solidFill>
                          <a:latin typeface="Arial"/>
                          <a:ea typeface="Arial"/>
                          <a:cs typeface="Arial"/>
                        </a:rPr>
                        <a:t>Keep for future art changes</a:t>
                      </a:r>
                    </a:p>
                  </a:txBody>
                  <a:tcPr marL="114300" marR="114300" marT="47625" marB="47625"/>
                </a:tc>
              </a:tr>
              <a:tr h="727710">
                <a:tc>
                  <a:txBody>
                    <a:bodyPr/>
                    <a:lstStyle/>
                    <a:p>
                      <a:r>
                        <a:rPr sz="1725">
                          <a:solidFill>
                            <a:srgbClr val="151515"/>
                          </a:solidFill>
                          <a:latin typeface="Arial"/>
                          <a:ea typeface="Arial"/>
                          <a:cs typeface="Arial"/>
                        </a:rPr>
                        <a:t>.gltf</a:t>
                      </a:r>
                    </a:p>
                  </a:txBody>
                  <a:tcPr marL="114300" marR="114300" marT="47625" marB="47625"/>
                </a:tc>
                <a:tc>
                  <a:txBody>
                    <a:bodyPr/>
                    <a:lstStyle/>
                    <a:p>
                      <a:r>
                        <a:rPr sz="1725">
                          <a:solidFill>
                            <a:srgbClr val="151515"/>
                          </a:solidFill>
                          <a:latin typeface="Arial"/>
                          <a:ea typeface="Arial"/>
                          <a:cs typeface="Arial"/>
                        </a:rPr>
                        <a:t>Scene description with referenced resources</a:t>
                      </a:r>
                    </a:p>
                  </a:txBody>
                  <a:tcPr marL="114300" marR="114300" marT="47625" marB="47625"/>
                </a:tc>
                <a:tc>
                  <a:txBody>
                    <a:bodyPr/>
                    <a:lstStyle/>
                    <a:p>
                      <a:r>
                        <a:rPr sz="1725">
                          <a:solidFill>
                            <a:srgbClr val="151515"/>
                          </a:solidFill>
                          <a:latin typeface="Arial"/>
                          <a:ea typeface="Arial"/>
                          <a:cs typeface="Arial"/>
                        </a:rPr>
                        <a:t>Useful for inspecting separate assets</a:t>
                      </a:r>
                    </a:p>
                  </a:txBody>
                  <a:tcPr marL="114300" marR="114300" marT="47625" marB="47625"/>
                </a:tc>
              </a:tr>
              <a:tr h="727710">
                <a:tc>
                  <a:txBody>
                    <a:bodyPr/>
                    <a:lstStyle/>
                    <a:p>
                      <a:r>
                        <a:rPr sz="1725">
                          <a:solidFill>
                            <a:srgbClr val="151515"/>
                          </a:solidFill>
                          <a:latin typeface="Arial"/>
                          <a:ea typeface="Arial"/>
                          <a:cs typeface="Arial"/>
                        </a:rPr>
                        <a:t>.glb</a:t>
                      </a:r>
                    </a:p>
                  </a:txBody>
                  <a:tcPr marL="114300" marR="114300" marT="47625" marB="47625"/>
                </a:tc>
                <a:tc>
                  <a:txBody>
                    <a:bodyPr/>
                    <a:lstStyle/>
                    <a:p>
                      <a:r>
                        <a:rPr sz="1725">
                          <a:solidFill>
                            <a:srgbClr val="151515"/>
                          </a:solidFill>
                          <a:latin typeface="Arial"/>
                          <a:ea typeface="Arial"/>
                          <a:cs typeface="Arial"/>
                        </a:rPr>
                        <a:t>Binary glTF container</a:t>
                      </a:r>
                    </a:p>
                  </a:txBody>
                  <a:tcPr marL="114300" marR="114300" marT="47625" marB="47625"/>
                </a:tc>
                <a:tc>
                  <a:txBody>
                    <a:bodyPr/>
                    <a:lstStyle/>
                    <a:p>
                      <a:r>
                        <a:rPr sz="1725">
                          <a:solidFill>
                            <a:srgbClr val="151515"/>
                          </a:solidFill>
                          <a:latin typeface="Arial"/>
                          <a:ea typeface="Arial"/>
                          <a:cs typeface="Arial"/>
                        </a:rPr>
                        <a:t>Often packages a model into one file</a:t>
                      </a:r>
                    </a:p>
                  </a:txBody>
                  <a:tcPr marL="114300" marR="114300" marT="47625" marB="47625"/>
                </a:tc>
              </a:tr>
              <a:tr h="727710">
                <a:tc>
                  <a:txBody>
                    <a:bodyPr/>
                    <a:lstStyle/>
                    <a:p>
                      <a:r>
                        <a:rPr sz="1725">
                          <a:solidFill>
                            <a:srgbClr val="151515"/>
                          </a:solidFill>
                          <a:latin typeface="Arial"/>
                          <a:ea typeface="Arial"/>
                          <a:cs typeface="Arial"/>
                        </a:rPr>
                        <a:t>.fbx / .obj</a:t>
                      </a:r>
                    </a:p>
                  </a:txBody>
                  <a:tcPr marL="114300" marR="114300" marT="47625" marB="47625"/>
                </a:tc>
                <a:tc>
                  <a:txBody>
                    <a:bodyPr/>
                    <a:lstStyle/>
                    <a:p>
                      <a:r>
                        <a:rPr sz="1725">
                          <a:solidFill>
                            <a:srgbClr val="151515"/>
                          </a:solidFill>
                          <a:latin typeface="Arial"/>
                          <a:ea typeface="Arial"/>
                          <a:cs typeface="Arial"/>
                        </a:rPr>
                        <a:t>Interchange formats</a:t>
                      </a:r>
                    </a:p>
                  </a:txBody>
                  <a:tcPr marL="114300" marR="114300" marT="47625" marB="47625"/>
                </a:tc>
                <a:tc>
                  <a:txBody>
                    <a:bodyPr/>
                    <a:lstStyle/>
                    <a:p>
                      <a:r>
                        <a:rPr sz="1725">
                          <a:solidFill>
                            <a:srgbClr val="151515"/>
                          </a:solidFill>
                          <a:latin typeface="Arial"/>
                          <a:ea typeface="Arial"/>
                          <a:cs typeface="Arial"/>
                        </a:rPr>
                        <a:t>Usually convert before web delivery</a:t>
                      </a:r>
                    </a:p>
                  </a:txBody>
                  <a:tcPr marL="114300" marR="114300" marT="47625" marB="47625"/>
                </a:tc>
              </a:tr>
            </a:tbl>
          </a:graphicData>
        </a:graphic>
      </p:graphicFrame>
    </p:spTree>
    <p:extLst>
      <p:ext uri="{BB962C8B-B14F-4D97-AF65-F5344CB8AC3E}">
        <p14:creationId xmlns:p14="http://schemas.microsoft.com/office/powerpoint/2010/main" val="9914216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73183AE-9952-4A73-ABCF-0B732139B03A}"/>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LIGHTMETRICS   /   3D EXPLORATION</a:t>
            </a:r>
          </a:p>
        </p:txBody>
      </p:sp>
      <p:sp>
        <p:nvSpPr>
          <p:cNvPr id="2" name="">
            <a:extLst xmlns:a="http://schemas.openxmlformats.org/drawingml/2006/main">
              <a:ext uri="{FF2B5EF4-FFF2-40B4-BE49-F238E27FC236}">
                <a16:creationId xmlns:a16="http://schemas.microsoft.com/office/drawing/2014/main" id="{D72E765A-F159-4F8C-8FF1-07D3DD74A249}"/>
              </a:ext>
            </a:extLst>
          </p:cNvPr>
          <p:cNvSpPr>
            <a:spLocks xmlns:a="http://schemas.openxmlformats.org/drawingml/2006/main" noGrp="1"/>
          </p:cNvSpPr>
          <p:nvPr/>
        </p:nvSpPr>
        <p:spPr>
          <a:xfrm xmlns:a="http://schemas.openxmlformats.org/drawingml/2006/main">
            <a:off x="11049000" y="2857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B87C4A53-F8CA-4F38-AEF7-A2E70FE71D94}"/>
              </a:ext>
            </a:extLst>
          </p:cNvPr>
          <p:cNvSpPr>
            <a:spLocks xmlns:a="http://schemas.openxmlformats.org/drawingml/2006/main" noGrp="1"/>
          </p:cNvSpPr>
          <p:nvPr/>
        </p:nvSpPr>
        <p:spPr>
          <a:xfrm xmlns:a="http://schemas.openxmlformats.org/drawingml/2006/main">
            <a:off x="533400" y="89535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151515"/>
                </a:solidFill>
                <a:latin typeface="Arial"/>
                <a:ea typeface="Arial"/>
                <a:cs typeface="Arial"/>
              </a:defRPr>
            </a:defPPr>
          </a:lstStyle>
          <a:p xmlns:a="http://schemas.openxmlformats.org/drawingml/2006/main">
            <a:pPr>
              <a:defRPr sz="3300" b="0">
                <a:solidFill>
                  <a:srgbClr val="151515"/>
                </a:solidFill>
                <a:latin typeface="Arial"/>
                <a:ea typeface="Arial"/>
                <a:cs typeface="Arial"/>
              </a:defRPr>
            </a:pPr>
            <a:r>
              <a:rPr sz="3300" b="0">
                <a:solidFill>
                  <a:srgbClr val="151515"/>
                </a:solidFill>
                <a:latin typeface="Arial"/>
                <a:ea typeface="Arial"/>
                <a:cs typeface="Arial"/>
              </a:rPr>
              <a:t>The asset preparation workflow</a:t>
            </a:r>
          </a:p>
        </p:txBody>
      </p:sp>
      <p:sp>
        <p:nvSpPr>
          <p:cNvPr id="4" name="">
            <a:extLst xmlns:a="http://schemas.openxmlformats.org/drawingml/2006/main">
              <a:ext uri="{FF2B5EF4-FFF2-40B4-BE49-F238E27FC236}">
                <a16:creationId xmlns:a16="http://schemas.microsoft.com/office/drawing/2014/main" id="{F38A500D-D0A5-4C4F-85BB-FEEB82294FCE}"/>
              </a:ext>
            </a:extLst>
          </p:cNvPr>
          <p:cNvSpPr>
            <a:spLocks xmlns:a="http://schemas.openxmlformats.org/drawingml/2006/main" noGrp="1"/>
          </p:cNvSpPr>
          <p:nvPr/>
        </p:nvSpPr>
        <p:spPr>
          <a:xfrm xmlns:a="http://schemas.openxmlformats.org/drawingml/2006/main">
            <a:off x="552450" y="16764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6666"/>
                </a:solidFill>
                <a:latin typeface="Arial"/>
                <a:ea typeface="Arial"/>
                <a:cs typeface="Arial"/>
              </a:defRPr>
            </a:defPPr>
          </a:lstStyle>
          <a:p xmlns:a="http://schemas.openxmlformats.org/drawingml/2006/main">
            <a:pPr>
              <a:defRPr sz="1875" b="0">
                <a:solidFill>
                  <a:srgbClr val="666666"/>
                </a:solidFill>
                <a:latin typeface="Arial"/>
                <a:ea typeface="Arial"/>
                <a:cs typeface="Arial"/>
              </a:defRPr>
            </a:pPr>
            <a:r>
              <a:rPr sz="1875" b="0">
                <a:solidFill>
                  <a:srgbClr val="666666"/>
                </a:solidFill>
                <a:latin typeface="Arial"/>
                <a:ea typeface="Arial"/>
                <a:cs typeface="Arial"/>
              </a:rPr>
              <a:t>A clean export makes the website easier to build and maintain.</a:t>
            </a:r>
          </a:p>
        </p:txBody>
      </p:sp>
      <p:sp>
        <p:nvSpPr>
          <p:cNvPr id="5" name="">
            <a:extLst xmlns:a="http://schemas.openxmlformats.org/drawingml/2006/main">
              <a:ext uri="{FF2B5EF4-FFF2-40B4-BE49-F238E27FC236}">
                <a16:creationId xmlns:a16="http://schemas.microsoft.com/office/drawing/2014/main" id="{89651E30-3D28-4BE5-8B08-46F3915D6589}"/>
              </a:ext>
            </a:extLst>
          </p:cNvPr>
          <p:cNvSpPr>
            <a:spLocks xmlns:a="http://schemas.openxmlformats.org/drawingml/2006/main" noGrp="1"/>
          </p:cNvSpPr>
          <p:nvPr/>
        </p:nvSpPr>
        <p:spPr>
          <a:xfrm xmlns:a="http://schemas.openxmlformats.org/drawingml/2006/main">
            <a:off x="552450" y="260032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01  Match</a:t>
            </a:r>
          </a:p>
        </p:txBody>
      </p:sp>
      <p:sp>
        <p:nvSpPr>
          <p:cNvPr id="6" name="">
            <a:extLst xmlns:a="http://schemas.openxmlformats.org/drawingml/2006/main">
              <a:ext uri="{FF2B5EF4-FFF2-40B4-BE49-F238E27FC236}">
                <a16:creationId xmlns:a16="http://schemas.microsoft.com/office/drawing/2014/main" id="{9CC3EE61-BAEF-4C7F-87EE-7B5227AB8136}"/>
              </a:ext>
            </a:extLst>
          </p:cNvPr>
          <p:cNvSpPr>
            <a:spLocks xmlns:a="http://schemas.openxmlformats.org/drawingml/2006/main" noGrp="1"/>
          </p:cNvSpPr>
          <p:nvPr/>
        </p:nvSpPr>
        <p:spPr>
          <a:xfrm xmlns:a="http://schemas.openxmlformats.org/drawingml/2006/main">
            <a:off x="3886200" y="26003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Check silhouette, dimensions and visible product details against references.</a:t>
            </a:r>
          </a:p>
        </p:txBody>
      </p:sp>
      <p:sp>
        <p:nvSpPr>
          <p:cNvPr id="7" name="">
            <a:extLst xmlns:a="http://schemas.openxmlformats.org/drawingml/2006/main">
              <a:ext uri="{FF2B5EF4-FFF2-40B4-BE49-F238E27FC236}">
                <a16:creationId xmlns:a16="http://schemas.microsoft.com/office/drawing/2014/main" id="{F17D8CA6-90E3-46FF-935B-533937C88577}"/>
              </a:ext>
            </a:extLst>
          </p:cNvPr>
          <p:cNvSpPr>
            <a:spLocks xmlns:a="http://schemas.openxmlformats.org/drawingml/2006/main" noGrp="1"/>
          </p:cNvSpPr>
          <p:nvPr/>
        </p:nvSpPr>
        <p:spPr>
          <a:xfrm xmlns:a="http://schemas.openxmlformats.org/drawingml/2006/main">
            <a:off x="552450" y="332422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02  Prepare</a:t>
            </a:r>
          </a:p>
        </p:txBody>
      </p:sp>
      <p:sp>
        <p:nvSpPr>
          <p:cNvPr id="8" name="">
            <a:extLst xmlns:a="http://schemas.openxmlformats.org/drawingml/2006/main">
              <a:ext uri="{FF2B5EF4-FFF2-40B4-BE49-F238E27FC236}">
                <a16:creationId xmlns:a16="http://schemas.microsoft.com/office/drawing/2014/main" id="{CEB1551C-DDBE-42E6-8F77-5CEE11EB6D86}"/>
              </a:ext>
            </a:extLst>
          </p:cNvPr>
          <p:cNvSpPr>
            <a:spLocks xmlns:a="http://schemas.openxmlformats.org/drawingml/2006/main" noGrp="1"/>
          </p:cNvSpPr>
          <p:nvPr/>
        </p:nvSpPr>
        <p:spPr>
          <a:xfrm xmlns:a="http://schemas.openxmlformats.org/drawingml/2006/main">
            <a:off x="3886200" y="33242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Use clear part names, sensible pivots and consistent scale.</a:t>
            </a:r>
          </a:p>
        </p:txBody>
      </p:sp>
      <p:sp>
        <p:nvSpPr>
          <p:cNvPr id="9" name="">
            <a:extLst xmlns:a="http://schemas.openxmlformats.org/drawingml/2006/main">
              <a:ext uri="{FF2B5EF4-FFF2-40B4-BE49-F238E27FC236}">
                <a16:creationId xmlns:a16="http://schemas.microsoft.com/office/drawing/2014/main" id="{25299761-32EA-4B82-8477-F8C1B91C43F7}"/>
              </a:ext>
            </a:extLst>
          </p:cNvPr>
          <p:cNvSpPr>
            <a:spLocks xmlns:a="http://schemas.openxmlformats.org/drawingml/2006/main" noGrp="1"/>
          </p:cNvSpPr>
          <p:nvPr/>
        </p:nvSpPr>
        <p:spPr>
          <a:xfrm xmlns:a="http://schemas.openxmlformats.org/drawingml/2006/main">
            <a:off x="552450" y="404812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03  Simplify</a:t>
            </a:r>
          </a:p>
        </p:txBody>
      </p:sp>
      <p:sp>
        <p:nvSpPr>
          <p:cNvPr id="10" name="">
            <a:extLst xmlns:a="http://schemas.openxmlformats.org/drawingml/2006/main">
              <a:ext uri="{FF2B5EF4-FFF2-40B4-BE49-F238E27FC236}">
                <a16:creationId xmlns:a16="http://schemas.microsoft.com/office/drawing/2014/main" id="{A19673EA-A304-4EED-9F51-B4437819A8CC}"/>
              </a:ext>
            </a:extLst>
          </p:cNvPr>
          <p:cNvSpPr>
            <a:spLocks xmlns:a="http://schemas.openxmlformats.org/drawingml/2006/main" noGrp="1"/>
          </p:cNvSpPr>
          <p:nvPr/>
        </p:nvSpPr>
        <p:spPr>
          <a:xfrm xmlns:a="http://schemas.openxmlformats.org/drawingml/2006/main">
            <a:off x="3886200" y="40481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Remove hidden geometry and use textures for very fine details.</a:t>
            </a:r>
          </a:p>
        </p:txBody>
      </p:sp>
      <p:sp>
        <p:nvSpPr>
          <p:cNvPr id="11" name="">
            <a:extLst xmlns:a="http://schemas.openxmlformats.org/drawingml/2006/main">
              <a:ext uri="{FF2B5EF4-FFF2-40B4-BE49-F238E27FC236}">
                <a16:creationId xmlns:a16="http://schemas.microsoft.com/office/drawing/2014/main" id="{57AC6AAC-1076-4248-80D1-C06BC7B45F43}"/>
              </a:ext>
            </a:extLst>
          </p:cNvPr>
          <p:cNvSpPr>
            <a:spLocks xmlns:a="http://schemas.openxmlformats.org/drawingml/2006/main" noGrp="1"/>
          </p:cNvSpPr>
          <p:nvPr/>
        </p:nvSpPr>
        <p:spPr>
          <a:xfrm xmlns:a="http://schemas.openxmlformats.org/drawingml/2006/main">
            <a:off x="552450" y="477202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04  Export</a:t>
            </a:r>
          </a:p>
        </p:txBody>
      </p:sp>
      <p:sp>
        <p:nvSpPr>
          <p:cNvPr id="12" name="">
            <a:extLst xmlns:a="http://schemas.openxmlformats.org/drawingml/2006/main">
              <a:ext uri="{FF2B5EF4-FFF2-40B4-BE49-F238E27FC236}">
                <a16:creationId xmlns:a16="http://schemas.microsoft.com/office/drawing/2014/main" id="{28966D62-81D0-40BB-BFDF-22568F53ADC8}"/>
              </a:ext>
            </a:extLst>
          </p:cNvPr>
          <p:cNvSpPr>
            <a:spLocks xmlns:a="http://schemas.openxmlformats.org/drawingml/2006/main" noGrp="1"/>
          </p:cNvSpPr>
          <p:nvPr/>
        </p:nvSpPr>
        <p:spPr>
          <a:xfrm xmlns:a="http://schemas.openxmlformats.org/drawingml/2006/main">
            <a:off x="3886200" y="47720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Export GLB and reopen it in the target web viewer.</a:t>
            </a:r>
          </a:p>
        </p:txBody>
      </p:sp>
      <p:sp>
        <p:nvSpPr>
          <p:cNvPr id="13" name="">
            <a:extLst xmlns:a="http://schemas.openxmlformats.org/drawingml/2006/main">
              <a:ext uri="{FF2B5EF4-FFF2-40B4-BE49-F238E27FC236}">
                <a16:creationId xmlns:a16="http://schemas.microsoft.com/office/drawing/2014/main" id="{293C0F9A-3065-483D-A6EB-046F3C67C62A}"/>
              </a:ext>
            </a:extLst>
          </p:cNvPr>
          <p:cNvSpPr>
            <a:spLocks xmlns:a="http://schemas.openxmlformats.org/drawingml/2006/main" noGrp="1"/>
          </p:cNvSpPr>
          <p:nvPr/>
        </p:nvSpPr>
        <p:spPr>
          <a:xfrm xmlns:a="http://schemas.openxmlformats.org/drawingml/2006/main">
            <a:off x="552450" y="549592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05  Approve</a:t>
            </a:r>
          </a:p>
        </p:txBody>
      </p:sp>
      <p:sp>
        <p:nvSpPr>
          <p:cNvPr id="14" name="">
            <a:extLst xmlns:a="http://schemas.openxmlformats.org/drawingml/2006/main">
              <a:ext uri="{FF2B5EF4-FFF2-40B4-BE49-F238E27FC236}">
                <a16:creationId xmlns:a16="http://schemas.microsoft.com/office/drawing/2014/main" id="{C8A69AD1-B154-42BB-8ED6-A645A94190A5}"/>
              </a:ext>
            </a:extLst>
          </p:cNvPr>
          <p:cNvSpPr>
            <a:spLocks xmlns:a="http://schemas.openxmlformats.org/drawingml/2006/main" noGrp="1"/>
          </p:cNvSpPr>
          <p:nvPr/>
        </p:nvSpPr>
        <p:spPr>
          <a:xfrm xmlns:a="http://schemas.openxmlformats.org/drawingml/2006/main">
            <a:off x="3886200" y="54959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Review front, side and rear views under the final lighting.</a:t>
            </a:r>
          </a:p>
        </p:txBody>
      </p:sp>
    </p:spTree>
    <p:extLst>
      <p:ext uri="{BB962C8B-B14F-4D97-AF65-F5344CB8AC3E}">
        <p14:creationId xmlns:p14="http://schemas.microsoft.com/office/powerpoint/2010/main" val="162753693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7807891-7047-4D7D-AA84-D4CF467F0839}"/>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LIGHTMETRICS   /   3D EXPLORATION</a:t>
            </a:r>
          </a:p>
        </p:txBody>
      </p:sp>
      <p:sp>
        <p:nvSpPr>
          <p:cNvPr id="2" name="">
            <a:extLst xmlns:a="http://schemas.openxmlformats.org/drawingml/2006/main">
              <a:ext uri="{FF2B5EF4-FFF2-40B4-BE49-F238E27FC236}">
                <a16:creationId xmlns:a16="http://schemas.microsoft.com/office/drawing/2014/main" id="{29CF3BA1-F2F3-4FFC-8BB4-CDE734073C99}"/>
              </a:ext>
            </a:extLst>
          </p:cNvPr>
          <p:cNvSpPr>
            <a:spLocks xmlns:a="http://schemas.openxmlformats.org/drawingml/2006/main" noGrp="1"/>
          </p:cNvSpPr>
          <p:nvPr/>
        </p:nvSpPr>
        <p:spPr>
          <a:xfrm xmlns:a="http://schemas.openxmlformats.org/drawingml/2006/main">
            <a:off x="11049000" y="2857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A93CCAB9-B5A6-4E13-A771-27A04CA084AE}"/>
              </a:ext>
            </a:extLst>
          </p:cNvPr>
          <p:cNvSpPr>
            <a:spLocks xmlns:a="http://schemas.openxmlformats.org/drawingml/2006/main" noGrp="1"/>
          </p:cNvSpPr>
          <p:nvPr/>
        </p:nvSpPr>
        <p:spPr>
          <a:xfrm xmlns:a="http://schemas.openxmlformats.org/drawingml/2006/main">
            <a:off x="533400" y="89535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151515"/>
                </a:solidFill>
                <a:latin typeface="Arial"/>
                <a:ea typeface="Arial"/>
                <a:cs typeface="Arial"/>
              </a:defRPr>
            </a:defPPr>
          </a:lstStyle>
          <a:p xmlns:a="http://schemas.openxmlformats.org/drawingml/2006/main">
            <a:pPr>
              <a:defRPr sz="3300" b="0">
                <a:solidFill>
                  <a:srgbClr val="151515"/>
                </a:solidFill>
                <a:latin typeface="Arial"/>
                <a:ea typeface="Arial"/>
                <a:cs typeface="Arial"/>
              </a:defRPr>
            </a:pPr>
            <a:r>
              <a:rPr sz="3300" b="0">
                <a:solidFill>
                  <a:srgbClr val="151515"/>
                </a:solidFill>
                <a:latin typeface="Arial"/>
                <a:ea typeface="Arial"/>
                <a:cs typeface="Arial"/>
              </a:rPr>
              <a:t>WebGL draws through the GPU</a:t>
            </a:r>
          </a:p>
        </p:txBody>
      </p:sp>
      <p:sp>
        <p:nvSpPr>
          <p:cNvPr id="4" name="">
            <a:extLst xmlns:a="http://schemas.openxmlformats.org/drawingml/2006/main">
              <a:ext uri="{FF2B5EF4-FFF2-40B4-BE49-F238E27FC236}">
                <a16:creationId xmlns:a16="http://schemas.microsoft.com/office/drawing/2014/main" id="{FBD1E9CD-82A2-4420-B2FC-52F85B6BF3FB}"/>
              </a:ext>
            </a:extLst>
          </p:cNvPr>
          <p:cNvSpPr>
            <a:spLocks xmlns:a="http://schemas.openxmlformats.org/drawingml/2006/main" noGrp="1"/>
          </p:cNvSpPr>
          <p:nvPr/>
        </p:nvSpPr>
        <p:spPr>
          <a:xfrm xmlns:a="http://schemas.openxmlformats.org/drawingml/2006/main">
            <a:off x="552450" y="16764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6666"/>
                </a:solidFill>
                <a:latin typeface="Arial"/>
                <a:ea typeface="Arial"/>
                <a:cs typeface="Arial"/>
              </a:defRPr>
            </a:defPPr>
          </a:lstStyle>
          <a:p xmlns:a="http://schemas.openxmlformats.org/drawingml/2006/main">
            <a:pPr>
              <a:defRPr sz="1875" b="0">
                <a:solidFill>
                  <a:srgbClr val="666666"/>
                </a:solidFill>
                <a:latin typeface="Arial"/>
                <a:ea typeface="Arial"/>
                <a:cs typeface="Arial"/>
              </a:defRPr>
            </a:pPr>
            <a:r>
              <a:rPr sz="1875" b="0">
                <a:solidFill>
                  <a:srgbClr val="666666"/>
                </a:solidFill>
                <a:latin typeface="Arial"/>
                <a:ea typeface="Arial"/>
                <a:cs typeface="Arial"/>
              </a:rPr>
              <a:t>Best fit: graphics foundations and specialized low-level rendering.</a:t>
            </a:r>
          </a:p>
        </p:txBody>
      </p:sp>
      <p:sp>
        <p:nvSpPr>
          <p:cNvPr id="5" name="">
            <a:extLst xmlns:a="http://schemas.openxmlformats.org/drawingml/2006/main">
              <a:ext uri="{FF2B5EF4-FFF2-40B4-BE49-F238E27FC236}">
                <a16:creationId xmlns:a16="http://schemas.microsoft.com/office/drawing/2014/main" id="{C109F5C2-8D82-4ACB-BFED-6539647D74DD}"/>
              </a:ext>
            </a:extLst>
          </p:cNvPr>
          <p:cNvSpPr>
            <a:spLocks xmlns:a="http://schemas.openxmlformats.org/drawingml/2006/main" noGrp="1"/>
          </p:cNvSpPr>
          <p:nvPr/>
        </p:nvSpPr>
        <p:spPr>
          <a:xfrm xmlns:a="http://schemas.openxmlformats.org/drawingml/2006/main">
            <a:off x="552450" y="2600325"/>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Input</a:t>
            </a:r>
          </a:p>
        </p:txBody>
      </p:sp>
      <p:sp>
        <p:nvSpPr>
          <p:cNvPr id="6" name="">
            <a:extLst xmlns:a="http://schemas.openxmlformats.org/drawingml/2006/main">
              <a:ext uri="{FF2B5EF4-FFF2-40B4-BE49-F238E27FC236}">
                <a16:creationId xmlns:a16="http://schemas.microsoft.com/office/drawing/2014/main" id="{9451C0A0-A479-46B1-BD2E-159874F3C54B}"/>
              </a:ext>
            </a:extLst>
          </p:cNvPr>
          <p:cNvSpPr>
            <a:spLocks xmlns:a="http://schemas.openxmlformats.org/drawingml/2006/main" noGrp="1"/>
          </p:cNvSpPr>
          <p:nvPr/>
        </p:nvSpPr>
        <p:spPr>
          <a:xfrm xmlns:a="http://schemas.openxmlformats.org/drawingml/2006/main">
            <a:off x="3886200" y="2600325"/>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JavaScript sends geometry, textures and rendering instructions.</a:t>
            </a:r>
          </a:p>
        </p:txBody>
      </p:sp>
      <p:sp>
        <p:nvSpPr>
          <p:cNvPr id="7" name="">
            <a:extLst xmlns:a="http://schemas.openxmlformats.org/drawingml/2006/main">
              <a:ext uri="{FF2B5EF4-FFF2-40B4-BE49-F238E27FC236}">
                <a16:creationId xmlns:a16="http://schemas.microsoft.com/office/drawing/2014/main" id="{C87A80BB-C48E-42EA-AB5C-E8A32A5C7598}"/>
              </a:ext>
            </a:extLst>
          </p:cNvPr>
          <p:cNvSpPr>
            <a:spLocks xmlns:a="http://schemas.openxmlformats.org/drawingml/2006/main" noGrp="1"/>
          </p:cNvSpPr>
          <p:nvPr/>
        </p:nvSpPr>
        <p:spPr>
          <a:xfrm xmlns:a="http://schemas.openxmlformats.org/drawingml/2006/main">
            <a:off x="552450" y="3505200"/>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Processing</a:t>
            </a:r>
          </a:p>
        </p:txBody>
      </p:sp>
      <p:sp>
        <p:nvSpPr>
          <p:cNvPr id="8" name="">
            <a:extLst xmlns:a="http://schemas.openxmlformats.org/drawingml/2006/main">
              <a:ext uri="{FF2B5EF4-FFF2-40B4-BE49-F238E27FC236}">
                <a16:creationId xmlns:a16="http://schemas.microsoft.com/office/drawing/2014/main" id="{8EA4FDD6-90F3-4D46-A992-2A9BB91A6FF8}"/>
              </a:ext>
            </a:extLst>
          </p:cNvPr>
          <p:cNvSpPr>
            <a:spLocks xmlns:a="http://schemas.openxmlformats.org/drawingml/2006/main" noGrp="1"/>
          </p:cNvSpPr>
          <p:nvPr/>
        </p:nvSpPr>
        <p:spPr>
          <a:xfrm xmlns:a="http://schemas.openxmlformats.org/drawingml/2006/main">
            <a:off x="3886200" y="3505200"/>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Shaders transform vertices and calculate pixel appearance.</a:t>
            </a:r>
          </a:p>
        </p:txBody>
      </p:sp>
      <p:sp>
        <p:nvSpPr>
          <p:cNvPr id="9" name="">
            <a:extLst xmlns:a="http://schemas.openxmlformats.org/drawingml/2006/main">
              <a:ext uri="{FF2B5EF4-FFF2-40B4-BE49-F238E27FC236}">
                <a16:creationId xmlns:a16="http://schemas.microsoft.com/office/drawing/2014/main" id="{F27D3797-A6FF-44F0-8DCD-E55BD28BB75D}"/>
              </a:ext>
            </a:extLst>
          </p:cNvPr>
          <p:cNvSpPr>
            <a:spLocks xmlns:a="http://schemas.openxmlformats.org/drawingml/2006/main" noGrp="1"/>
          </p:cNvSpPr>
          <p:nvPr/>
        </p:nvSpPr>
        <p:spPr>
          <a:xfrm xmlns:a="http://schemas.openxmlformats.org/drawingml/2006/main">
            <a:off x="552450" y="4410075"/>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Output</a:t>
            </a:r>
          </a:p>
        </p:txBody>
      </p:sp>
      <p:sp>
        <p:nvSpPr>
          <p:cNvPr id="10" name="">
            <a:extLst xmlns:a="http://schemas.openxmlformats.org/drawingml/2006/main">
              <a:ext uri="{FF2B5EF4-FFF2-40B4-BE49-F238E27FC236}">
                <a16:creationId xmlns:a16="http://schemas.microsoft.com/office/drawing/2014/main" id="{3F5DC2F9-60C1-430E-9839-E7DE2062F82A}"/>
              </a:ext>
            </a:extLst>
          </p:cNvPr>
          <p:cNvSpPr>
            <a:spLocks xmlns:a="http://schemas.openxmlformats.org/drawingml/2006/main" noGrp="1"/>
          </p:cNvSpPr>
          <p:nvPr/>
        </p:nvSpPr>
        <p:spPr>
          <a:xfrm xmlns:a="http://schemas.openxmlformats.org/drawingml/2006/main">
            <a:off x="3886200" y="4410075"/>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The GPU produces an image in an HTML canvas.</a:t>
            </a:r>
          </a:p>
        </p:txBody>
      </p:sp>
      <p:sp>
        <p:nvSpPr>
          <p:cNvPr id="11" name="">
            <a:extLst xmlns:a="http://schemas.openxmlformats.org/drawingml/2006/main">
              <a:ext uri="{FF2B5EF4-FFF2-40B4-BE49-F238E27FC236}">
                <a16:creationId xmlns:a16="http://schemas.microsoft.com/office/drawing/2014/main" id="{B0CC7B17-4D0B-4B99-B567-2C7A583DEEC1}"/>
              </a:ext>
            </a:extLst>
          </p:cNvPr>
          <p:cNvSpPr>
            <a:spLocks xmlns:a="http://schemas.openxmlformats.org/drawingml/2006/main" noGrp="1"/>
          </p:cNvSpPr>
          <p:nvPr/>
        </p:nvSpPr>
        <p:spPr>
          <a:xfrm xmlns:a="http://schemas.openxmlformats.org/drawingml/2006/main">
            <a:off x="552450" y="5314950"/>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Tradeoff</a:t>
            </a:r>
          </a:p>
        </p:txBody>
      </p:sp>
      <p:sp>
        <p:nvSpPr>
          <p:cNvPr id="12" name="">
            <a:extLst xmlns:a="http://schemas.openxmlformats.org/drawingml/2006/main">
              <a:ext uri="{FF2B5EF4-FFF2-40B4-BE49-F238E27FC236}">
                <a16:creationId xmlns:a16="http://schemas.microsoft.com/office/drawing/2014/main" id="{C056FC2E-DA7E-4F45-B930-ABFD0B19C720}"/>
              </a:ext>
            </a:extLst>
          </p:cNvPr>
          <p:cNvSpPr>
            <a:spLocks xmlns:a="http://schemas.openxmlformats.org/drawingml/2006/main" noGrp="1"/>
          </p:cNvSpPr>
          <p:nvPr/>
        </p:nvSpPr>
        <p:spPr>
          <a:xfrm xmlns:a="http://schemas.openxmlformats.org/drawingml/2006/main">
            <a:off x="3886200" y="5314950"/>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Direct WebGL gives control, with substantial setup and graphics code.</a:t>
            </a:r>
          </a:p>
        </p:txBody>
      </p:sp>
    </p:spTree>
    <p:extLst>
      <p:ext uri="{BB962C8B-B14F-4D97-AF65-F5344CB8AC3E}">
        <p14:creationId xmlns:p14="http://schemas.microsoft.com/office/powerpoint/2010/main" val="169266636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C7B9C59-03B7-43FA-88AC-178D7134549A}"/>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LIGHTMETRICS   /   3D EXPLORATION</a:t>
            </a:r>
          </a:p>
        </p:txBody>
      </p:sp>
      <p:sp>
        <p:nvSpPr>
          <p:cNvPr id="2" name="">
            <a:extLst xmlns:a="http://schemas.openxmlformats.org/drawingml/2006/main">
              <a:ext uri="{FF2B5EF4-FFF2-40B4-BE49-F238E27FC236}">
                <a16:creationId xmlns:a16="http://schemas.microsoft.com/office/drawing/2014/main" id="{251DE1E2-C234-4F63-8F87-DCDB83654A90}"/>
              </a:ext>
            </a:extLst>
          </p:cNvPr>
          <p:cNvSpPr>
            <a:spLocks xmlns:a="http://schemas.openxmlformats.org/drawingml/2006/main" noGrp="1"/>
          </p:cNvSpPr>
          <p:nvPr/>
        </p:nvSpPr>
        <p:spPr>
          <a:xfrm xmlns:a="http://schemas.openxmlformats.org/drawingml/2006/main">
            <a:off x="11049000" y="2857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4736796E-D2E0-4B63-8743-4C3F81924563}"/>
              </a:ext>
            </a:extLst>
          </p:cNvPr>
          <p:cNvSpPr>
            <a:spLocks xmlns:a="http://schemas.openxmlformats.org/drawingml/2006/main" noGrp="1"/>
          </p:cNvSpPr>
          <p:nvPr/>
        </p:nvSpPr>
        <p:spPr>
          <a:xfrm xmlns:a="http://schemas.openxmlformats.org/drawingml/2006/main">
            <a:off x="533400" y="89535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151515"/>
                </a:solidFill>
                <a:latin typeface="Arial"/>
                <a:ea typeface="Arial"/>
                <a:cs typeface="Arial"/>
              </a:defRPr>
            </a:defPPr>
          </a:lstStyle>
          <a:p xmlns:a="http://schemas.openxmlformats.org/drawingml/2006/main">
            <a:pPr>
              <a:defRPr sz="3300" b="0">
                <a:solidFill>
                  <a:srgbClr val="151515"/>
                </a:solidFill>
                <a:latin typeface="Arial"/>
                <a:ea typeface="Arial"/>
                <a:cs typeface="Arial"/>
              </a:defRPr>
            </a:pPr>
            <a:r>
              <a:rPr sz="3300" b="0">
                <a:solidFill>
                  <a:srgbClr val="151515"/>
                </a:solidFill>
                <a:latin typeface="Arial"/>
                <a:ea typeface="Arial"/>
                <a:cs typeface="Arial"/>
              </a:rPr>
              <a:t>Three.js builds the live scene</a:t>
            </a:r>
          </a:p>
        </p:txBody>
      </p:sp>
      <p:sp>
        <p:nvSpPr>
          <p:cNvPr id="4" name="">
            <a:extLst xmlns:a="http://schemas.openxmlformats.org/drawingml/2006/main">
              <a:ext uri="{FF2B5EF4-FFF2-40B4-BE49-F238E27FC236}">
                <a16:creationId xmlns:a16="http://schemas.microsoft.com/office/drawing/2014/main" id="{DDE30506-A175-4CC1-8CEE-3F2C52D0A8AB}"/>
              </a:ext>
            </a:extLst>
          </p:cNvPr>
          <p:cNvSpPr>
            <a:spLocks xmlns:a="http://schemas.openxmlformats.org/drawingml/2006/main" noGrp="1"/>
          </p:cNvSpPr>
          <p:nvPr/>
        </p:nvSpPr>
        <p:spPr>
          <a:xfrm xmlns:a="http://schemas.openxmlformats.org/drawingml/2006/main">
            <a:off x="552450" y="16764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6666"/>
                </a:solidFill>
                <a:latin typeface="Arial"/>
                <a:ea typeface="Arial"/>
                <a:cs typeface="Arial"/>
              </a:defRPr>
            </a:defPPr>
          </a:lstStyle>
          <a:p xmlns:a="http://schemas.openxmlformats.org/drawingml/2006/main">
            <a:pPr>
              <a:defRPr sz="1875" b="0">
                <a:solidFill>
                  <a:srgbClr val="666666"/>
                </a:solidFill>
                <a:latin typeface="Arial"/>
                <a:ea typeface="Arial"/>
                <a:cs typeface="Arial"/>
              </a:defRPr>
            </a:pPr>
            <a:r>
              <a:rPr sz="1875" b="0">
                <a:solidFill>
                  <a:srgbClr val="666666"/>
                </a:solidFill>
                <a:latin typeface="Arial"/>
                <a:ea typeface="Arial"/>
                <a:cs typeface="Arial"/>
              </a:rPr>
              <a:t>Best fit: a custom product viewer or a distinctive interactive website.</a:t>
            </a:r>
          </a:p>
        </p:txBody>
      </p:sp>
      <p:sp>
        <p:nvSpPr>
          <p:cNvPr id="5" name="">
            <a:extLst xmlns:a="http://schemas.openxmlformats.org/drawingml/2006/main">
              <a:ext uri="{FF2B5EF4-FFF2-40B4-BE49-F238E27FC236}">
                <a16:creationId xmlns:a16="http://schemas.microsoft.com/office/drawing/2014/main" id="{309B4D78-3C72-466C-BF1D-6D3CE4AB61DD}"/>
              </a:ext>
            </a:extLst>
          </p:cNvPr>
          <p:cNvSpPr>
            <a:spLocks xmlns:a="http://schemas.openxmlformats.org/drawingml/2006/main" noGrp="1"/>
          </p:cNvSpPr>
          <p:nvPr/>
        </p:nvSpPr>
        <p:spPr>
          <a:xfrm xmlns:a="http://schemas.openxmlformats.org/drawingml/2006/main">
            <a:off x="552450" y="2600325"/>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Scene + camera</a:t>
            </a:r>
          </a:p>
        </p:txBody>
      </p:sp>
      <p:sp>
        <p:nvSpPr>
          <p:cNvPr id="6" name="">
            <a:extLst xmlns:a="http://schemas.openxmlformats.org/drawingml/2006/main">
              <a:ext uri="{FF2B5EF4-FFF2-40B4-BE49-F238E27FC236}">
                <a16:creationId xmlns:a16="http://schemas.microsoft.com/office/drawing/2014/main" id="{20414347-A085-4213-838B-32FBF25DF6BD}"/>
              </a:ext>
            </a:extLst>
          </p:cNvPr>
          <p:cNvSpPr>
            <a:spLocks xmlns:a="http://schemas.openxmlformats.org/drawingml/2006/main" noGrp="1"/>
          </p:cNvSpPr>
          <p:nvPr/>
        </p:nvSpPr>
        <p:spPr>
          <a:xfrm xmlns:a="http://schemas.openxmlformats.org/drawingml/2006/main">
            <a:off x="3886200" y="2600325"/>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Place the object and choose the initial product view.</a:t>
            </a:r>
          </a:p>
        </p:txBody>
      </p:sp>
      <p:sp>
        <p:nvSpPr>
          <p:cNvPr id="7" name="">
            <a:extLst xmlns:a="http://schemas.openxmlformats.org/drawingml/2006/main">
              <a:ext uri="{FF2B5EF4-FFF2-40B4-BE49-F238E27FC236}">
                <a16:creationId xmlns:a16="http://schemas.microsoft.com/office/drawing/2014/main" id="{FC52562F-5A89-4309-A4C0-994CDCE25A8E}"/>
              </a:ext>
            </a:extLst>
          </p:cNvPr>
          <p:cNvSpPr>
            <a:spLocks xmlns:a="http://schemas.openxmlformats.org/drawingml/2006/main" noGrp="1"/>
          </p:cNvSpPr>
          <p:nvPr/>
        </p:nvSpPr>
        <p:spPr>
          <a:xfrm xmlns:a="http://schemas.openxmlformats.org/drawingml/2006/main">
            <a:off x="552450" y="3505200"/>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Materials + lighting</a:t>
            </a:r>
          </a:p>
        </p:txBody>
      </p:sp>
      <p:sp>
        <p:nvSpPr>
          <p:cNvPr id="8" name="">
            <a:extLst xmlns:a="http://schemas.openxmlformats.org/drawingml/2006/main">
              <a:ext uri="{FF2B5EF4-FFF2-40B4-BE49-F238E27FC236}">
                <a16:creationId xmlns:a16="http://schemas.microsoft.com/office/drawing/2014/main" id="{4E8093CC-143E-42AD-9A7E-3A1A87767AC1}"/>
              </a:ext>
            </a:extLst>
          </p:cNvPr>
          <p:cNvSpPr>
            <a:spLocks xmlns:a="http://schemas.openxmlformats.org/drawingml/2006/main" noGrp="1"/>
          </p:cNvSpPr>
          <p:nvPr/>
        </p:nvSpPr>
        <p:spPr>
          <a:xfrm xmlns:a="http://schemas.openxmlformats.org/drawingml/2006/main">
            <a:off x="3886200" y="3505200"/>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Define how the model looks in the browser.</a:t>
            </a:r>
          </a:p>
        </p:txBody>
      </p:sp>
      <p:sp>
        <p:nvSpPr>
          <p:cNvPr id="9" name="">
            <a:extLst xmlns:a="http://schemas.openxmlformats.org/drawingml/2006/main">
              <a:ext uri="{FF2B5EF4-FFF2-40B4-BE49-F238E27FC236}">
                <a16:creationId xmlns:a16="http://schemas.microsoft.com/office/drawing/2014/main" id="{FEC39C45-A6B4-4AEF-9AE0-75FFA63FCB81}"/>
              </a:ext>
            </a:extLst>
          </p:cNvPr>
          <p:cNvSpPr>
            <a:spLocks xmlns:a="http://schemas.openxmlformats.org/drawingml/2006/main" noGrp="1"/>
          </p:cNvSpPr>
          <p:nvPr/>
        </p:nvSpPr>
        <p:spPr>
          <a:xfrm xmlns:a="http://schemas.openxmlformats.org/drawingml/2006/main">
            <a:off x="552450" y="4410075"/>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Controls + events</a:t>
            </a:r>
          </a:p>
        </p:txBody>
      </p:sp>
      <p:sp>
        <p:nvSpPr>
          <p:cNvPr id="10" name="">
            <a:extLst xmlns:a="http://schemas.openxmlformats.org/drawingml/2006/main">
              <a:ext uri="{FF2B5EF4-FFF2-40B4-BE49-F238E27FC236}">
                <a16:creationId xmlns:a16="http://schemas.microsoft.com/office/drawing/2014/main" id="{A559200B-3C21-4730-BB44-7E6BE0FE909D}"/>
              </a:ext>
            </a:extLst>
          </p:cNvPr>
          <p:cNvSpPr>
            <a:spLocks xmlns:a="http://schemas.openxmlformats.org/drawingml/2006/main" noGrp="1"/>
          </p:cNvSpPr>
          <p:nvPr/>
        </p:nvSpPr>
        <p:spPr>
          <a:xfrm xmlns:a="http://schemas.openxmlformats.org/drawingml/2006/main">
            <a:off x="3886200" y="4410075"/>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Connect drag, zoom, buttons and object selection.</a:t>
            </a:r>
          </a:p>
        </p:txBody>
      </p:sp>
      <p:sp>
        <p:nvSpPr>
          <p:cNvPr id="11" name="">
            <a:extLst xmlns:a="http://schemas.openxmlformats.org/drawingml/2006/main">
              <a:ext uri="{FF2B5EF4-FFF2-40B4-BE49-F238E27FC236}">
                <a16:creationId xmlns:a16="http://schemas.microsoft.com/office/drawing/2014/main" id="{D4EA73EA-DE2F-43CD-B99D-D6E83F038297}"/>
              </a:ext>
            </a:extLst>
          </p:cNvPr>
          <p:cNvSpPr>
            <a:spLocks xmlns:a="http://schemas.openxmlformats.org/drawingml/2006/main" noGrp="1"/>
          </p:cNvSpPr>
          <p:nvPr/>
        </p:nvSpPr>
        <p:spPr>
          <a:xfrm xmlns:a="http://schemas.openxmlformats.org/drawingml/2006/main">
            <a:off x="552450" y="5314950"/>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Renderer</a:t>
            </a:r>
          </a:p>
        </p:txBody>
      </p:sp>
      <p:sp>
        <p:nvSpPr>
          <p:cNvPr id="12" name="">
            <a:extLst xmlns:a="http://schemas.openxmlformats.org/drawingml/2006/main">
              <a:ext uri="{FF2B5EF4-FFF2-40B4-BE49-F238E27FC236}">
                <a16:creationId xmlns:a16="http://schemas.microsoft.com/office/drawing/2014/main" id="{6A3A6269-937B-4F43-8DE3-A0948985B1BF}"/>
              </a:ext>
            </a:extLst>
          </p:cNvPr>
          <p:cNvSpPr>
            <a:spLocks xmlns:a="http://schemas.openxmlformats.org/drawingml/2006/main" noGrp="1"/>
          </p:cNvSpPr>
          <p:nvPr/>
        </p:nvSpPr>
        <p:spPr>
          <a:xfrm xmlns:a="http://schemas.openxmlformats.org/drawingml/2006/main">
            <a:off x="3886200" y="5314950"/>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Draw the scene after changes or during animation.</a:t>
            </a:r>
          </a:p>
        </p:txBody>
      </p:sp>
    </p:spTree>
    <p:extLst>
      <p:ext uri="{BB962C8B-B14F-4D97-AF65-F5344CB8AC3E}">
        <p14:creationId xmlns:p14="http://schemas.microsoft.com/office/powerpoint/2010/main" val="111601268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0296BE8-CE13-4A66-A2F3-A9DA8D408037}"/>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LIGHTMETRICS   /   3D EXPLORATION</a:t>
            </a:r>
          </a:p>
        </p:txBody>
      </p:sp>
      <p:sp>
        <p:nvSpPr>
          <p:cNvPr id="2" name="">
            <a:extLst xmlns:a="http://schemas.openxmlformats.org/drawingml/2006/main">
              <a:ext uri="{FF2B5EF4-FFF2-40B4-BE49-F238E27FC236}">
                <a16:creationId xmlns:a16="http://schemas.microsoft.com/office/drawing/2014/main" id="{EFBC46CD-D8EB-41E4-9896-845661E87320}"/>
              </a:ext>
            </a:extLst>
          </p:cNvPr>
          <p:cNvSpPr>
            <a:spLocks xmlns:a="http://schemas.openxmlformats.org/drawingml/2006/main" noGrp="1"/>
          </p:cNvSpPr>
          <p:nvPr/>
        </p:nvSpPr>
        <p:spPr>
          <a:xfrm xmlns:a="http://schemas.openxmlformats.org/drawingml/2006/main">
            <a:off x="11049000" y="2857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897618C6-BE6D-4307-B71A-D90F0370B8D5}"/>
              </a:ext>
            </a:extLst>
          </p:cNvPr>
          <p:cNvSpPr>
            <a:spLocks xmlns:a="http://schemas.openxmlformats.org/drawingml/2006/main" noGrp="1"/>
          </p:cNvSpPr>
          <p:nvPr/>
        </p:nvSpPr>
        <p:spPr>
          <a:xfrm xmlns:a="http://schemas.openxmlformats.org/drawingml/2006/main">
            <a:off x="533400" y="89535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151515"/>
                </a:solidFill>
                <a:latin typeface="Arial"/>
                <a:ea typeface="Arial"/>
                <a:cs typeface="Arial"/>
              </a:defRPr>
            </a:defPPr>
          </a:lstStyle>
          <a:p xmlns:a="http://schemas.openxmlformats.org/drawingml/2006/main">
            <a:pPr>
              <a:defRPr sz="3300" b="0">
                <a:solidFill>
                  <a:srgbClr val="151515"/>
                </a:solidFill>
                <a:latin typeface="Arial"/>
                <a:ea typeface="Arial"/>
                <a:cs typeface="Arial"/>
              </a:defRPr>
            </a:pPr>
            <a:r>
              <a:rPr sz="3300" b="0">
                <a:solidFill>
                  <a:srgbClr val="151515"/>
                </a:solidFill>
                <a:latin typeface="Arial"/>
                <a:ea typeface="Arial"/>
                <a:cs typeface="Arial"/>
              </a:rPr>
              <a:t>The main options at a glance</a:t>
            </a:r>
          </a:p>
        </p:txBody>
      </p:sp>
      <p:sp>
        <p:nvSpPr>
          <p:cNvPr id="4" name="">
            <a:extLst xmlns:a="http://schemas.openxmlformats.org/drawingml/2006/main">
              <a:ext uri="{FF2B5EF4-FFF2-40B4-BE49-F238E27FC236}">
                <a16:creationId xmlns:a16="http://schemas.microsoft.com/office/drawing/2014/main" id="{93620DB8-F012-4AB6-9FEF-D21913D03132}"/>
              </a:ext>
            </a:extLst>
          </p:cNvPr>
          <p:cNvSpPr>
            <a:spLocks xmlns:a="http://schemas.openxmlformats.org/drawingml/2006/main" noGrp="1"/>
          </p:cNvSpPr>
          <p:nvPr/>
        </p:nvSpPr>
        <p:spPr>
          <a:xfrm xmlns:a="http://schemas.openxmlformats.org/drawingml/2006/main">
            <a:off x="552450" y="16764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6666"/>
                </a:solidFill>
                <a:latin typeface="Arial"/>
                <a:ea typeface="Arial"/>
                <a:cs typeface="Arial"/>
              </a:defRPr>
            </a:defPPr>
          </a:lstStyle>
          <a:p xmlns:a="http://schemas.openxmlformats.org/drawingml/2006/main">
            <a:pPr>
              <a:defRPr sz="1875" b="0">
                <a:solidFill>
                  <a:srgbClr val="666666"/>
                </a:solidFill>
                <a:latin typeface="Arial"/>
                <a:ea typeface="Arial"/>
                <a:cs typeface="Arial"/>
              </a:defRPr>
            </a:pPr>
            <a:r>
              <a:rPr sz="1875" b="0">
                <a:solidFill>
                  <a:srgbClr val="666666"/>
                </a:solidFill>
                <a:latin typeface="Arial"/>
                <a:ea typeface="Arial"/>
                <a:cs typeface="Arial"/>
              </a:rPr>
              <a:t>Choose by the experience and the team that will maintain it.</a:t>
            </a:r>
          </a:p>
        </p:txBody>
      </p:sp>
      <p:graphicFrame>
        <p:nvGraphicFramePr>
          <p:cNvPr id="5" name="">
            <a:extLst xmlns:a="http://schemas.openxmlformats.org/drawingml/2006/main">
              <a:ext uri="{FF2B5EF4-FFF2-40B4-BE49-F238E27FC236}">
                <a16:creationId xmlns:a16="http://schemas.microsoft.com/office/drawing/2014/main" id="{866E40A2-3FE1-4C04-AE16-187FFF67B009}"/>
              </a:ext>
            </a:extLst>
          </p:cNvPr>
          <p:cNvGraphicFramePr/>
          <p:nvPr/>
        </p:nvGraphicFramePr>
        <p:xfrm>
          <a:off xmlns:a="http://schemas.openxmlformats.org/drawingml/2006/main" x="552450" y="2562225"/>
          <a:ext xmlns:a="http://schemas.openxmlformats.org/drawingml/2006/main" cx="11087100" cy="3638550"/>
        </p:xfrm>
        <a:graphic xmlns:a="http://schemas.openxmlformats.org/drawingml/2006/main">
          <a:graphicData uri="http://schemas.openxmlformats.org/drawingml/2006/table">
            <a:tbl>
              <a:tblPr/>
              <a:tblGrid>
                <a:gridCol w="3095625"/>
                <a:gridCol w="3905250"/>
                <a:gridCol w="4086225"/>
              </a:tblGrid>
              <a:tr h="519793">
                <a:tc>
                  <a:txBody>
                    <a:bodyPr/>
                    <a:lstStyle/>
                    <a:p>
                      <a:r>
                        <a:rPr sz="1725" b="1">
                          <a:solidFill>
                            <a:srgbClr val="FFFFFF"/>
                          </a:solidFill>
                          <a:latin typeface="Arial"/>
                          <a:ea typeface="Arial"/>
                          <a:cs typeface="Arial"/>
                        </a:rPr>
                        <a:t>Option</a:t>
                      </a:r>
                    </a:p>
                  </a:txBody>
                  <a:tcPr marL="114300" marR="114300" marT="47625" marB="47625">
                    <a:solidFill>
                      <a:srgbClr val="151515"/>
                    </a:solidFill>
                  </a:tcPr>
                </a:tc>
                <a:tc>
                  <a:txBody>
                    <a:bodyPr/>
                    <a:lstStyle/>
                    <a:p>
                      <a:r>
                        <a:rPr sz="1725" b="1">
                          <a:solidFill>
                            <a:srgbClr val="FFFFFF"/>
                          </a:solidFill>
                          <a:latin typeface="Arial"/>
                          <a:ea typeface="Arial"/>
                          <a:cs typeface="Arial"/>
                        </a:rPr>
                        <a:t>Strong starting point</a:t>
                      </a:r>
                    </a:p>
                  </a:txBody>
                  <a:tcPr marL="114300" marR="114300" marT="47625" marB="47625">
                    <a:solidFill>
                      <a:srgbClr val="151515"/>
                    </a:solidFill>
                  </a:tcPr>
                </a:tc>
                <a:tc>
                  <a:txBody>
                    <a:bodyPr/>
                    <a:lstStyle/>
                    <a:p>
                      <a:r>
                        <a:rPr sz="1725" b="1">
                          <a:solidFill>
                            <a:srgbClr val="FFFFFF"/>
                          </a:solidFill>
                          <a:latin typeface="Arial"/>
                          <a:ea typeface="Arial"/>
                          <a:cs typeface="Arial"/>
                        </a:rPr>
                        <a:t>Engineering effort</a:t>
                      </a:r>
                    </a:p>
                  </a:txBody>
                  <a:tcPr marL="114300" marR="114300" marT="47625" marB="47625">
                    <a:solidFill>
                      <a:srgbClr val="151515"/>
                    </a:solidFill>
                  </a:tcPr>
                </a:tc>
              </a:tr>
              <a:tr h="519793">
                <a:tc>
                  <a:txBody>
                    <a:bodyPr/>
                    <a:lstStyle/>
                    <a:p>
                      <a:r>
                        <a:rPr sz="1725">
                          <a:solidFill>
                            <a:srgbClr val="151515"/>
                          </a:solidFill>
                          <a:latin typeface="Arial"/>
                          <a:ea typeface="Arial"/>
                          <a:cs typeface="Arial"/>
                        </a:rPr>
                        <a:t>model-viewer</a:t>
                      </a:r>
                    </a:p>
                  </a:txBody>
                  <a:tcPr marL="114300" marR="114300" marT="47625" marB="47625"/>
                </a:tc>
                <a:tc>
                  <a:txBody>
                    <a:bodyPr/>
                    <a:lstStyle/>
                    <a:p>
                      <a:r>
                        <a:rPr sz="1725">
                          <a:solidFill>
                            <a:srgbClr val="151515"/>
                          </a:solidFill>
                          <a:latin typeface="Arial"/>
                          <a:ea typeface="Arial"/>
                          <a:cs typeface="Arial"/>
                        </a:rPr>
                        <a:t>Product display and optional AR</a:t>
                      </a:r>
                    </a:p>
                  </a:txBody>
                  <a:tcPr marL="114300" marR="114300" marT="47625" marB="47625"/>
                </a:tc>
                <a:tc>
                  <a:txBody>
                    <a:bodyPr/>
                    <a:lstStyle/>
                    <a:p>
                      <a:r>
                        <a:rPr sz="1725">
                          <a:solidFill>
                            <a:srgbClr val="151515"/>
                          </a:solidFill>
                          <a:latin typeface="Arial"/>
                          <a:ea typeface="Arial"/>
                          <a:cs typeface="Arial"/>
                        </a:rPr>
                        <a:t>Low to moderate</a:t>
                      </a:r>
                    </a:p>
                  </a:txBody>
                  <a:tcPr marL="114300" marR="114300" marT="47625" marB="47625"/>
                </a:tc>
              </a:tr>
              <a:tr h="519793">
                <a:tc>
                  <a:txBody>
                    <a:bodyPr/>
                    <a:lstStyle/>
                    <a:p>
                      <a:r>
                        <a:rPr sz="1725">
                          <a:solidFill>
                            <a:srgbClr val="151515"/>
                          </a:solidFill>
                          <a:latin typeface="Arial"/>
                          <a:ea typeface="Arial"/>
                          <a:cs typeface="Arial"/>
                        </a:rPr>
                        <a:t>Spline</a:t>
                      </a:r>
                    </a:p>
                  </a:txBody>
                  <a:tcPr marL="114300" marR="114300" marT="47625" marB="47625"/>
                </a:tc>
                <a:tc>
                  <a:txBody>
                    <a:bodyPr/>
                    <a:lstStyle/>
                    <a:p>
                      <a:r>
                        <a:rPr sz="1725">
                          <a:solidFill>
                            <a:srgbClr val="151515"/>
                          </a:solidFill>
                          <a:latin typeface="Arial"/>
                          <a:ea typeface="Arial"/>
                          <a:cs typeface="Arial"/>
                        </a:rPr>
                        <a:t>Visual web scenes and motion</a:t>
                      </a:r>
                    </a:p>
                  </a:txBody>
                  <a:tcPr marL="114300" marR="114300" marT="47625" marB="47625"/>
                </a:tc>
                <a:tc>
                  <a:txBody>
                    <a:bodyPr/>
                    <a:lstStyle/>
                    <a:p>
                      <a:r>
                        <a:rPr sz="1725">
                          <a:solidFill>
                            <a:srgbClr val="151515"/>
                          </a:solidFill>
                          <a:latin typeface="Arial"/>
                          <a:ea typeface="Arial"/>
                          <a:cs typeface="Arial"/>
                        </a:rPr>
                        <a:t>Low to moderate</a:t>
                      </a:r>
                    </a:p>
                  </a:txBody>
                  <a:tcPr marL="114300" marR="114300" marT="47625" marB="47625"/>
                </a:tc>
              </a:tr>
              <a:tr h="519793">
                <a:tc>
                  <a:txBody>
                    <a:bodyPr/>
                    <a:lstStyle/>
                    <a:p>
                      <a:r>
                        <a:rPr sz="1725">
                          <a:solidFill>
                            <a:srgbClr val="151515"/>
                          </a:solidFill>
                          <a:latin typeface="Arial"/>
                          <a:ea typeface="Arial"/>
                          <a:cs typeface="Arial"/>
                        </a:rPr>
                        <a:t>Three.js</a:t>
                      </a:r>
                    </a:p>
                  </a:txBody>
                  <a:tcPr marL="114300" marR="114300" marT="47625" marB="47625"/>
                </a:tc>
                <a:tc>
                  <a:txBody>
                    <a:bodyPr/>
                    <a:lstStyle/>
                    <a:p>
                      <a:r>
                        <a:rPr sz="1725">
                          <a:solidFill>
                            <a:srgbClr val="151515"/>
                          </a:solidFill>
                          <a:latin typeface="Arial"/>
                          <a:ea typeface="Arial"/>
                          <a:cs typeface="Arial"/>
                        </a:rPr>
                        <a:t>Custom viewer and interaction</a:t>
                      </a:r>
                    </a:p>
                  </a:txBody>
                  <a:tcPr marL="114300" marR="114300" marT="47625" marB="47625"/>
                </a:tc>
                <a:tc>
                  <a:txBody>
                    <a:bodyPr/>
                    <a:lstStyle/>
                    <a:p>
                      <a:r>
                        <a:rPr sz="1725">
                          <a:solidFill>
                            <a:srgbClr val="151515"/>
                          </a:solidFill>
                          <a:latin typeface="Arial"/>
                          <a:ea typeface="Arial"/>
                          <a:cs typeface="Arial"/>
                        </a:rPr>
                        <a:t>Moderate to high</a:t>
                      </a:r>
                    </a:p>
                  </a:txBody>
                  <a:tcPr marL="114300" marR="114300" marT="47625" marB="47625"/>
                </a:tc>
              </a:tr>
              <a:tr h="519793">
                <a:tc>
                  <a:txBody>
                    <a:bodyPr/>
                    <a:lstStyle/>
                    <a:p>
                      <a:r>
                        <a:rPr sz="1725">
                          <a:solidFill>
                            <a:srgbClr val="151515"/>
                          </a:solidFill>
                          <a:latin typeface="Arial"/>
                          <a:ea typeface="Arial"/>
                          <a:cs typeface="Arial"/>
                        </a:rPr>
                        <a:t>React Three Fiber</a:t>
                      </a:r>
                    </a:p>
                  </a:txBody>
                  <a:tcPr marL="114300" marR="114300" marT="47625" marB="47625"/>
                </a:tc>
                <a:tc>
                  <a:txBody>
                    <a:bodyPr/>
                    <a:lstStyle/>
                    <a:p>
                      <a:r>
                        <a:rPr sz="1725">
                          <a:solidFill>
                            <a:srgbClr val="151515"/>
                          </a:solidFill>
                          <a:latin typeface="Arial"/>
                          <a:ea typeface="Arial"/>
                          <a:cs typeface="Arial"/>
                        </a:rPr>
                        <a:t>3D inside a React application</a:t>
                      </a:r>
                    </a:p>
                  </a:txBody>
                  <a:tcPr marL="114300" marR="114300" marT="47625" marB="47625"/>
                </a:tc>
                <a:tc>
                  <a:txBody>
                    <a:bodyPr/>
                    <a:lstStyle/>
                    <a:p>
                      <a:r>
                        <a:rPr sz="1725">
                          <a:solidFill>
                            <a:srgbClr val="151515"/>
                          </a:solidFill>
                          <a:latin typeface="Arial"/>
                          <a:ea typeface="Arial"/>
                          <a:cs typeface="Arial"/>
                        </a:rPr>
                        <a:t>React + Three.js skills</a:t>
                      </a:r>
                    </a:p>
                  </a:txBody>
                  <a:tcPr marL="114300" marR="114300" marT="47625" marB="47625"/>
                </a:tc>
              </a:tr>
              <a:tr h="519793">
                <a:tc>
                  <a:txBody>
                    <a:bodyPr/>
                    <a:lstStyle/>
                    <a:p>
                      <a:r>
                        <a:rPr sz="1725">
                          <a:solidFill>
                            <a:srgbClr val="151515"/>
                          </a:solidFill>
                          <a:latin typeface="Arial"/>
                          <a:ea typeface="Arial"/>
                          <a:cs typeface="Arial"/>
                        </a:rPr>
                        <a:t>Babylon.js / PlayCanvas</a:t>
                      </a:r>
                    </a:p>
                  </a:txBody>
                  <a:tcPr marL="114300" marR="114300" marT="47625" marB="47625"/>
                </a:tc>
                <a:tc>
                  <a:txBody>
                    <a:bodyPr/>
                    <a:lstStyle/>
                    <a:p>
                      <a:r>
                        <a:rPr sz="1725">
                          <a:solidFill>
                            <a:srgbClr val="151515"/>
                          </a:solidFill>
                          <a:latin typeface="Arial"/>
                          <a:ea typeface="Arial"/>
                          <a:cs typeface="Arial"/>
                        </a:rPr>
                        <a:t>Richer applications and game-like scenes</a:t>
                      </a:r>
                    </a:p>
                  </a:txBody>
                  <a:tcPr marL="114300" marR="114300" marT="47625" marB="47625"/>
                </a:tc>
                <a:tc>
                  <a:txBody>
                    <a:bodyPr/>
                    <a:lstStyle/>
                    <a:p>
                      <a:r>
                        <a:rPr sz="1725">
                          <a:solidFill>
                            <a:srgbClr val="151515"/>
                          </a:solidFill>
                          <a:latin typeface="Arial"/>
                          <a:ea typeface="Arial"/>
                          <a:cs typeface="Arial"/>
                        </a:rPr>
                        <a:t>Moderate to high</a:t>
                      </a:r>
                    </a:p>
                  </a:txBody>
                  <a:tcPr marL="114300" marR="114300" marT="47625" marB="47625"/>
                </a:tc>
              </a:tr>
              <a:tr h="519793">
                <a:tc>
                  <a:txBody>
                    <a:bodyPr/>
                    <a:lstStyle/>
                    <a:p>
                      <a:r>
                        <a:rPr sz="1725">
                          <a:solidFill>
                            <a:srgbClr val="151515"/>
                          </a:solidFill>
                          <a:latin typeface="Arial"/>
                          <a:ea typeface="Arial"/>
                          <a:cs typeface="Arial"/>
                        </a:rPr>
                        <a:t>Direct WebGL / WebGPU</a:t>
                      </a:r>
                    </a:p>
                  </a:txBody>
                  <a:tcPr marL="114300" marR="114300" marT="47625" marB="47625"/>
                </a:tc>
                <a:tc>
                  <a:txBody>
                    <a:bodyPr/>
                    <a:lstStyle/>
                    <a:p>
                      <a:r>
                        <a:rPr sz="1725">
                          <a:solidFill>
                            <a:srgbClr val="151515"/>
                          </a:solidFill>
                          <a:latin typeface="Arial"/>
                          <a:ea typeface="Arial"/>
                          <a:cs typeface="Arial"/>
                        </a:rPr>
                        <a:t>Specialized rendering systems</a:t>
                      </a:r>
                    </a:p>
                  </a:txBody>
                  <a:tcPr marL="114300" marR="114300" marT="47625" marB="47625"/>
                </a:tc>
                <a:tc>
                  <a:txBody>
                    <a:bodyPr/>
                    <a:lstStyle/>
                    <a:p>
                      <a:r>
                        <a:rPr sz="1725">
                          <a:solidFill>
                            <a:srgbClr val="151515"/>
                          </a:solidFill>
                          <a:latin typeface="Arial"/>
                          <a:ea typeface="Arial"/>
                          <a:cs typeface="Arial"/>
                        </a:rPr>
                        <a:t>High</a:t>
                      </a:r>
                    </a:p>
                  </a:txBody>
                  <a:tcPr marL="114300" marR="114300" marT="47625" marB="47625"/>
                </a:tc>
              </a:tr>
            </a:tbl>
          </a:graphicData>
        </a:graphic>
      </p:graphicFrame>
    </p:spTree>
    <p:extLst>
      <p:ext uri="{BB962C8B-B14F-4D97-AF65-F5344CB8AC3E}">
        <p14:creationId xmlns:p14="http://schemas.microsoft.com/office/powerpoint/2010/main" val="71907944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ACB985F-6934-4A98-B828-856370E6F06B}"/>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LIGHTMETRICS   /   3D EXPLORATION</a:t>
            </a:r>
          </a:p>
        </p:txBody>
      </p:sp>
      <p:sp>
        <p:nvSpPr>
          <p:cNvPr id="2" name="">
            <a:extLst xmlns:a="http://schemas.openxmlformats.org/drawingml/2006/main">
              <a:ext uri="{FF2B5EF4-FFF2-40B4-BE49-F238E27FC236}">
                <a16:creationId xmlns:a16="http://schemas.microsoft.com/office/drawing/2014/main" id="{21807399-ED97-4AC8-8582-DF9BB0AB153F}"/>
              </a:ext>
            </a:extLst>
          </p:cNvPr>
          <p:cNvSpPr>
            <a:spLocks xmlns:a="http://schemas.openxmlformats.org/drawingml/2006/main" noGrp="1"/>
          </p:cNvSpPr>
          <p:nvPr/>
        </p:nvSpPr>
        <p:spPr>
          <a:xfrm xmlns:a="http://schemas.openxmlformats.org/drawingml/2006/main">
            <a:off x="11049000" y="2857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B9EF02ED-07F4-4C9F-A8A6-96BFE38DC534}"/>
              </a:ext>
            </a:extLst>
          </p:cNvPr>
          <p:cNvSpPr>
            <a:spLocks xmlns:a="http://schemas.openxmlformats.org/drawingml/2006/main" noGrp="1"/>
          </p:cNvSpPr>
          <p:nvPr/>
        </p:nvSpPr>
        <p:spPr>
          <a:xfrm xmlns:a="http://schemas.openxmlformats.org/drawingml/2006/main">
            <a:off x="533400" y="89535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151515"/>
                </a:solidFill>
                <a:latin typeface="Arial"/>
                <a:ea typeface="Arial"/>
                <a:cs typeface="Arial"/>
              </a:defRPr>
            </a:defPPr>
          </a:lstStyle>
          <a:p xmlns:a="http://schemas.openxmlformats.org/drawingml/2006/main">
            <a:pPr>
              <a:defRPr sz="3300" b="0">
                <a:solidFill>
                  <a:srgbClr val="151515"/>
                </a:solidFill>
                <a:latin typeface="Arial"/>
                <a:ea typeface="Arial"/>
                <a:cs typeface="Arial"/>
              </a:defRPr>
            </a:pPr>
            <a:r>
              <a:rPr sz="3300" b="0">
                <a:solidFill>
                  <a:srgbClr val="151515"/>
                </a:solidFill>
                <a:latin typeface="Arial"/>
                <a:ea typeface="Arial"/>
                <a:cs typeface="Arial"/>
              </a:rPr>
              <a:t>model-viewer: a focused product embed</a:t>
            </a:r>
          </a:p>
        </p:txBody>
      </p:sp>
      <p:sp>
        <p:nvSpPr>
          <p:cNvPr id="4" name="">
            <a:extLst xmlns:a="http://schemas.openxmlformats.org/drawingml/2006/main">
              <a:ext uri="{FF2B5EF4-FFF2-40B4-BE49-F238E27FC236}">
                <a16:creationId xmlns:a16="http://schemas.microsoft.com/office/drawing/2014/main" id="{E8665171-AAB2-4834-909A-18CB383B4FB5}"/>
              </a:ext>
            </a:extLst>
          </p:cNvPr>
          <p:cNvSpPr>
            <a:spLocks xmlns:a="http://schemas.openxmlformats.org/drawingml/2006/main" noGrp="1"/>
          </p:cNvSpPr>
          <p:nvPr/>
        </p:nvSpPr>
        <p:spPr>
          <a:xfrm xmlns:a="http://schemas.openxmlformats.org/drawingml/2006/main">
            <a:off x="552450" y="16764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6666"/>
                </a:solidFill>
                <a:latin typeface="Arial"/>
                <a:ea typeface="Arial"/>
                <a:cs typeface="Arial"/>
              </a:defRPr>
            </a:defPPr>
          </a:lstStyle>
          <a:p xmlns:a="http://schemas.openxmlformats.org/drawingml/2006/main">
            <a:pPr>
              <a:defRPr sz="1875" b="0">
                <a:solidFill>
                  <a:srgbClr val="666666"/>
                </a:solidFill>
                <a:latin typeface="Arial"/>
                <a:ea typeface="Arial"/>
                <a:cs typeface="Arial"/>
              </a:defRPr>
            </a:pPr>
            <a:r>
              <a:rPr sz="1875" b="0">
                <a:solidFill>
                  <a:srgbClr val="666666"/>
                </a:solidFill>
                <a:latin typeface="Arial"/>
                <a:ea typeface="Arial"/>
                <a:cs typeface="Arial"/>
              </a:rPr>
              <a:t>Best fit: one product with camera controls, hotspots or an AR entry point.</a:t>
            </a:r>
          </a:p>
        </p:txBody>
      </p:sp>
      <p:sp>
        <p:nvSpPr>
          <p:cNvPr id="5" name="">
            <a:extLst xmlns:a="http://schemas.openxmlformats.org/drawingml/2006/main">
              <a:ext uri="{FF2B5EF4-FFF2-40B4-BE49-F238E27FC236}">
                <a16:creationId xmlns:a16="http://schemas.microsoft.com/office/drawing/2014/main" id="{978FE2A2-FD14-4E41-84A0-7F44064C15D0}"/>
              </a:ext>
            </a:extLst>
          </p:cNvPr>
          <p:cNvSpPr>
            <a:spLocks xmlns:a="http://schemas.openxmlformats.org/drawingml/2006/main" noGrp="1"/>
          </p:cNvSpPr>
          <p:nvPr/>
        </p:nvSpPr>
        <p:spPr>
          <a:xfrm xmlns:a="http://schemas.openxmlformats.org/drawingml/2006/main">
            <a:off x="552450" y="2600325"/>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How it works</a:t>
            </a:r>
          </a:p>
        </p:txBody>
      </p:sp>
      <p:sp>
        <p:nvSpPr>
          <p:cNvPr id="6" name="">
            <a:extLst xmlns:a="http://schemas.openxmlformats.org/drawingml/2006/main">
              <a:ext uri="{FF2B5EF4-FFF2-40B4-BE49-F238E27FC236}">
                <a16:creationId xmlns:a16="http://schemas.microsoft.com/office/drawing/2014/main" id="{131AF55C-549E-4BB2-9D93-2A4D42FCE244}"/>
              </a:ext>
            </a:extLst>
          </p:cNvPr>
          <p:cNvSpPr>
            <a:spLocks xmlns:a="http://schemas.openxmlformats.org/drawingml/2006/main" noGrp="1"/>
          </p:cNvSpPr>
          <p:nvPr/>
        </p:nvSpPr>
        <p:spPr>
          <a:xfrm xmlns:a="http://schemas.openxmlformats.org/drawingml/2006/main">
            <a:off x="3886200" y="2600325"/>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A web component loads a model and supplies viewer behavior.</a:t>
            </a:r>
          </a:p>
        </p:txBody>
      </p:sp>
      <p:sp>
        <p:nvSpPr>
          <p:cNvPr id="7" name="">
            <a:extLst xmlns:a="http://schemas.openxmlformats.org/drawingml/2006/main">
              <a:ext uri="{FF2B5EF4-FFF2-40B4-BE49-F238E27FC236}">
                <a16:creationId xmlns:a16="http://schemas.microsoft.com/office/drawing/2014/main" id="{04768D8A-F1BC-485F-9A1F-BC70B3FEE9BC}"/>
              </a:ext>
            </a:extLst>
          </p:cNvPr>
          <p:cNvSpPr>
            <a:spLocks xmlns:a="http://schemas.openxmlformats.org/drawingml/2006/main" noGrp="1"/>
          </p:cNvSpPr>
          <p:nvPr/>
        </p:nvSpPr>
        <p:spPr>
          <a:xfrm xmlns:a="http://schemas.openxmlformats.org/drawingml/2006/main">
            <a:off x="552450" y="3505200"/>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How to publish</a:t>
            </a:r>
          </a:p>
        </p:txBody>
      </p:sp>
      <p:sp>
        <p:nvSpPr>
          <p:cNvPr id="8" name="">
            <a:extLst xmlns:a="http://schemas.openxmlformats.org/drawingml/2006/main">
              <a:ext uri="{FF2B5EF4-FFF2-40B4-BE49-F238E27FC236}">
                <a16:creationId xmlns:a16="http://schemas.microsoft.com/office/drawing/2014/main" id="{67AA859E-F188-4E3B-9BFA-77D4E71DEAAB}"/>
              </a:ext>
            </a:extLst>
          </p:cNvPr>
          <p:cNvSpPr>
            <a:spLocks xmlns:a="http://schemas.openxmlformats.org/drawingml/2006/main" noGrp="1"/>
          </p:cNvSpPr>
          <p:nvPr/>
        </p:nvSpPr>
        <p:spPr>
          <a:xfrm xmlns:a="http://schemas.openxmlformats.org/drawingml/2006/main">
            <a:off x="3886200" y="3505200"/>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Load the component script, add a &lt;model-viewer&gt; element and set its src.</a:t>
            </a:r>
          </a:p>
        </p:txBody>
      </p:sp>
      <p:sp>
        <p:nvSpPr>
          <p:cNvPr id="9" name="">
            <a:extLst xmlns:a="http://schemas.openxmlformats.org/drawingml/2006/main">
              <a:ext uri="{FF2B5EF4-FFF2-40B4-BE49-F238E27FC236}">
                <a16:creationId xmlns:a16="http://schemas.microsoft.com/office/drawing/2014/main" id="{DBA28341-8CD8-4AF8-B163-8383F4E8016B}"/>
              </a:ext>
            </a:extLst>
          </p:cNvPr>
          <p:cNvSpPr>
            <a:spLocks xmlns:a="http://schemas.openxmlformats.org/drawingml/2006/main" noGrp="1"/>
          </p:cNvSpPr>
          <p:nvPr/>
        </p:nvSpPr>
        <p:spPr>
          <a:xfrm xmlns:a="http://schemas.openxmlformats.org/drawingml/2006/main">
            <a:off x="552450" y="4410075"/>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Choose it when</a:t>
            </a:r>
          </a:p>
        </p:txBody>
      </p:sp>
      <p:sp>
        <p:nvSpPr>
          <p:cNvPr id="10" name="">
            <a:extLst xmlns:a="http://schemas.openxmlformats.org/drawingml/2006/main">
              <a:ext uri="{FF2B5EF4-FFF2-40B4-BE49-F238E27FC236}">
                <a16:creationId xmlns:a16="http://schemas.microsoft.com/office/drawing/2014/main" id="{977CC18D-8336-4B3F-8A42-4D9B54F499BB}"/>
              </a:ext>
            </a:extLst>
          </p:cNvPr>
          <p:cNvSpPr>
            <a:spLocks xmlns:a="http://schemas.openxmlformats.org/drawingml/2006/main" noGrp="1"/>
          </p:cNvSpPr>
          <p:nvPr/>
        </p:nvSpPr>
        <p:spPr>
          <a:xfrm xmlns:a="http://schemas.openxmlformats.org/drawingml/2006/main">
            <a:off x="3886200" y="4410075"/>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The requirements fit a standard product presentation.</a:t>
            </a:r>
          </a:p>
        </p:txBody>
      </p:sp>
      <p:sp>
        <p:nvSpPr>
          <p:cNvPr id="11" name="">
            <a:extLst xmlns:a="http://schemas.openxmlformats.org/drawingml/2006/main">
              <a:ext uri="{FF2B5EF4-FFF2-40B4-BE49-F238E27FC236}">
                <a16:creationId xmlns:a16="http://schemas.microsoft.com/office/drawing/2014/main" id="{A2E5B959-54E0-48D8-9DAE-C8A9D5757BB3}"/>
              </a:ext>
            </a:extLst>
          </p:cNvPr>
          <p:cNvSpPr>
            <a:spLocks xmlns:a="http://schemas.openxmlformats.org/drawingml/2006/main" noGrp="1"/>
          </p:cNvSpPr>
          <p:nvPr/>
        </p:nvSpPr>
        <p:spPr>
          <a:xfrm xmlns:a="http://schemas.openxmlformats.org/drawingml/2006/main">
            <a:off x="552450" y="5314950"/>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Check first</a:t>
            </a:r>
          </a:p>
        </p:txBody>
      </p:sp>
      <p:sp>
        <p:nvSpPr>
          <p:cNvPr id="12" name="">
            <a:extLst xmlns:a="http://schemas.openxmlformats.org/drawingml/2006/main">
              <a:ext uri="{FF2B5EF4-FFF2-40B4-BE49-F238E27FC236}">
                <a16:creationId xmlns:a16="http://schemas.microsoft.com/office/drawing/2014/main" id="{76256596-85F9-477B-A0B8-5534F98DC057}"/>
              </a:ext>
            </a:extLst>
          </p:cNvPr>
          <p:cNvSpPr>
            <a:spLocks xmlns:a="http://schemas.openxmlformats.org/drawingml/2006/main" noGrp="1"/>
          </p:cNvSpPr>
          <p:nvPr/>
        </p:nvSpPr>
        <p:spPr>
          <a:xfrm xmlns:a="http://schemas.openxmlformats.org/drawingml/2006/main">
            <a:off x="3886200" y="5314950"/>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Custom interactions and AR support vary by feature and device.</a:t>
            </a:r>
          </a:p>
        </p:txBody>
      </p:sp>
    </p:spTree>
    <p:extLst>
      <p:ext uri="{BB962C8B-B14F-4D97-AF65-F5344CB8AC3E}">
        <p14:creationId xmlns:p14="http://schemas.microsoft.com/office/powerpoint/2010/main" val="209789700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C2F3023-DDD0-41A1-AF17-37E3DF9835F3}"/>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LIGHTMETRICS   /   3D EXPLORATION</a:t>
            </a:r>
          </a:p>
        </p:txBody>
      </p:sp>
      <p:sp>
        <p:nvSpPr>
          <p:cNvPr id="2" name="">
            <a:extLst xmlns:a="http://schemas.openxmlformats.org/drawingml/2006/main">
              <a:ext uri="{FF2B5EF4-FFF2-40B4-BE49-F238E27FC236}">
                <a16:creationId xmlns:a16="http://schemas.microsoft.com/office/drawing/2014/main" id="{AAF01C30-83D3-4C31-96E9-F36D46BDB5AC}"/>
              </a:ext>
            </a:extLst>
          </p:cNvPr>
          <p:cNvSpPr>
            <a:spLocks xmlns:a="http://schemas.openxmlformats.org/drawingml/2006/main" noGrp="1"/>
          </p:cNvSpPr>
          <p:nvPr/>
        </p:nvSpPr>
        <p:spPr>
          <a:xfrm xmlns:a="http://schemas.openxmlformats.org/drawingml/2006/main">
            <a:off x="11049000" y="2857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F2CC3B90-A534-43D2-81B0-EC5D8B123EE6}"/>
              </a:ext>
            </a:extLst>
          </p:cNvPr>
          <p:cNvSpPr>
            <a:spLocks xmlns:a="http://schemas.openxmlformats.org/drawingml/2006/main" noGrp="1"/>
          </p:cNvSpPr>
          <p:nvPr/>
        </p:nvSpPr>
        <p:spPr>
          <a:xfrm xmlns:a="http://schemas.openxmlformats.org/drawingml/2006/main">
            <a:off x="533400" y="89535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151515"/>
                </a:solidFill>
                <a:latin typeface="Arial"/>
                <a:ea typeface="Arial"/>
                <a:cs typeface="Arial"/>
              </a:defRPr>
            </a:defPPr>
          </a:lstStyle>
          <a:p xmlns:a="http://schemas.openxmlformats.org/drawingml/2006/main">
            <a:pPr>
              <a:defRPr sz="3300" b="0">
                <a:solidFill>
                  <a:srgbClr val="151515"/>
                </a:solidFill>
                <a:latin typeface="Arial"/>
                <a:ea typeface="Arial"/>
                <a:cs typeface="Arial"/>
              </a:defRPr>
            </a:pPr>
            <a:r>
              <a:rPr sz="3300" b="0">
                <a:solidFill>
                  <a:srgbClr val="151515"/>
                </a:solidFill>
                <a:latin typeface="Arial"/>
                <a:ea typeface="Arial"/>
                <a:cs typeface="Arial"/>
              </a:rPr>
              <a:t>Spline: visual scene design</a:t>
            </a:r>
          </a:p>
        </p:txBody>
      </p:sp>
      <p:sp>
        <p:nvSpPr>
          <p:cNvPr id="4" name="">
            <a:extLst xmlns:a="http://schemas.openxmlformats.org/drawingml/2006/main">
              <a:ext uri="{FF2B5EF4-FFF2-40B4-BE49-F238E27FC236}">
                <a16:creationId xmlns:a16="http://schemas.microsoft.com/office/drawing/2014/main" id="{0C5AD20C-6A60-42B6-BC8A-B3F330C2D2A6}"/>
              </a:ext>
            </a:extLst>
          </p:cNvPr>
          <p:cNvSpPr>
            <a:spLocks xmlns:a="http://schemas.openxmlformats.org/drawingml/2006/main" noGrp="1"/>
          </p:cNvSpPr>
          <p:nvPr/>
        </p:nvSpPr>
        <p:spPr>
          <a:xfrm xmlns:a="http://schemas.openxmlformats.org/drawingml/2006/main">
            <a:off x="552450" y="16764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6666"/>
                </a:solidFill>
                <a:latin typeface="Arial"/>
                <a:ea typeface="Arial"/>
                <a:cs typeface="Arial"/>
              </a:defRPr>
            </a:defPPr>
          </a:lstStyle>
          <a:p xmlns:a="http://schemas.openxmlformats.org/drawingml/2006/main">
            <a:pPr>
              <a:defRPr sz="1875" b="0">
                <a:solidFill>
                  <a:srgbClr val="666666"/>
                </a:solidFill>
                <a:latin typeface="Arial"/>
                <a:ea typeface="Arial"/>
                <a:cs typeface="Arial"/>
              </a:defRPr>
            </a:pPr>
            <a:r>
              <a:rPr sz="1875" b="0">
                <a:solidFill>
                  <a:srgbClr val="666666"/>
                </a:solidFill>
                <a:latin typeface="Arial"/>
                <a:ea typeface="Arial"/>
                <a:cs typeface="Arial"/>
              </a:rPr>
              <a:t>Best fit: designers exploring interactive brand graphics and page motion.</a:t>
            </a:r>
          </a:p>
        </p:txBody>
      </p:sp>
      <p:sp>
        <p:nvSpPr>
          <p:cNvPr id="5" name="">
            <a:extLst xmlns:a="http://schemas.openxmlformats.org/drawingml/2006/main">
              <a:ext uri="{FF2B5EF4-FFF2-40B4-BE49-F238E27FC236}">
                <a16:creationId xmlns:a16="http://schemas.microsoft.com/office/drawing/2014/main" id="{F2BA172C-C003-4533-9951-5785A68A7F59}"/>
              </a:ext>
            </a:extLst>
          </p:cNvPr>
          <p:cNvSpPr>
            <a:spLocks xmlns:a="http://schemas.openxmlformats.org/drawingml/2006/main" noGrp="1"/>
          </p:cNvSpPr>
          <p:nvPr/>
        </p:nvSpPr>
        <p:spPr>
          <a:xfrm xmlns:a="http://schemas.openxmlformats.org/drawingml/2006/main">
            <a:off x="552450" y="2600325"/>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Create</a:t>
            </a:r>
          </a:p>
        </p:txBody>
      </p:sp>
      <p:sp>
        <p:nvSpPr>
          <p:cNvPr id="6" name="">
            <a:extLst xmlns:a="http://schemas.openxmlformats.org/drawingml/2006/main">
              <a:ext uri="{FF2B5EF4-FFF2-40B4-BE49-F238E27FC236}">
                <a16:creationId xmlns:a16="http://schemas.microsoft.com/office/drawing/2014/main" id="{C74207FA-8C62-4686-A9E7-D2725AF96681}"/>
              </a:ext>
            </a:extLst>
          </p:cNvPr>
          <p:cNvSpPr>
            <a:spLocks xmlns:a="http://schemas.openxmlformats.org/drawingml/2006/main" noGrp="1"/>
          </p:cNvSpPr>
          <p:nvPr/>
        </p:nvSpPr>
        <p:spPr>
          <a:xfrm xmlns:a="http://schemas.openxmlformats.org/drawingml/2006/main">
            <a:off x="3886200" y="2600325"/>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Arrange objects and build interactions in a visual editor.</a:t>
            </a:r>
          </a:p>
        </p:txBody>
      </p:sp>
      <p:sp>
        <p:nvSpPr>
          <p:cNvPr id="7" name="">
            <a:extLst xmlns:a="http://schemas.openxmlformats.org/drawingml/2006/main">
              <a:ext uri="{FF2B5EF4-FFF2-40B4-BE49-F238E27FC236}">
                <a16:creationId xmlns:a16="http://schemas.microsoft.com/office/drawing/2014/main" id="{62581D9A-2600-476D-BCA7-8AC019902447}"/>
              </a:ext>
            </a:extLst>
          </p:cNvPr>
          <p:cNvSpPr>
            <a:spLocks xmlns:a="http://schemas.openxmlformats.org/drawingml/2006/main" noGrp="1"/>
          </p:cNvSpPr>
          <p:nvPr/>
        </p:nvSpPr>
        <p:spPr>
          <a:xfrm xmlns:a="http://schemas.openxmlformats.org/drawingml/2006/main">
            <a:off x="552450" y="3505200"/>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Publish</a:t>
            </a:r>
          </a:p>
        </p:txBody>
      </p:sp>
      <p:sp>
        <p:nvSpPr>
          <p:cNvPr id="8" name="">
            <a:extLst xmlns:a="http://schemas.openxmlformats.org/drawingml/2006/main">
              <a:ext uri="{FF2B5EF4-FFF2-40B4-BE49-F238E27FC236}">
                <a16:creationId xmlns:a16="http://schemas.microsoft.com/office/drawing/2014/main" id="{C9EC5B5F-8931-486F-A43B-9BAABBFB69F5}"/>
              </a:ext>
            </a:extLst>
          </p:cNvPr>
          <p:cNvSpPr>
            <a:spLocks xmlns:a="http://schemas.openxmlformats.org/drawingml/2006/main" noGrp="1"/>
          </p:cNvSpPr>
          <p:nvPr/>
        </p:nvSpPr>
        <p:spPr>
          <a:xfrm xmlns:a="http://schemas.openxmlformats.org/drawingml/2006/main">
            <a:off x="3886200" y="3505200"/>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Export a Spline Viewer embed or another supported web export.</a:t>
            </a:r>
          </a:p>
        </p:txBody>
      </p:sp>
      <p:sp>
        <p:nvSpPr>
          <p:cNvPr id="9" name="">
            <a:extLst xmlns:a="http://schemas.openxmlformats.org/drawingml/2006/main">
              <a:ext uri="{FF2B5EF4-FFF2-40B4-BE49-F238E27FC236}">
                <a16:creationId xmlns:a16="http://schemas.microsoft.com/office/drawing/2014/main" id="{C7922880-7DBF-4230-931F-475EA891B908}"/>
              </a:ext>
            </a:extLst>
          </p:cNvPr>
          <p:cNvSpPr>
            <a:spLocks xmlns:a="http://schemas.openxmlformats.org/drawingml/2006/main" noGrp="1"/>
          </p:cNvSpPr>
          <p:nvPr/>
        </p:nvSpPr>
        <p:spPr>
          <a:xfrm xmlns:a="http://schemas.openxmlformats.org/drawingml/2006/main">
            <a:off x="552450" y="4410075"/>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Connect</a:t>
            </a:r>
          </a:p>
        </p:txBody>
      </p:sp>
      <p:sp>
        <p:nvSpPr>
          <p:cNvPr id="10" name="">
            <a:extLst xmlns:a="http://schemas.openxmlformats.org/drawingml/2006/main">
              <a:ext uri="{FF2B5EF4-FFF2-40B4-BE49-F238E27FC236}">
                <a16:creationId xmlns:a16="http://schemas.microsoft.com/office/drawing/2014/main" id="{2FF6DCCA-5753-463D-B700-36FEDEE70CB8}"/>
              </a:ext>
            </a:extLst>
          </p:cNvPr>
          <p:cNvSpPr>
            <a:spLocks xmlns:a="http://schemas.openxmlformats.org/drawingml/2006/main" noGrp="1"/>
          </p:cNvSpPr>
          <p:nvPr/>
        </p:nvSpPr>
        <p:spPr>
          <a:xfrm xmlns:a="http://schemas.openxmlformats.org/drawingml/2006/main">
            <a:off x="3886200" y="4410075"/>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Use configured pointer or scroll events to relate the scene to the page.</a:t>
            </a:r>
          </a:p>
        </p:txBody>
      </p:sp>
      <p:sp>
        <p:nvSpPr>
          <p:cNvPr id="11" name="">
            <a:extLst xmlns:a="http://schemas.openxmlformats.org/drawingml/2006/main">
              <a:ext uri="{FF2B5EF4-FFF2-40B4-BE49-F238E27FC236}">
                <a16:creationId xmlns:a16="http://schemas.microsoft.com/office/drawing/2014/main" id="{CD921012-AC7F-4E52-9B0F-3EBBE9DDD4E1}"/>
              </a:ext>
            </a:extLst>
          </p:cNvPr>
          <p:cNvSpPr>
            <a:spLocks xmlns:a="http://schemas.openxmlformats.org/drawingml/2006/main" noGrp="1"/>
          </p:cNvSpPr>
          <p:nvPr/>
        </p:nvSpPr>
        <p:spPr>
          <a:xfrm xmlns:a="http://schemas.openxmlformats.org/drawingml/2006/main">
            <a:off x="552450" y="5314950"/>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Evaluate</a:t>
            </a:r>
          </a:p>
        </p:txBody>
      </p:sp>
      <p:sp>
        <p:nvSpPr>
          <p:cNvPr id="12" name="">
            <a:extLst xmlns:a="http://schemas.openxmlformats.org/drawingml/2006/main">
              <a:ext uri="{FF2B5EF4-FFF2-40B4-BE49-F238E27FC236}">
                <a16:creationId xmlns:a16="http://schemas.microsoft.com/office/drawing/2014/main" id="{ED64FB13-2E74-46BC-A6C9-C53EDD69A73A}"/>
              </a:ext>
            </a:extLst>
          </p:cNvPr>
          <p:cNvSpPr>
            <a:spLocks xmlns:a="http://schemas.openxmlformats.org/drawingml/2006/main" noGrp="1"/>
          </p:cNvSpPr>
          <p:nvPr/>
        </p:nvSpPr>
        <p:spPr>
          <a:xfrm xmlns:a="http://schemas.openxmlformats.org/drawingml/2006/main">
            <a:off x="3886200" y="5314950"/>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Check export rights, hosting requirements and current plan limits.</a:t>
            </a:r>
          </a:p>
        </p:txBody>
      </p:sp>
    </p:spTree>
    <p:extLst>
      <p:ext uri="{BB962C8B-B14F-4D97-AF65-F5344CB8AC3E}">
        <p14:creationId xmlns:p14="http://schemas.microsoft.com/office/powerpoint/2010/main" val="55212977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02D84F3-D143-4853-807C-17DD216AE008}"/>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LIGHTMETRICS   /   3D EXPLORATION</a:t>
            </a:r>
          </a:p>
        </p:txBody>
      </p:sp>
      <p:sp>
        <p:nvSpPr>
          <p:cNvPr id="2" name="">
            <a:extLst xmlns:a="http://schemas.openxmlformats.org/drawingml/2006/main">
              <a:ext uri="{FF2B5EF4-FFF2-40B4-BE49-F238E27FC236}">
                <a16:creationId xmlns:a16="http://schemas.microsoft.com/office/drawing/2014/main" id="{E0697835-DB74-43D7-A827-85E0B7F83D04}"/>
              </a:ext>
            </a:extLst>
          </p:cNvPr>
          <p:cNvSpPr>
            <a:spLocks xmlns:a="http://schemas.openxmlformats.org/drawingml/2006/main" noGrp="1"/>
          </p:cNvSpPr>
          <p:nvPr/>
        </p:nvSpPr>
        <p:spPr>
          <a:xfrm xmlns:a="http://schemas.openxmlformats.org/drawingml/2006/main">
            <a:off x="11049000" y="2857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8583B8E0-0AB0-49C9-ABE4-6CBBD095AB6E}"/>
              </a:ext>
            </a:extLst>
          </p:cNvPr>
          <p:cNvSpPr>
            <a:spLocks xmlns:a="http://schemas.openxmlformats.org/drawingml/2006/main" noGrp="1"/>
          </p:cNvSpPr>
          <p:nvPr/>
        </p:nvSpPr>
        <p:spPr>
          <a:xfrm xmlns:a="http://schemas.openxmlformats.org/drawingml/2006/main">
            <a:off x="533400" y="89535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151515"/>
                </a:solidFill>
                <a:latin typeface="Arial"/>
                <a:ea typeface="Arial"/>
                <a:cs typeface="Arial"/>
              </a:defRPr>
            </a:defPPr>
          </a:lstStyle>
          <a:p xmlns:a="http://schemas.openxmlformats.org/drawingml/2006/main">
            <a:pPr>
              <a:defRPr sz="3300" b="0">
                <a:solidFill>
                  <a:srgbClr val="151515"/>
                </a:solidFill>
                <a:latin typeface="Arial"/>
                <a:ea typeface="Arial"/>
                <a:cs typeface="Arial"/>
              </a:defRPr>
            </a:pPr>
            <a:r>
              <a:rPr sz="3300" b="0">
                <a:solidFill>
                  <a:srgbClr val="151515"/>
                </a:solidFill>
                <a:latin typeface="Arial"/>
                <a:ea typeface="Arial"/>
                <a:cs typeface="Arial"/>
              </a:rPr>
              <a:t>React Three Fiber: Three.js in React</a:t>
            </a:r>
          </a:p>
        </p:txBody>
      </p:sp>
      <p:sp>
        <p:nvSpPr>
          <p:cNvPr id="4" name="">
            <a:extLst xmlns:a="http://schemas.openxmlformats.org/drawingml/2006/main">
              <a:ext uri="{FF2B5EF4-FFF2-40B4-BE49-F238E27FC236}">
                <a16:creationId xmlns:a16="http://schemas.microsoft.com/office/drawing/2014/main" id="{0898A630-1ADA-4D0E-A989-C514F01766B1}"/>
              </a:ext>
            </a:extLst>
          </p:cNvPr>
          <p:cNvSpPr>
            <a:spLocks xmlns:a="http://schemas.openxmlformats.org/drawingml/2006/main" noGrp="1"/>
          </p:cNvSpPr>
          <p:nvPr/>
        </p:nvSpPr>
        <p:spPr>
          <a:xfrm xmlns:a="http://schemas.openxmlformats.org/drawingml/2006/main">
            <a:off x="552450" y="16764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6666"/>
                </a:solidFill>
                <a:latin typeface="Arial"/>
                <a:ea typeface="Arial"/>
                <a:cs typeface="Arial"/>
              </a:defRPr>
            </a:defPPr>
          </a:lstStyle>
          <a:p xmlns:a="http://schemas.openxmlformats.org/drawingml/2006/main">
            <a:pPr>
              <a:defRPr sz="1875" b="0">
                <a:solidFill>
                  <a:srgbClr val="666666"/>
                </a:solidFill>
                <a:latin typeface="Arial"/>
                <a:ea typeface="Arial"/>
                <a:cs typeface="Arial"/>
              </a:defRPr>
            </a:pPr>
            <a:r>
              <a:rPr sz="1875" b="0">
                <a:solidFill>
                  <a:srgbClr val="666666"/>
                </a:solidFill>
                <a:latin typeface="Arial"/>
                <a:ea typeface="Arial"/>
                <a:cs typeface="Arial"/>
              </a:rPr>
              <a:t>Best fit: a React site where 3D responds to application state.</a:t>
            </a:r>
          </a:p>
        </p:txBody>
      </p:sp>
      <p:sp>
        <p:nvSpPr>
          <p:cNvPr id="5" name="">
            <a:extLst xmlns:a="http://schemas.openxmlformats.org/drawingml/2006/main">
              <a:ext uri="{FF2B5EF4-FFF2-40B4-BE49-F238E27FC236}">
                <a16:creationId xmlns:a16="http://schemas.microsoft.com/office/drawing/2014/main" id="{9681B1AC-E3C8-4823-9041-377446292585}"/>
              </a:ext>
            </a:extLst>
          </p:cNvPr>
          <p:cNvSpPr>
            <a:spLocks xmlns:a="http://schemas.openxmlformats.org/drawingml/2006/main" noGrp="1"/>
          </p:cNvSpPr>
          <p:nvPr/>
        </p:nvSpPr>
        <p:spPr>
          <a:xfrm xmlns:a="http://schemas.openxmlformats.org/drawingml/2006/main">
            <a:off x="552450" y="2600325"/>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How it works</a:t>
            </a:r>
          </a:p>
        </p:txBody>
      </p:sp>
      <p:sp>
        <p:nvSpPr>
          <p:cNvPr id="6" name="">
            <a:extLst xmlns:a="http://schemas.openxmlformats.org/drawingml/2006/main">
              <a:ext uri="{FF2B5EF4-FFF2-40B4-BE49-F238E27FC236}">
                <a16:creationId xmlns:a16="http://schemas.microsoft.com/office/drawing/2014/main" id="{C42C9F35-BBC2-4877-8A90-D92C961F270C}"/>
              </a:ext>
            </a:extLst>
          </p:cNvPr>
          <p:cNvSpPr>
            <a:spLocks xmlns:a="http://schemas.openxmlformats.org/drawingml/2006/main" noGrp="1"/>
          </p:cNvSpPr>
          <p:nvPr/>
        </p:nvSpPr>
        <p:spPr>
          <a:xfrm xmlns:a="http://schemas.openxmlformats.org/drawingml/2006/main">
            <a:off x="3886200" y="2600325"/>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React components describe a Three.js scene.</a:t>
            </a:r>
          </a:p>
        </p:txBody>
      </p:sp>
      <p:sp>
        <p:nvSpPr>
          <p:cNvPr id="7" name="">
            <a:extLst xmlns:a="http://schemas.openxmlformats.org/drawingml/2006/main">
              <a:ext uri="{FF2B5EF4-FFF2-40B4-BE49-F238E27FC236}">
                <a16:creationId xmlns:a16="http://schemas.microsoft.com/office/drawing/2014/main" id="{DC006852-3DF4-473E-85A4-27D00810A8D5}"/>
              </a:ext>
            </a:extLst>
          </p:cNvPr>
          <p:cNvSpPr>
            <a:spLocks xmlns:a="http://schemas.openxmlformats.org/drawingml/2006/main" noGrp="1"/>
          </p:cNvSpPr>
          <p:nvPr/>
        </p:nvSpPr>
        <p:spPr>
          <a:xfrm xmlns:a="http://schemas.openxmlformats.org/drawingml/2006/main">
            <a:off x="552450" y="3505200"/>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Typical use</a:t>
            </a:r>
          </a:p>
        </p:txBody>
      </p:sp>
      <p:sp>
        <p:nvSpPr>
          <p:cNvPr id="8" name="">
            <a:extLst xmlns:a="http://schemas.openxmlformats.org/drawingml/2006/main">
              <a:ext uri="{FF2B5EF4-FFF2-40B4-BE49-F238E27FC236}">
                <a16:creationId xmlns:a16="http://schemas.microsoft.com/office/drawing/2014/main" id="{2DF9F7BD-AC24-4D82-BF3B-2A371552DED1}"/>
              </a:ext>
            </a:extLst>
          </p:cNvPr>
          <p:cNvSpPr>
            <a:spLocks xmlns:a="http://schemas.openxmlformats.org/drawingml/2006/main" noGrp="1"/>
          </p:cNvSpPr>
          <p:nvPr/>
        </p:nvSpPr>
        <p:spPr>
          <a:xfrm xmlns:a="http://schemas.openxmlformats.org/drawingml/2006/main">
            <a:off x="3886200" y="3505200"/>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A configurator links selected options to model materials or parts.</a:t>
            </a:r>
          </a:p>
        </p:txBody>
      </p:sp>
      <p:sp>
        <p:nvSpPr>
          <p:cNvPr id="9" name="">
            <a:extLst xmlns:a="http://schemas.openxmlformats.org/drawingml/2006/main">
              <a:ext uri="{FF2B5EF4-FFF2-40B4-BE49-F238E27FC236}">
                <a16:creationId xmlns:a16="http://schemas.microsoft.com/office/drawing/2014/main" id="{9CF62C06-76A7-4F33-B066-6EF5E0736D82}"/>
              </a:ext>
            </a:extLst>
          </p:cNvPr>
          <p:cNvSpPr>
            <a:spLocks xmlns:a="http://schemas.openxmlformats.org/drawingml/2006/main" noGrp="1"/>
          </p:cNvSpPr>
          <p:nvPr/>
        </p:nvSpPr>
        <p:spPr>
          <a:xfrm xmlns:a="http://schemas.openxmlformats.org/drawingml/2006/main">
            <a:off x="552450" y="4410075"/>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Developer advantage</a:t>
            </a:r>
          </a:p>
        </p:txBody>
      </p:sp>
      <p:sp>
        <p:nvSpPr>
          <p:cNvPr id="10" name="">
            <a:extLst xmlns:a="http://schemas.openxmlformats.org/drawingml/2006/main">
              <a:ext uri="{FF2B5EF4-FFF2-40B4-BE49-F238E27FC236}">
                <a16:creationId xmlns:a16="http://schemas.microsoft.com/office/drawing/2014/main" id="{0BC275EE-ADAF-4218-ADC1-7A5F21763FA3}"/>
              </a:ext>
            </a:extLst>
          </p:cNvPr>
          <p:cNvSpPr>
            <a:spLocks xmlns:a="http://schemas.openxmlformats.org/drawingml/2006/main" noGrp="1"/>
          </p:cNvSpPr>
          <p:nvPr/>
        </p:nvSpPr>
        <p:spPr>
          <a:xfrm xmlns:a="http://schemas.openxmlformats.org/drawingml/2006/main">
            <a:off x="3886200" y="4410075"/>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Reusable scene components fit an existing React codebase.</a:t>
            </a:r>
          </a:p>
        </p:txBody>
      </p:sp>
      <p:sp>
        <p:nvSpPr>
          <p:cNvPr id="11" name="">
            <a:extLst xmlns:a="http://schemas.openxmlformats.org/drawingml/2006/main">
              <a:ext uri="{FF2B5EF4-FFF2-40B4-BE49-F238E27FC236}">
                <a16:creationId xmlns:a16="http://schemas.microsoft.com/office/drawing/2014/main" id="{C7BFC7D5-FC87-4060-B2E2-0298FE8E5FB6}"/>
              </a:ext>
            </a:extLst>
          </p:cNvPr>
          <p:cNvSpPr>
            <a:spLocks xmlns:a="http://schemas.openxmlformats.org/drawingml/2006/main" noGrp="1"/>
          </p:cNvSpPr>
          <p:nvPr/>
        </p:nvSpPr>
        <p:spPr>
          <a:xfrm xmlns:a="http://schemas.openxmlformats.org/drawingml/2006/main">
            <a:off x="552450" y="5314950"/>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Learning requirement</a:t>
            </a:r>
          </a:p>
        </p:txBody>
      </p:sp>
      <p:sp>
        <p:nvSpPr>
          <p:cNvPr id="12" name="">
            <a:extLst xmlns:a="http://schemas.openxmlformats.org/drawingml/2006/main">
              <a:ext uri="{FF2B5EF4-FFF2-40B4-BE49-F238E27FC236}">
                <a16:creationId xmlns:a16="http://schemas.microsoft.com/office/drawing/2014/main" id="{B3A9126C-8EEB-4E22-993B-1D38E8B613F8}"/>
              </a:ext>
            </a:extLst>
          </p:cNvPr>
          <p:cNvSpPr>
            <a:spLocks xmlns:a="http://schemas.openxmlformats.org/drawingml/2006/main" noGrp="1"/>
          </p:cNvSpPr>
          <p:nvPr/>
        </p:nvSpPr>
        <p:spPr>
          <a:xfrm xmlns:a="http://schemas.openxmlformats.org/drawingml/2006/main">
            <a:off x="3886200" y="5314950"/>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The team still needs Three.js and 3D fundamentals.</a:t>
            </a:r>
          </a:p>
        </p:txBody>
      </p:sp>
    </p:spTree>
    <p:extLst>
      <p:ext uri="{BB962C8B-B14F-4D97-AF65-F5344CB8AC3E}">
        <p14:creationId xmlns:p14="http://schemas.microsoft.com/office/powerpoint/2010/main" val="192705186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742F914-4D26-4F6E-97F0-6BB3841994C8}"/>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LIGHTMETRICS   /   3D EXPLORATION</a:t>
            </a:r>
          </a:p>
        </p:txBody>
      </p:sp>
      <p:sp>
        <p:nvSpPr>
          <p:cNvPr id="2" name="">
            <a:extLst xmlns:a="http://schemas.openxmlformats.org/drawingml/2006/main">
              <a:ext uri="{FF2B5EF4-FFF2-40B4-BE49-F238E27FC236}">
                <a16:creationId xmlns:a16="http://schemas.microsoft.com/office/drawing/2014/main" id="{0728BE02-0A64-4A98-BD3B-6497A60BD4AE}"/>
              </a:ext>
            </a:extLst>
          </p:cNvPr>
          <p:cNvSpPr>
            <a:spLocks xmlns:a="http://schemas.openxmlformats.org/drawingml/2006/main" noGrp="1"/>
          </p:cNvSpPr>
          <p:nvPr/>
        </p:nvSpPr>
        <p:spPr>
          <a:xfrm xmlns:a="http://schemas.openxmlformats.org/drawingml/2006/main">
            <a:off x="11049000" y="2857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50D55838-8152-4FA2-A23D-730FDB6FB3AD}"/>
              </a:ext>
            </a:extLst>
          </p:cNvPr>
          <p:cNvSpPr>
            <a:spLocks xmlns:a="http://schemas.openxmlformats.org/drawingml/2006/main" noGrp="1"/>
          </p:cNvSpPr>
          <p:nvPr/>
        </p:nvSpPr>
        <p:spPr>
          <a:xfrm xmlns:a="http://schemas.openxmlformats.org/drawingml/2006/main">
            <a:off x="533400" y="89535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151515"/>
                </a:solidFill>
                <a:latin typeface="Arial"/>
                <a:ea typeface="Arial"/>
                <a:cs typeface="Arial"/>
              </a:defRPr>
            </a:defPPr>
          </a:lstStyle>
          <a:p xmlns:a="http://schemas.openxmlformats.org/drawingml/2006/main">
            <a:pPr>
              <a:defRPr sz="3300" b="0">
                <a:solidFill>
                  <a:srgbClr val="151515"/>
                </a:solidFill>
                <a:latin typeface="Arial"/>
                <a:ea typeface="Arial"/>
                <a:cs typeface="Arial"/>
              </a:defRPr>
            </a:pPr>
            <a:r>
              <a:rPr sz="3300" b="0">
                <a:solidFill>
                  <a:srgbClr val="151515"/>
                </a:solidFill>
                <a:latin typeface="Arial"/>
                <a:ea typeface="Arial"/>
                <a:cs typeface="Arial"/>
              </a:rPr>
              <a:t>Babylon.js and PlayCanvas</a:t>
            </a:r>
          </a:p>
        </p:txBody>
      </p:sp>
      <p:sp>
        <p:nvSpPr>
          <p:cNvPr id="4" name="">
            <a:extLst xmlns:a="http://schemas.openxmlformats.org/drawingml/2006/main">
              <a:ext uri="{FF2B5EF4-FFF2-40B4-BE49-F238E27FC236}">
                <a16:creationId xmlns:a16="http://schemas.microsoft.com/office/drawing/2014/main" id="{88603BAE-CFCC-4053-856B-7DBFB4F35677}"/>
              </a:ext>
            </a:extLst>
          </p:cNvPr>
          <p:cNvSpPr>
            <a:spLocks xmlns:a="http://schemas.openxmlformats.org/drawingml/2006/main" noGrp="1"/>
          </p:cNvSpPr>
          <p:nvPr/>
        </p:nvSpPr>
        <p:spPr>
          <a:xfrm xmlns:a="http://schemas.openxmlformats.org/drawingml/2006/main">
            <a:off x="552450" y="16764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6666"/>
                </a:solidFill>
                <a:latin typeface="Arial"/>
                <a:ea typeface="Arial"/>
                <a:cs typeface="Arial"/>
              </a:defRPr>
            </a:defPPr>
          </a:lstStyle>
          <a:p xmlns:a="http://schemas.openxmlformats.org/drawingml/2006/main">
            <a:pPr>
              <a:defRPr sz="1875" b="0">
                <a:solidFill>
                  <a:srgbClr val="666666"/>
                </a:solidFill>
                <a:latin typeface="Arial"/>
                <a:ea typeface="Arial"/>
                <a:cs typeface="Arial"/>
              </a:defRPr>
            </a:pPr>
            <a:r>
              <a:rPr sz="1875" b="0">
                <a:solidFill>
                  <a:srgbClr val="666666"/>
                </a:solidFill>
                <a:latin typeface="Arial"/>
                <a:ea typeface="Arial"/>
                <a:cs typeface="Arial"/>
              </a:rPr>
              <a:t>Best fit: applications that need more than a product turntable.</a:t>
            </a:r>
          </a:p>
        </p:txBody>
      </p:sp>
      <p:graphicFrame>
        <p:nvGraphicFramePr>
          <p:cNvPr id="5" name="">
            <a:extLst xmlns:a="http://schemas.openxmlformats.org/drawingml/2006/main">
              <a:ext uri="{FF2B5EF4-FFF2-40B4-BE49-F238E27FC236}">
                <a16:creationId xmlns:a16="http://schemas.microsoft.com/office/drawing/2014/main" id="{AE188B64-4321-4105-953A-87E6650AF824}"/>
              </a:ext>
            </a:extLst>
          </p:cNvPr>
          <p:cNvGraphicFramePr/>
          <p:nvPr/>
        </p:nvGraphicFramePr>
        <p:xfrm>
          <a:off xmlns:a="http://schemas.openxmlformats.org/drawingml/2006/main" x="552450" y="2562225"/>
          <a:ext xmlns:a="http://schemas.openxmlformats.org/drawingml/2006/main" cx="11087100" cy="3638550"/>
        </p:xfrm>
        <a:graphic xmlns:a="http://schemas.openxmlformats.org/drawingml/2006/main">
          <a:graphicData uri="http://schemas.openxmlformats.org/drawingml/2006/table">
            <a:tbl>
              <a:tblPr/>
              <a:tblGrid>
                <a:gridCol w="3095625"/>
                <a:gridCol w="3905250"/>
                <a:gridCol w="4086225"/>
              </a:tblGrid>
              <a:tr h="1212850">
                <a:tc>
                  <a:txBody>
                    <a:bodyPr/>
                    <a:lstStyle/>
                    <a:p>
                      <a:r>
                        <a:rPr sz="1725" b="1">
                          <a:solidFill>
                            <a:srgbClr val="FFFFFF"/>
                          </a:solidFill>
                          <a:latin typeface="Arial"/>
                          <a:ea typeface="Arial"/>
                          <a:cs typeface="Arial"/>
                        </a:rPr>
                        <a:t>Tool</a:t>
                      </a:r>
                    </a:p>
                  </a:txBody>
                  <a:tcPr marL="114300" marR="114300" marT="47625" marB="47625">
                    <a:solidFill>
                      <a:srgbClr val="151515"/>
                    </a:solidFill>
                  </a:tcPr>
                </a:tc>
                <a:tc>
                  <a:txBody>
                    <a:bodyPr/>
                    <a:lstStyle/>
                    <a:p>
                      <a:r>
                        <a:rPr sz="1725" b="1">
                          <a:solidFill>
                            <a:srgbClr val="FFFFFF"/>
                          </a:solidFill>
                          <a:latin typeface="Arial"/>
                          <a:ea typeface="Arial"/>
                          <a:cs typeface="Arial"/>
                        </a:rPr>
                        <a:t>How it works</a:t>
                      </a:r>
                    </a:p>
                  </a:txBody>
                  <a:tcPr marL="114300" marR="114300" marT="47625" marB="47625">
                    <a:solidFill>
                      <a:srgbClr val="151515"/>
                    </a:solidFill>
                  </a:tcPr>
                </a:tc>
                <a:tc>
                  <a:txBody>
                    <a:bodyPr/>
                    <a:lstStyle/>
                    <a:p>
                      <a:r>
                        <a:rPr sz="1725" b="1">
                          <a:solidFill>
                            <a:srgbClr val="FFFFFF"/>
                          </a:solidFill>
                          <a:latin typeface="Arial"/>
                          <a:ea typeface="Arial"/>
                          <a:cs typeface="Arial"/>
                        </a:rPr>
                        <a:t>When to explore it</a:t>
                      </a:r>
                    </a:p>
                  </a:txBody>
                  <a:tcPr marL="114300" marR="114300" marT="47625" marB="47625">
                    <a:solidFill>
                      <a:srgbClr val="151515"/>
                    </a:solidFill>
                  </a:tcPr>
                </a:tc>
              </a:tr>
              <a:tr h="1212850">
                <a:tc>
                  <a:txBody>
                    <a:bodyPr/>
                    <a:lstStyle/>
                    <a:p>
                      <a:r>
                        <a:rPr sz="1725">
                          <a:solidFill>
                            <a:srgbClr val="151515"/>
                          </a:solidFill>
                          <a:latin typeface="Arial"/>
                          <a:ea typeface="Arial"/>
                          <a:cs typeface="Arial"/>
                        </a:rPr>
                        <a:t>Babylon.js</a:t>
                      </a:r>
                    </a:p>
                  </a:txBody>
                  <a:tcPr marL="114300" marR="114300" marT="47625" marB="47625"/>
                </a:tc>
                <a:tc>
                  <a:txBody>
                    <a:bodyPr/>
                    <a:lstStyle/>
                    <a:p>
                      <a:r>
                        <a:rPr sz="1725">
                          <a:solidFill>
                            <a:srgbClr val="151515"/>
                          </a:solidFill>
                          <a:latin typeface="Arial"/>
                          <a:ea typeface="Arial"/>
                          <a:cs typeface="Arial"/>
                        </a:rPr>
                        <a:t>An engine with tools for rendering and application features.</a:t>
                      </a:r>
                    </a:p>
                  </a:txBody>
                  <a:tcPr marL="114300" marR="114300" marT="47625" marB="47625"/>
                </a:tc>
                <a:tc>
                  <a:txBody>
                    <a:bodyPr/>
                    <a:lstStyle/>
                    <a:p>
                      <a:r>
                        <a:rPr sz="1725">
                          <a:solidFill>
                            <a:srgbClr val="151515"/>
                          </a:solidFill>
                          <a:latin typeface="Arial"/>
                          <a:ea typeface="Arial"/>
                          <a:cs typeface="Arial"/>
                        </a:rPr>
                        <a:t>Consider for complex interactive scenes, XR or game-like behavior.</a:t>
                      </a:r>
                    </a:p>
                  </a:txBody>
                  <a:tcPr marL="114300" marR="114300" marT="47625" marB="47625"/>
                </a:tc>
              </a:tr>
              <a:tr h="1212850">
                <a:tc>
                  <a:txBody>
                    <a:bodyPr/>
                    <a:lstStyle/>
                    <a:p>
                      <a:r>
                        <a:rPr sz="1725">
                          <a:solidFill>
                            <a:srgbClr val="151515"/>
                          </a:solidFill>
                          <a:latin typeface="Arial"/>
                          <a:ea typeface="Arial"/>
                          <a:cs typeface="Arial"/>
                        </a:rPr>
                        <a:t>PlayCanvas</a:t>
                      </a:r>
                    </a:p>
                  </a:txBody>
                  <a:tcPr marL="114300" marR="114300" marT="47625" marB="47625"/>
                </a:tc>
                <a:tc>
                  <a:txBody>
                    <a:bodyPr/>
                    <a:lstStyle/>
                    <a:p>
                      <a:r>
                        <a:rPr sz="1725">
                          <a:solidFill>
                            <a:srgbClr val="151515"/>
                          </a:solidFill>
                          <a:latin typeface="Arial"/>
                          <a:ea typeface="Arial"/>
                          <a:cs typeface="Arial"/>
                        </a:rPr>
                        <a:t>A web engine with a browser-based scene editor.</a:t>
                      </a:r>
                    </a:p>
                  </a:txBody>
                  <a:tcPr marL="114300" marR="114300" marT="47625" marB="47625"/>
                </a:tc>
                <a:tc>
                  <a:txBody>
                    <a:bodyPr/>
                    <a:lstStyle/>
                    <a:p>
                      <a:r>
                        <a:rPr sz="1725">
                          <a:solidFill>
                            <a:srgbClr val="151515"/>
                          </a:solidFill>
                          <a:latin typeface="Arial"/>
                          <a:ea typeface="Arial"/>
                          <a:cs typeface="Arial"/>
                        </a:rPr>
                        <a:t>Consider when artists and developers need a shared visual workflow.</a:t>
                      </a:r>
                    </a:p>
                  </a:txBody>
                  <a:tcPr marL="114300" marR="114300" marT="47625" marB="47625"/>
                </a:tc>
              </a:tr>
            </a:tbl>
          </a:graphicData>
        </a:graphic>
      </p:graphicFrame>
    </p:spTree>
    <p:extLst>
      <p:ext uri="{BB962C8B-B14F-4D97-AF65-F5344CB8AC3E}">
        <p14:creationId xmlns:p14="http://schemas.microsoft.com/office/powerpoint/2010/main" val="146203085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23925EE-E498-4FC7-9D9E-FBE0DD6ACA8E}"/>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LIGHTMETRICS   /   3D EXPLORATION</a:t>
            </a:r>
          </a:p>
        </p:txBody>
      </p:sp>
      <p:sp>
        <p:nvSpPr>
          <p:cNvPr id="2" name="">
            <a:extLst xmlns:a="http://schemas.openxmlformats.org/drawingml/2006/main">
              <a:ext uri="{FF2B5EF4-FFF2-40B4-BE49-F238E27FC236}">
                <a16:creationId xmlns:a16="http://schemas.microsoft.com/office/drawing/2014/main" id="{CB390DEE-69F1-4C37-8774-294B67444379}"/>
              </a:ext>
            </a:extLst>
          </p:cNvPr>
          <p:cNvSpPr>
            <a:spLocks xmlns:a="http://schemas.openxmlformats.org/drawingml/2006/main" noGrp="1"/>
          </p:cNvSpPr>
          <p:nvPr/>
        </p:nvSpPr>
        <p:spPr>
          <a:xfrm xmlns:a="http://schemas.openxmlformats.org/drawingml/2006/main">
            <a:off x="11049000" y="2857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614AD9EA-EBFB-4EFF-AE3C-77F7D1C69CCB}"/>
              </a:ext>
            </a:extLst>
          </p:cNvPr>
          <p:cNvSpPr>
            <a:spLocks xmlns:a="http://schemas.openxmlformats.org/drawingml/2006/main" noGrp="1"/>
          </p:cNvSpPr>
          <p:nvPr/>
        </p:nvSpPr>
        <p:spPr>
          <a:xfrm xmlns:a="http://schemas.openxmlformats.org/drawingml/2006/main">
            <a:off x="533400" y="89535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151515"/>
                </a:solidFill>
                <a:latin typeface="Arial"/>
                <a:ea typeface="Arial"/>
                <a:cs typeface="Arial"/>
              </a:defRPr>
            </a:defPPr>
          </a:lstStyle>
          <a:p xmlns:a="http://schemas.openxmlformats.org/drawingml/2006/main">
            <a:pPr>
              <a:defRPr sz="3300" b="0">
                <a:solidFill>
                  <a:srgbClr val="151515"/>
                </a:solidFill>
                <a:latin typeface="Arial"/>
                <a:ea typeface="Arial"/>
                <a:cs typeface="Arial"/>
              </a:defRPr>
            </a:pPr>
            <a:r>
              <a:rPr sz="3300" b="0">
                <a:solidFill>
                  <a:srgbClr val="151515"/>
                </a:solidFill>
                <a:latin typeface="Arial"/>
                <a:ea typeface="Arial"/>
                <a:cs typeface="Arial"/>
              </a:rPr>
              <a:t>WebGPU: a newer graphics foundation</a:t>
            </a:r>
          </a:p>
        </p:txBody>
      </p:sp>
      <p:sp>
        <p:nvSpPr>
          <p:cNvPr id="4" name="">
            <a:extLst xmlns:a="http://schemas.openxmlformats.org/drawingml/2006/main">
              <a:ext uri="{FF2B5EF4-FFF2-40B4-BE49-F238E27FC236}">
                <a16:creationId xmlns:a16="http://schemas.microsoft.com/office/drawing/2014/main" id="{12A1C24C-1A85-4F17-84C1-54E98B82F922}"/>
              </a:ext>
            </a:extLst>
          </p:cNvPr>
          <p:cNvSpPr>
            <a:spLocks xmlns:a="http://schemas.openxmlformats.org/drawingml/2006/main" noGrp="1"/>
          </p:cNvSpPr>
          <p:nvPr/>
        </p:nvSpPr>
        <p:spPr>
          <a:xfrm xmlns:a="http://schemas.openxmlformats.org/drawingml/2006/main">
            <a:off x="552450" y="16764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6666"/>
                </a:solidFill>
                <a:latin typeface="Arial"/>
                <a:ea typeface="Arial"/>
                <a:cs typeface="Arial"/>
              </a:defRPr>
            </a:defPPr>
          </a:lstStyle>
          <a:p xmlns:a="http://schemas.openxmlformats.org/drawingml/2006/main">
            <a:pPr>
              <a:defRPr sz="1875" b="0">
                <a:solidFill>
                  <a:srgbClr val="666666"/>
                </a:solidFill>
                <a:latin typeface="Arial"/>
                <a:ea typeface="Arial"/>
                <a:cs typeface="Arial"/>
              </a:defRPr>
            </a:pPr>
            <a:r>
              <a:rPr sz="1875" b="0">
                <a:solidFill>
                  <a:srgbClr val="666666"/>
                </a:solidFill>
                <a:latin typeface="Arial"/>
                <a:ea typeface="Arial"/>
                <a:cs typeface="Arial"/>
              </a:rPr>
              <a:t>Best fit: advanced rendering or compute workloads with tested device support.</a:t>
            </a:r>
          </a:p>
        </p:txBody>
      </p:sp>
      <p:sp>
        <p:nvSpPr>
          <p:cNvPr id="5" name="">
            <a:extLst xmlns:a="http://schemas.openxmlformats.org/drawingml/2006/main">
              <a:ext uri="{FF2B5EF4-FFF2-40B4-BE49-F238E27FC236}">
                <a16:creationId xmlns:a16="http://schemas.microsoft.com/office/drawing/2014/main" id="{BBD6E51D-7299-437C-8ED3-98DAB4BC51F3}"/>
              </a:ext>
            </a:extLst>
          </p:cNvPr>
          <p:cNvSpPr>
            <a:spLocks xmlns:a="http://schemas.openxmlformats.org/drawingml/2006/main" noGrp="1"/>
          </p:cNvSpPr>
          <p:nvPr/>
        </p:nvSpPr>
        <p:spPr>
          <a:xfrm xmlns:a="http://schemas.openxmlformats.org/drawingml/2006/main">
            <a:off x="552450" y="2600325"/>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What it adds</a:t>
            </a:r>
          </a:p>
        </p:txBody>
      </p:sp>
      <p:sp>
        <p:nvSpPr>
          <p:cNvPr id="6" name="">
            <a:extLst xmlns:a="http://schemas.openxmlformats.org/drawingml/2006/main">
              <a:ext uri="{FF2B5EF4-FFF2-40B4-BE49-F238E27FC236}">
                <a16:creationId xmlns:a16="http://schemas.microsoft.com/office/drawing/2014/main" id="{9CBE8ECC-9EFA-4E7A-A700-51CD35C18729}"/>
              </a:ext>
            </a:extLst>
          </p:cNvPr>
          <p:cNvSpPr>
            <a:spLocks xmlns:a="http://schemas.openxmlformats.org/drawingml/2006/main" noGrp="1"/>
          </p:cNvSpPr>
          <p:nvPr/>
        </p:nvSpPr>
        <p:spPr>
          <a:xfrm xmlns:a="http://schemas.openxmlformats.org/drawingml/2006/main">
            <a:off x="3886200" y="2600325"/>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A modern browser API for GPU rendering and general-purpose GPU compute.</a:t>
            </a:r>
          </a:p>
        </p:txBody>
      </p:sp>
      <p:sp>
        <p:nvSpPr>
          <p:cNvPr id="7" name="">
            <a:extLst xmlns:a="http://schemas.openxmlformats.org/drawingml/2006/main">
              <a:ext uri="{FF2B5EF4-FFF2-40B4-BE49-F238E27FC236}">
                <a16:creationId xmlns:a16="http://schemas.microsoft.com/office/drawing/2014/main" id="{8BB76B7B-6285-4684-B90A-8AB7F5E57B3B}"/>
              </a:ext>
            </a:extLst>
          </p:cNvPr>
          <p:cNvSpPr>
            <a:spLocks xmlns:a="http://schemas.openxmlformats.org/drawingml/2006/main" noGrp="1"/>
          </p:cNvSpPr>
          <p:nvPr/>
        </p:nvSpPr>
        <p:spPr>
          <a:xfrm xmlns:a="http://schemas.openxmlformats.org/drawingml/2006/main">
            <a:off x="552450" y="3505200"/>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How teams use it</a:t>
            </a:r>
          </a:p>
        </p:txBody>
      </p:sp>
      <p:sp>
        <p:nvSpPr>
          <p:cNvPr id="8" name="">
            <a:extLst xmlns:a="http://schemas.openxmlformats.org/drawingml/2006/main">
              <a:ext uri="{FF2B5EF4-FFF2-40B4-BE49-F238E27FC236}">
                <a16:creationId xmlns:a16="http://schemas.microsoft.com/office/drawing/2014/main" id="{8AA278C6-4514-46F5-813A-BE031B9A9920}"/>
              </a:ext>
            </a:extLst>
          </p:cNvPr>
          <p:cNvSpPr>
            <a:spLocks xmlns:a="http://schemas.openxmlformats.org/drawingml/2006/main" noGrp="1"/>
          </p:cNvSpPr>
          <p:nvPr/>
        </p:nvSpPr>
        <p:spPr>
          <a:xfrm xmlns:a="http://schemas.openxmlformats.org/drawingml/2006/main">
            <a:off x="3886200" y="3505200"/>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Through a supporting engine, or through a custom graphics pipeline.</a:t>
            </a:r>
          </a:p>
        </p:txBody>
      </p:sp>
      <p:sp>
        <p:nvSpPr>
          <p:cNvPr id="9" name="">
            <a:extLst xmlns:a="http://schemas.openxmlformats.org/drawingml/2006/main">
              <a:ext uri="{FF2B5EF4-FFF2-40B4-BE49-F238E27FC236}">
                <a16:creationId xmlns:a16="http://schemas.microsoft.com/office/drawing/2014/main" id="{0223B0D7-4DC9-423E-B00C-8AAF72F57B55}"/>
              </a:ext>
            </a:extLst>
          </p:cNvPr>
          <p:cNvSpPr>
            <a:spLocks xmlns:a="http://schemas.openxmlformats.org/drawingml/2006/main" noGrp="1"/>
          </p:cNvSpPr>
          <p:nvPr/>
        </p:nvSpPr>
        <p:spPr>
          <a:xfrm xmlns:a="http://schemas.openxmlformats.org/drawingml/2006/main">
            <a:off x="552450" y="4410075"/>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Three.js route</a:t>
            </a:r>
          </a:p>
        </p:txBody>
      </p:sp>
      <p:sp>
        <p:nvSpPr>
          <p:cNvPr id="10" name="">
            <a:extLst xmlns:a="http://schemas.openxmlformats.org/drawingml/2006/main">
              <a:ext uri="{FF2B5EF4-FFF2-40B4-BE49-F238E27FC236}">
                <a16:creationId xmlns:a16="http://schemas.microsoft.com/office/drawing/2014/main" id="{F1AE7F3B-EF26-402A-B3D0-58938A333417}"/>
              </a:ext>
            </a:extLst>
          </p:cNvPr>
          <p:cNvSpPr>
            <a:spLocks xmlns:a="http://schemas.openxmlformats.org/drawingml/2006/main" noGrp="1"/>
          </p:cNvSpPr>
          <p:nvPr/>
        </p:nvSpPr>
        <p:spPr>
          <a:xfrm xmlns:a="http://schemas.openxmlformats.org/drawingml/2006/main">
            <a:off x="3886200" y="4410075"/>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WebGPURenderer can use a WebGPU backend with a WebGL 2 fallback.</a:t>
            </a:r>
          </a:p>
        </p:txBody>
      </p:sp>
      <p:sp>
        <p:nvSpPr>
          <p:cNvPr id="11" name="">
            <a:extLst xmlns:a="http://schemas.openxmlformats.org/drawingml/2006/main">
              <a:ext uri="{FF2B5EF4-FFF2-40B4-BE49-F238E27FC236}">
                <a16:creationId xmlns:a16="http://schemas.microsoft.com/office/drawing/2014/main" id="{EAC1CA6F-2E0B-40DD-BEC2-5CB57BD8C5A9}"/>
              </a:ext>
            </a:extLst>
          </p:cNvPr>
          <p:cNvSpPr>
            <a:spLocks xmlns:a="http://schemas.openxmlformats.org/drawingml/2006/main" noGrp="1"/>
          </p:cNvSpPr>
          <p:nvPr/>
        </p:nvSpPr>
        <p:spPr>
          <a:xfrm xmlns:a="http://schemas.openxmlformats.org/drawingml/2006/main">
            <a:off x="552450" y="5314950"/>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Decision rule</a:t>
            </a:r>
          </a:p>
        </p:txBody>
      </p:sp>
      <p:sp>
        <p:nvSpPr>
          <p:cNvPr id="12" name="">
            <a:extLst xmlns:a="http://schemas.openxmlformats.org/drawingml/2006/main">
              <a:ext uri="{FF2B5EF4-FFF2-40B4-BE49-F238E27FC236}">
                <a16:creationId xmlns:a16="http://schemas.microsoft.com/office/drawing/2014/main" id="{E1CEFCF4-67BA-44D2-840B-0AC935174AD3}"/>
              </a:ext>
            </a:extLst>
          </p:cNvPr>
          <p:cNvSpPr>
            <a:spLocks xmlns:a="http://schemas.openxmlformats.org/drawingml/2006/main" noGrp="1"/>
          </p:cNvSpPr>
          <p:nvPr/>
        </p:nvSpPr>
        <p:spPr>
          <a:xfrm xmlns:a="http://schemas.openxmlformats.org/drawingml/2006/main">
            <a:off x="3886200" y="5314950"/>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Verify features and performance on real target devices before switching.</a:t>
            </a:r>
          </a:p>
        </p:txBody>
      </p:sp>
    </p:spTree>
    <p:extLst>
      <p:ext uri="{BB962C8B-B14F-4D97-AF65-F5344CB8AC3E}">
        <p14:creationId xmlns:p14="http://schemas.microsoft.com/office/powerpoint/2010/main" val="89607627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747CF92-E79F-40D3-A9D5-D85BDBC4EB17}"/>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LIGHTMETRICS   /   3D EXPLORATION</a:t>
            </a:r>
          </a:p>
        </p:txBody>
      </p:sp>
      <p:sp>
        <p:nvSpPr>
          <p:cNvPr id="2" name="">
            <a:extLst xmlns:a="http://schemas.openxmlformats.org/drawingml/2006/main">
              <a:ext uri="{FF2B5EF4-FFF2-40B4-BE49-F238E27FC236}">
                <a16:creationId xmlns:a16="http://schemas.microsoft.com/office/drawing/2014/main" id="{B61F9D7E-772A-4A54-B5FA-7F1BDF960B54}"/>
              </a:ext>
            </a:extLst>
          </p:cNvPr>
          <p:cNvSpPr>
            <a:spLocks xmlns:a="http://schemas.openxmlformats.org/drawingml/2006/main" noGrp="1"/>
          </p:cNvSpPr>
          <p:nvPr/>
        </p:nvSpPr>
        <p:spPr>
          <a:xfrm xmlns:a="http://schemas.openxmlformats.org/drawingml/2006/main">
            <a:off x="11049000" y="2857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1B59F4D6-F003-4528-8470-787C05D7FE11}"/>
              </a:ext>
            </a:extLst>
          </p:cNvPr>
          <p:cNvSpPr>
            <a:spLocks xmlns:a="http://schemas.openxmlformats.org/drawingml/2006/main" noGrp="1"/>
          </p:cNvSpPr>
          <p:nvPr/>
        </p:nvSpPr>
        <p:spPr>
          <a:xfrm xmlns:a="http://schemas.openxmlformats.org/drawingml/2006/main">
            <a:off x="533400" y="89535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151515"/>
                </a:solidFill>
                <a:latin typeface="Arial"/>
                <a:ea typeface="Arial"/>
                <a:cs typeface="Arial"/>
              </a:defRPr>
            </a:defPPr>
          </a:lstStyle>
          <a:p xmlns:a="http://schemas.openxmlformats.org/drawingml/2006/main">
            <a:pPr>
              <a:defRPr sz="3300" b="0">
                <a:solidFill>
                  <a:srgbClr val="151515"/>
                </a:solidFill>
                <a:latin typeface="Arial"/>
                <a:ea typeface="Arial"/>
                <a:cs typeface="Arial"/>
              </a:defRPr>
            </a:pPr>
            <a:r>
              <a:rPr sz="3300" b="0">
                <a:solidFill>
                  <a:srgbClr val="151515"/>
                </a:solidFill>
                <a:latin typeface="Arial"/>
                <a:ea typeface="Arial"/>
                <a:cs typeface="Arial"/>
              </a:rPr>
              <a:t>Other useful approaches</a:t>
            </a:r>
          </a:p>
        </p:txBody>
      </p:sp>
      <p:sp>
        <p:nvSpPr>
          <p:cNvPr id="4" name="">
            <a:extLst xmlns:a="http://schemas.openxmlformats.org/drawingml/2006/main">
              <a:ext uri="{FF2B5EF4-FFF2-40B4-BE49-F238E27FC236}">
                <a16:creationId xmlns:a16="http://schemas.microsoft.com/office/drawing/2014/main" id="{DFB38EFA-35D8-4812-B780-5460B05C6491}"/>
              </a:ext>
            </a:extLst>
          </p:cNvPr>
          <p:cNvSpPr>
            <a:spLocks xmlns:a="http://schemas.openxmlformats.org/drawingml/2006/main" noGrp="1"/>
          </p:cNvSpPr>
          <p:nvPr/>
        </p:nvSpPr>
        <p:spPr>
          <a:xfrm xmlns:a="http://schemas.openxmlformats.org/drawingml/2006/main">
            <a:off x="552450" y="16764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6666"/>
                </a:solidFill>
                <a:latin typeface="Arial"/>
                <a:ea typeface="Arial"/>
                <a:cs typeface="Arial"/>
              </a:defRPr>
            </a:defPPr>
          </a:lstStyle>
          <a:p xmlns:a="http://schemas.openxmlformats.org/drawingml/2006/main">
            <a:pPr>
              <a:defRPr sz="1875" b="0">
                <a:solidFill>
                  <a:srgbClr val="666666"/>
                </a:solidFill>
                <a:latin typeface="Arial"/>
                <a:ea typeface="Arial"/>
                <a:cs typeface="Arial"/>
              </a:defRPr>
            </a:pPr>
            <a:r>
              <a:rPr sz="1875" b="0">
                <a:solidFill>
                  <a:srgbClr val="666666"/>
                </a:solidFill>
                <a:latin typeface="Arial"/>
                <a:ea typeface="Arial"/>
                <a:cs typeface="Arial"/>
              </a:rPr>
              <a:t>The desired visitor action determines whether real-time 3D is necessary.</a:t>
            </a:r>
          </a:p>
        </p:txBody>
      </p:sp>
      <p:graphicFrame>
        <p:nvGraphicFramePr>
          <p:cNvPr id="5" name="">
            <a:extLst xmlns:a="http://schemas.openxmlformats.org/drawingml/2006/main">
              <a:ext uri="{FF2B5EF4-FFF2-40B4-BE49-F238E27FC236}">
                <a16:creationId xmlns:a16="http://schemas.microsoft.com/office/drawing/2014/main" id="{A180C628-1504-4B18-8A7F-08C3E8457222}"/>
              </a:ext>
            </a:extLst>
          </p:cNvPr>
          <p:cNvGraphicFramePr/>
          <p:nvPr/>
        </p:nvGraphicFramePr>
        <p:xfrm>
          <a:off xmlns:a="http://schemas.openxmlformats.org/drawingml/2006/main" x="552450" y="2562225"/>
          <a:ext xmlns:a="http://schemas.openxmlformats.org/drawingml/2006/main" cx="11087100" cy="3638550"/>
        </p:xfrm>
        <a:graphic xmlns:a="http://schemas.openxmlformats.org/drawingml/2006/main">
          <a:graphicData uri="http://schemas.openxmlformats.org/drawingml/2006/table">
            <a:tbl>
              <a:tblPr/>
              <a:tblGrid>
                <a:gridCol w="3095625"/>
                <a:gridCol w="3905250"/>
                <a:gridCol w="4086225"/>
              </a:tblGrid>
              <a:tr h="727710">
                <a:tc>
                  <a:txBody>
                    <a:bodyPr/>
                    <a:lstStyle/>
                    <a:p>
                      <a:r>
                        <a:rPr sz="1725" b="1">
                          <a:solidFill>
                            <a:srgbClr val="FFFFFF"/>
                          </a:solidFill>
                          <a:latin typeface="Arial"/>
                          <a:ea typeface="Arial"/>
                          <a:cs typeface="Arial"/>
                        </a:rPr>
                        <a:t>Approach</a:t>
                      </a:r>
                    </a:p>
                  </a:txBody>
                  <a:tcPr marL="114300" marR="114300" marT="47625" marB="47625">
                    <a:solidFill>
                      <a:srgbClr val="151515"/>
                    </a:solidFill>
                  </a:tcPr>
                </a:tc>
                <a:tc>
                  <a:txBody>
                    <a:bodyPr/>
                    <a:lstStyle/>
                    <a:p>
                      <a:r>
                        <a:rPr sz="1725" b="1">
                          <a:solidFill>
                            <a:srgbClr val="FFFFFF"/>
                          </a:solidFill>
                          <a:latin typeface="Arial"/>
                          <a:ea typeface="Arial"/>
                          <a:cs typeface="Arial"/>
                        </a:rPr>
                        <a:t>Useful for</a:t>
                      </a:r>
                    </a:p>
                  </a:txBody>
                  <a:tcPr marL="114300" marR="114300" marT="47625" marB="47625">
                    <a:solidFill>
                      <a:srgbClr val="151515"/>
                    </a:solidFill>
                  </a:tcPr>
                </a:tc>
                <a:tc>
                  <a:txBody>
                    <a:bodyPr/>
                    <a:lstStyle/>
                    <a:p>
                      <a:r>
                        <a:rPr sz="1725" b="1">
                          <a:solidFill>
                            <a:srgbClr val="FFFFFF"/>
                          </a:solidFill>
                          <a:latin typeface="Arial"/>
                          <a:ea typeface="Arial"/>
                          <a:cs typeface="Arial"/>
                        </a:rPr>
                        <a:t>Limitation</a:t>
                      </a:r>
                    </a:p>
                  </a:txBody>
                  <a:tcPr marL="114300" marR="114300" marT="47625" marB="47625">
                    <a:solidFill>
                      <a:srgbClr val="151515"/>
                    </a:solidFill>
                  </a:tcPr>
                </a:tc>
              </a:tr>
              <a:tr h="727710">
                <a:tc>
                  <a:txBody>
                    <a:bodyPr/>
                    <a:lstStyle/>
                    <a:p>
                      <a:r>
                        <a:rPr sz="1725">
                          <a:solidFill>
                            <a:srgbClr val="151515"/>
                          </a:solidFill>
                          <a:latin typeface="Arial"/>
                          <a:ea typeface="Arial"/>
                          <a:cs typeface="Arial"/>
                        </a:rPr>
                        <a:t>Video / rendered animation</a:t>
                      </a:r>
                    </a:p>
                  </a:txBody>
                  <a:tcPr marL="114300" marR="114300" marT="47625" marB="47625"/>
                </a:tc>
                <a:tc>
                  <a:txBody>
                    <a:bodyPr/>
                    <a:lstStyle/>
                    <a:p>
                      <a:r>
                        <a:rPr sz="1725">
                          <a:solidFill>
                            <a:srgbClr val="151515"/>
                          </a:solidFill>
                          <a:latin typeface="Arial"/>
                          <a:ea typeface="Arial"/>
                          <a:cs typeface="Arial"/>
                        </a:rPr>
                        <a:t>A fixed story with a carefully controlled look</a:t>
                      </a:r>
                    </a:p>
                  </a:txBody>
                  <a:tcPr marL="114300" marR="114300" marT="47625" marB="47625"/>
                </a:tc>
                <a:tc>
                  <a:txBody>
                    <a:bodyPr/>
                    <a:lstStyle/>
                    <a:p>
                      <a:r>
                        <a:rPr sz="1725">
                          <a:solidFill>
                            <a:srgbClr val="151515"/>
                          </a:solidFill>
                          <a:latin typeface="Arial"/>
                          <a:ea typeface="Arial"/>
                          <a:cs typeface="Arial"/>
                        </a:rPr>
                        <a:t>Visitors cannot choose arbitrary angles</a:t>
                      </a:r>
                    </a:p>
                  </a:txBody>
                  <a:tcPr marL="114300" marR="114300" marT="47625" marB="47625"/>
                </a:tc>
              </a:tr>
              <a:tr h="727710">
                <a:tc>
                  <a:txBody>
                    <a:bodyPr/>
                    <a:lstStyle/>
                    <a:p>
                      <a:r>
                        <a:rPr sz="1725">
                          <a:solidFill>
                            <a:srgbClr val="151515"/>
                          </a:solidFill>
                          <a:latin typeface="Arial"/>
                          <a:ea typeface="Arial"/>
                          <a:cs typeface="Arial"/>
                        </a:rPr>
                        <a:t>360° image sequence</a:t>
                      </a:r>
                    </a:p>
                  </a:txBody>
                  <a:tcPr marL="114300" marR="114300" marT="47625" marB="47625"/>
                </a:tc>
                <a:tc>
                  <a:txBody>
                    <a:bodyPr/>
                    <a:lstStyle/>
                    <a:p>
                      <a:r>
                        <a:rPr sz="1725">
                          <a:solidFill>
                            <a:srgbClr val="151515"/>
                          </a:solidFill>
                          <a:latin typeface="Arial"/>
                          <a:ea typeface="Arial"/>
                          <a:cs typeface="Arial"/>
                        </a:rPr>
                        <a:t>Spin through photographed or rendered views</a:t>
                      </a:r>
                    </a:p>
                  </a:txBody>
                  <a:tcPr marL="114300" marR="114300" marT="47625" marB="47625"/>
                </a:tc>
                <a:tc>
                  <a:txBody>
                    <a:bodyPr/>
                    <a:lstStyle/>
                    <a:p>
                      <a:r>
                        <a:rPr sz="1725">
                          <a:solidFill>
                            <a:srgbClr val="151515"/>
                          </a:solidFill>
                          <a:latin typeface="Arial"/>
                          <a:ea typeface="Arial"/>
                          <a:cs typeface="Arial"/>
                        </a:rPr>
                        <a:t>Limited to captured viewpoints</a:t>
                      </a:r>
                    </a:p>
                  </a:txBody>
                  <a:tcPr marL="114300" marR="114300" marT="47625" marB="47625"/>
                </a:tc>
              </a:tr>
              <a:tr h="727710">
                <a:tc>
                  <a:txBody>
                    <a:bodyPr/>
                    <a:lstStyle/>
                    <a:p>
                      <a:r>
                        <a:rPr sz="1725">
                          <a:solidFill>
                            <a:srgbClr val="151515"/>
                          </a:solidFill>
                          <a:latin typeface="Arial"/>
                          <a:ea typeface="Arial"/>
                          <a:cs typeface="Arial"/>
                        </a:rPr>
                        <a:t>CSS 3D transforms</a:t>
                      </a:r>
                    </a:p>
                  </a:txBody>
                  <a:tcPr marL="114300" marR="114300" marT="47625" marB="47625"/>
                </a:tc>
                <a:tc>
                  <a:txBody>
                    <a:bodyPr/>
                    <a:lstStyle/>
                    <a:p>
                      <a:r>
                        <a:rPr sz="1725">
                          <a:solidFill>
                            <a:srgbClr val="151515"/>
                          </a:solidFill>
                          <a:latin typeface="Arial"/>
                          <a:ea typeface="Arial"/>
                          <a:cs typeface="Arial"/>
                        </a:rPr>
                        <a:t>Tilt or rotate page elements</a:t>
                      </a:r>
                    </a:p>
                  </a:txBody>
                  <a:tcPr marL="114300" marR="114300" marT="47625" marB="47625"/>
                </a:tc>
                <a:tc>
                  <a:txBody>
                    <a:bodyPr/>
                    <a:lstStyle/>
                    <a:p>
                      <a:r>
                        <a:rPr sz="1725">
                          <a:solidFill>
                            <a:srgbClr val="151515"/>
                          </a:solidFill>
                          <a:latin typeface="Arial"/>
                          <a:ea typeface="Arial"/>
                          <a:cs typeface="Arial"/>
                        </a:rPr>
                        <a:t>No general mesh-based product rendering</a:t>
                      </a:r>
                    </a:p>
                  </a:txBody>
                  <a:tcPr marL="114300" marR="114300" marT="47625" marB="47625"/>
                </a:tc>
              </a:tr>
              <a:tr h="727710">
                <a:tc>
                  <a:txBody>
                    <a:bodyPr/>
                    <a:lstStyle/>
                    <a:p>
                      <a:r>
                        <a:rPr sz="1725">
                          <a:solidFill>
                            <a:srgbClr val="151515"/>
                          </a:solidFill>
                          <a:latin typeface="Arial"/>
                          <a:ea typeface="Arial"/>
                          <a:cs typeface="Arial"/>
                        </a:rPr>
                        <a:t>WebXR</a:t>
                      </a:r>
                    </a:p>
                  </a:txBody>
                  <a:tcPr marL="114300" marR="114300" marT="47625" marB="47625"/>
                </a:tc>
                <a:tc>
                  <a:txBody>
                    <a:bodyPr/>
                    <a:lstStyle/>
                    <a:p>
                      <a:r>
                        <a:rPr sz="1725">
                          <a:solidFill>
                            <a:srgbClr val="151515"/>
                          </a:solidFill>
                          <a:latin typeface="Arial"/>
                          <a:ea typeface="Arial"/>
                          <a:cs typeface="Arial"/>
                        </a:rPr>
                        <a:t>Immersive AR or VR on supported devices</a:t>
                      </a:r>
                    </a:p>
                  </a:txBody>
                  <a:tcPr marL="114300" marR="114300" marT="47625" marB="47625"/>
                </a:tc>
                <a:tc>
                  <a:txBody>
                    <a:bodyPr/>
                    <a:lstStyle/>
                    <a:p>
                      <a:r>
                        <a:rPr sz="1725">
                          <a:solidFill>
                            <a:srgbClr val="151515"/>
                          </a:solidFill>
                          <a:latin typeface="Arial"/>
                          <a:ea typeface="Arial"/>
                          <a:cs typeface="Arial"/>
                        </a:rPr>
                        <a:t>Extra compatibility and interaction testing</a:t>
                      </a:r>
                    </a:p>
                  </a:txBody>
                  <a:tcPr marL="114300" marR="114300" marT="47625" marB="47625"/>
                </a:tc>
              </a:tr>
            </a:tbl>
          </a:graphicData>
        </a:graphic>
      </p:graphicFrame>
    </p:spTree>
    <p:extLst>
      <p:ext uri="{BB962C8B-B14F-4D97-AF65-F5344CB8AC3E}">
        <p14:creationId xmlns:p14="http://schemas.microsoft.com/office/powerpoint/2010/main" val="35422618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F209CA9-9040-4F99-B400-48FAE5E3A25D}"/>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LIGHTMETRICS   /   3D EXPLORATION</a:t>
            </a:r>
          </a:p>
        </p:txBody>
      </p:sp>
      <p:sp>
        <p:nvSpPr>
          <p:cNvPr id="2" name="">
            <a:extLst xmlns:a="http://schemas.openxmlformats.org/drawingml/2006/main">
              <a:ext uri="{FF2B5EF4-FFF2-40B4-BE49-F238E27FC236}">
                <a16:creationId xmlns:a16="http://schemas.microsoft.com/office/drawing/2014/main" id="{16112E87-D048-4427-9FC8-3708F9954840}"/>
              </a:ext>
            </a:extLst>
          </p:cNvPr>
          <p:cNvSpPr>
            <a:spLocks xmlns:a="http://schemas.openxmlformats.org/drawingml/2006/main" noGrp="1"/>
          </p:cNvSpPr>
          <p:nvPr/>
        </p:nvSpPr>
        <p:spPr>
          <a:xfrm xmlns:a="http://schemas.openxmlformats.org/drawingml/2006/main">
            <a:off x="11049000" y="2857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9B7AD5CE-3079-4359-96F0-D8AA7CE34436}"/>
              </a:ext>
            </a:extLst>
          </p:cNvPr>
          <p:cNvSpPr>
            <a:spLocks xmlns:a="http://schemas.openxmlformats.org/drawingml/2006/main" noGrp="1"/>
          </p:cNvSpPr>
          <p:nvPr/>
        </p:nvSpPr>
        <p:spPr>
          <a:xfrm xmlns:a="http://schemas.openxmlformats.org/drawingml/2006/main">
            <a:off x="533400" y="89535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151515"/>
                </a:solidFill>
                <a:latin typeface="Arial"/>
                <a:ea typeface="Arial"/>
                <a:cs typeface="Arial"/>
              </a:defRPr>
            </a:defPPr>
          </a:lstStyle>
          <a:p xmlns:a="http://schemas.openxmlformats.org/drawingml/2006/main">
            <a:pPr>
              <a:defRPr sz="3300" b="0">
                <a:solidFill>
                  <a:srgbClr val="151515"/>
                </a:solidFill>
                <a:latin typeface="Arial"/>
                <a:ea typeface="Arial"/>
                <a:cs typeface="Arial"/>
              </a:defRPr>
            </a:pPr>
            <a:r>
              <a:rPr sz="3300" b="0">
                <a:solidFill>
                  <a:srgbClr val="151515"/>
                </a:solidFill>
                <a:latin typeface="Arial"/>
                <a:ea typeface="Arial"/>
                <a:cs typeface="Arial"/>
              </a:rPr>
              <a:t>Choosing by project</a:t>
            </a:r>
          </a:p>
        </p:txBody>
      </p:sp>
      <p:sp>
        <p:nvSpPr>
          <p:cNvPr id="4" name="">
            <a:extLst xmlns:a="http://schemas.openxmlformats.org/drawingml/2006/main">
              <a:ext uri="{FF2B5EF4-FFF2-40B4-BE49-F238E27FC236}">
                <a16:creationId xmlns:a16="http://schemas.microsoft.com/office/drawing/2014/main" id="{584FA045-DFAB-4D59-A0A4-9D2D13A4AFBA}"/>
              </a:ext>
            </a:extLst>
          </p:cNvPr>
          <p:cNvSpPr>
            <a:spLocks xmlns:a="http://schemas.openxmlformats.org/drawingml/2006/main" noGrp="1"/>
          </p:cNvSpPr>
          <p:nvPr/>
        </p:nvSpPr>
        <p:spPr>
          <a:xfrm xmlns:a="http://schemas.openxmlformats.org/drawingml/2006/main">
            <a:off x="552450" y="16764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6666"/>
                </a:solidFill>
                <a:latin typeface="Arial"/>
                <a:ea typeface="Arial"/>
                <a:cs typeface="Arial"/>
              </a:defRPr>
            </a:defPPr>
          </a:lstStyle>
          <a:p xmlns:a="http://schemas.openxmlformats.org/drawingml/2006/main">
            <a:pPr>
              <a:defRPr sz="1875" b="0">
                <a:solidFill>
                  <a:srgbClr val="666666"/>
                </a:solidFill>
                <a:latin typeface="Arial"/>
                <a:ea typeface="Arial"/>
                <a:cs typeface="Arial"/>
              </a:defRPr>
            </a:pPr>
            <a:r>
              <a:rPr sz="1875" b="0">
                <a:solidFill>
                  <a:srgbClr val="666666"/>
                </a:solidFill>
                <a:latin typeface="Arial"/>
                <a:ea typeface="Arial"/>
                <a:cs typeface="Arial"/>
              </a:rPr>
              <a:t>These are recommended starting points, not universal winners.</a:t>
            </a:r>
          </a:p>
        </p:txBody>
      </p:sp>
      <p:graphicFrame>
        <p:nvGraphicFramePr>
          <p:cNvPr id="5" name="">
            <a:extLst xmlns:a="http://schemas.openxmlformats.org/drawingml/2006/main">
              <a:ext uri="{FF2B5EF4-FFF2-40B4-BE49-F238E27FC236}">
                <a16:creationId xmlns:a16="http://schemas.microsoft.com/office/drawing/2014/main" id="{7BBF4A25-C479-48E7-B8EA-9745CB26EB84}"/>
              </a:ext>
            </a:extLst>
          </p:cNvPr>
          <p:cNvGraphicFramePr/>
          <p:nvPr/>
        </p:nvGraphicFramePr>
        <p:xfrm>
          <a:off xmlns:a="http://schemas.openxmlformats.org/drawingml/2006/main" x="552450" y="2562225"/>
          <a:ext xmlns:a="http://schemas.openxmlformats.org/drawingml/2006/main" cx="11087100" cy="3638550"/>
        </p:xfrm>
        <a:graphic xmlns:a="http://schemas.openxmlformats.org/drawingml/2006/main">
          <a:graphicData uri="http://schemas.openxmlformats.org/drawingml/2006/table">
            <a:tbl>
              <a:tblPr/>
              <a:tblGrid>
                <a:gridCol w="3095625"/>
                <a:gridCol w="3905250"/>
                <a:gridCol w="4086225"/>
              </a:tblGrid>
              <a:tr h="519793">
                <a:tc>
                  <a:txBody>
                    <a:bodyPr/>
                    <a:lstStyle/>
                    <a:p>
                      <a:r>
                        <a:rPr sz="1725" b="1">
                          <a:solidFill>
                            <a:srgbClr val="FFFFFF"/>
                          </a:solidFill>
                          <a:latin typeface="Arial"/>
                          <a:ea typeface="Arial"/>
                          <a:cs typeface="Arial"/>
                        </a:rPr>
                        <a:t>Project</a:t>
                      </a:r>
                    </a:p>
                  </a:txBody>
                  <a:tcPr marL="114300" marR="114300" marT="47625" marB="47625">
                    <a:solidFill>
                      <a:srgbClr val="151515"/>
                    </a:solidFill>
                  </a:tcPr>
                </a:tc>
                <a:tc>
                  <a:txBody>
                    <a:bodyPr/>
                    <a:lstStyle/>
                    <a:p>
                      <a:r>
                        <a:rPr sz="1725" b="1">
                          <a:solidFill>
                            <a:srgbClr val="FFFFFF"/>
                          </a:solidFill>
                          <a:latin typeface="Arial"/>
                          <a:ea typeface="Arial"/>
                          <a:cs typeface="Arial"/>
                        </a:rPr>
                        <a:t>Starting point</a:t>
                      </a:r>
                    </a:p>
                  </a:txBody>
                  <a:tcPr marL="114300" marR="114300" marT="47625" marB="47625">
                    <a:solidFill>
                      <a:srgbClr val="151515"/>
                    </a:solidFill>
                  </a:tcPr>
                </a:tc>
                <a:tc>
                  <a:txBody>
                    <a:bodyPr/>
                    <a:lstStyle/>
                    <a:p>
                      <a:r>
                        <a:rPr sz="1725" b="1">
                          <a:solidFill>
                            <a:srgbClr val="FFFFFF"/>
                          </a:solidFill>
                          <a:latin typeface="Arial"/>
                          <a:ea typeface="Arial"/>
                          <a:cs typeface="Arial"/>
                        </a:rPr>
                        <a:t>Reason</a:t>
                      </a:r>
                    </a:p>
                  </a:txBody>
                  <a:tcPr marL="114300" marR="114300" marT="47625" marB="47625">
                    <a:solidFill>
                      <a:srgbClr val="151515"/>
                    </a:solidFill>
                  </a:tcPr>
                </a:tc>
              </a:tr>
              <a:tr h="519793">
                <a:tc>
                  <a:txBody>
                    <a:bodyPr/>
                    <a:lstStyle/>
                    <a:p>
                      <a:r>
                        <a:rPr sz="1725">
                          <a:solidFill>
                            <a:srgbClr val="151515"/>
                          </a:solidFill>
                          <a:latin typeface="Arial"/>
                          <a:ea typeface="Arial"/>
                          <a:cs typeface="Arial"/>
                        </a:rPr>
                        <a:t>Simple product viewer</a:t>
                      </a:r>
                    </a:p>
                  </a:txBody>
                  <a:tcPr marL="114300" marR="114300" marT="47625" marB="47625"/>
                </a:tc>
                <a:tc>
                  <a:txBody>
                    <a:bodyPr/>
                    <a:lstStyle/>
                    <a:p>
                      <a:r>
                        <a:rPr sz="1725">
                          <a:solidFill>
                            <a:srgbClr val="151515"/>
                          </a:solidFill>
                          <a:latin typeface="Arial"/>
                          <a:ea typeface="Arial"/>
                          <a:cs typeface="Arial"/>
                        </a:rPr>
                        <a:t>model-viewer</a:t>
                      </a:r>
                    </a:p>
                  </a:txBody>
                  <a:tcPr marL="114300" marR="114300" marT="47625" marB="47625"/>
                </a:tc>
                <a:tc>
                  <a:txBody>
                    <a:bodyPr/>
                    <a:lstStyle/>
                    <a:p>
                      <a:r>
                        <a:rPr sz="1725">
                          <a:solidFill>
                            <a:srgbClr val="151515"/>
                          </a:solidFill>
                          <a:latin typeface="Arial"/>
                          <a:ea typeface="Arial"/>
                          <a:cs typeface="Arial"/>
                        </a:rPr>
                        <a:t>Small integration surface</a:t>
                      </a:r>
                    </a:p>
                  </a:txBody>
                  <a:tcPr marL="114300" marR="114300" marT="47625" marB="47625"/>
                </a:tc>
              </a:tr>
              <a:tr h="519793">
                <a:tc>
                  <a:txBody>
                    <a:bodyPr/>
                    <a:lstStyle/>
                    <a:p>
                      <a:r>
                        <a:rPr sz="1725">
                          <a:solidFill>
                            <a:srgbClr val="151515"/>
                          </a:solidFill>
                          <a:latin typeface="Arial"/>
                          <a:ea typeface="Arial"/>
                          <a:cs typeface="Arial"/>
                        </a:rPr>
                        <a:t>Custom product viewer</a:t>
                      </a:r>
                    </a:p>
                  </a:txBody>
                  <a:tcPr marL="114300" marR="114300" marT="47625" marB="47625"/>
                </a:tc>
                <a:tc>
                  <a:txBody>
                    <a:bodyPr/>
                    <a:lstStyle/>
                    <a:p>
                      <a:r>
                        <a:rPr sz="1725">
                          <a:solidFill>
                            <a:srgbClr val="151515"/>
                          </a:solidFill>
                          <a:latin typeface="Arial"/>
                          <a:ea typeface="Arial"/>
                          <a:cs typeface="Arial"/>
                        </a:rPr>
                        <a:t>Three.js</a:t>
                      </a:r>
                    </a:p>
                  </a:txBody>
                  <a:tcPr marL="114300" marR="114300" marT="47625" marB="47625"/>
                </a:tc>
                <a:tc>
                  <a:txBody>
                    <a:bodyPr/>
                    <a:lstStyle/>
                    <a:p>
                      <a:r>
                        <a:rPr sz="1725">
                          <a:solidFill>
                            <a:srgbClr val="151515"/>
                          </a:solidFill>
                          <a:latin typeface="Arial"/>
                          <a:ea typeface="Arial"/>
                          <a:cs typeface="Arial"/>
                        </a:rPr>
                        <a:t>Direct control over the experience</a:t>
                      </a:r>
                    </a:p>
                  </a:txBody>
                  <a:tcPr marL="114300" marR="114300" marT="47625" marB="47625"/>
                </a:tc>
              </a:tr>
              <a:tr h="519793">
                <a:tc>
                  <a:txBody>
                    <a:bodyPr/>
                    <a:lstStyle/>
                    <a:p>
                      <a:r>
                        <a:rPr sz="1725">
                          <a:solidFill>
                            <a:srgbClr val="151515"/>
                          </a:solidFill>
                          <a:latin typeface="Arial"/>
                          <a:ea typeface="Arial"/>
                          <a:cs typeface="Arial"/>
                        </a:rPr>
                        <a:t>React configurator</a:t>
                      </a:r>
                    </a:p>
                  </a:txBody>
                  <a:tcPr marL="114300" marR="114300" marT="47625" marB="47625"/>
                </a:tc>
                <a:tc>
                  <a:txBody>
                    <a:bodyPr/>
                    <a:lstStyle/>
                    <a:p>
                      <a:r>
                        <a:rPr sz="1725">
                          <a:solidFill>
                            <a:srgbClr val="151515"/>
                          </a:solidFill>
                          <a:latin typeface="Arial"/>
                          <a:ea typeface="Arial"/>
                          <a:cs typeface="Arial"/>
                        </a:rPr>
                        <a:t>React Three Fiber</a:t>
                      </a:r>
                    </a:p>
                  </a:txBody>
                  <a:tcPr marL="114300" marR="114300" marT="47625" marB="47625"/>
                </a:tc>
                <a:tc>
                  <a:txBody>
                    <a:bodyPr/>
                    <a:lstStyle/>
                    <a:p>
                      <a:r>
                        <a:rPr sz="1725">
                          <a:solidFill>
                            <a:srgbClr val="151515"/>
                          </a:solidFill>
                          <a:latin typeface="Arial"/>
                          <a:ea typeface="Arial"/>
                          <a:cs typeface="Arial"/>
                        </a:rPr>
                        <a:t>Scene behavior follows app state</a:t>
                      </a:r>
                    </a:p>
                  </a:txBody>
                  <a:tcPr marL="114300" marR="114300" marT="47625" marB="47625"/>
                </a:tc>
              </a:tr>
              <a:tr h="519793">
                <a:tc>
                  <a:txBody>
                    <a:bodyPr/>
                    <a:lstStyle/>
                    <a:p>
                      <a:r>
                        <a:rPr sz="1725">
                          <a:solidFill>
                            <a:srgbClr val="151515"/>
                          </a:solidFill>
                          <a:latin typeface="Arial"/>
                          <a:ea typeface="Arial"/>
                          <a:cs typeface="Arial"/>
                        </a:rPr>
                        <a:t>Interactive hero</a:t>
                      </a:r>
                    </a:p>
                  </a:txBody>
                  <a:tcPr marL="114300" marR="114300" marT="47625" marB="47625"/>
                </a:tc>
                <a:tc>
                  <a:txBody>
                    <a:bodyPr/>
                    <a:lstStyle/>
                    <a:p>
                      <a:r>
                        <a:rPr sz="1725">
                          <a:solidFill>
                            <a:srgbClr val="151515"/>
                          </a:solidFill>
                          <a:latin typeface="Arial"/>
                          <a:ea typeface="Arial"/>
                          <a:cs typeface="Arial"/>
                        </a:rPr>
                        <a:t>Spline</a:t>
                      </a:r>
                    </a:p>
                  </a:txBody>
                  <a:tcPr marL="114300" marR="114300" marT="47625" marB="47625"/>
                </a:tc>
                <a:tc>
                  <a:txBody>
                    <a:bodyPr/>
                    <a:lstStyle/>
                    <a:p>
                      <a:r>
                        <a:rPr sz="1725">
                          <a:solidFill>
                            <a:srgbClr val="151515"/>
                          </a:solidFill>
                          <a:latin typeface="Arial"/>
                          <a:ea typeface="Arial"/>
                          <a:cs typeface="Arial"/>
                        </a:rPr>
                        <a:t>Visual iteration and web embeds</a:t>
                      </a:r>
                    </a:p>
                  </a:txBody>
                  <a:tcPr marL="114300" marR="114300" marT="47625" marB="47625"/>
                </a:tc>
              </a:tr>
              <a:tr h="519793">
                <a:tc>
                  <a:txBody>
                    <a:bodyPr/>
                    <a:lstStyle/>
                    <a:p>
                      <a:r>
                        <a:rPr sz="1725">
                          <a:solidFill>
                            <a:srgbClr val="151515"/>
                          </a:solidFill>
                          <a:latin typeface="Arial"/>
                          <a:ea typeface="Arial"/>
                          <a:cs typeface="Arial"/>
                        </a:rPr>
                        <a:t>Room or simulation</a:t>
                      </a:r>
                    </a:p>
                  </a:txBody>
                  <a:tcPr marL="114300" marR="114300" marT="47625" marB="47625"/>
                </a:tc>
                <a:tc>
                  <a:txBody>
                    <a:bodyPr/>
                    <a:lstStyle/>
                    <a:p>
                      <a:r>
                        <a:rPr sz="1725">
                          <a:solidFill>
                            <a:srgbClr val="151515"/>
                          </a:solidFill>
                          <a:latin typeface="Arial"/>
                          <a:ea typeface="Arial"/>
                          <a:cs typeface="Arial"/>
                        </a:rPr>
                        <a:t>Babylon.js / PlayCanvas</a:t>
                      </a:r>
                    </a:p>
                  </a:txBody>
                  <a:tcPr marL="114300" marR="114300" marT="47625" marB="47625"/>
                </a:tc>
                <a:tc>
                  <a:txBody>
                    <a:bodyPr/>
                    <a:lstStyle/>
                    <a:p>
                      <a:r>
                        <a:rPr sz="1725">
                          <a:solidFill>
                            <a:srgbClr val="151515"/>
                          </a:solidFill>
                          <a:latin typeface="Arial"/>
                          <a:ea typeface="Arial"/>
                          <a:cs typeface="Arial"/>
                        </a:rPr>
                        <a:t>Broader application workflows</a:t>
                      </a:r>
                    </a:p>
                  </a:txBody>
                  <a:tcPr marL="114300" marR="114300" marT="47625" marB="47625"/>
                </a:tc>
              </a:tr>
              <a:tr h="519793">
                <a:tc>
                  <a:txBody>
                    <a:bodyPr/>
                    <a:lstStyle/>
                    <a:p>
                      <a:r>
                        <a:rPr sz="1725">
                          <a:solidFill>
                            <a:srgbClr val="151515"/>
                          </a:solidFill>
                          <a:latin typeface="Arial"/>
                          <a:ea typeface="Arial"/>
                          <a:cs typeface="Arial"/>
                        </a:rPr>
                        <a:t>Cinematic sequence</a:t>
                      </a:r>
                    </a:p>
                  </a:txBody>
                  <a:tcPr marL="114300" marR="114300" marT="47625" marB="47625"/>
                </a:tc>
                <a:tc>
                  <a:txBody>
                    <a:bodyPr/>
                    <a:lstStyle/>
                    <a:p>
                      <a:r>
                        <a:rPr sz="1725">
                          <a:solidFill>
                            <a:srgbClr val="151515"/>
                          </a:solidFill>
                          <a:latin typeface="Arial"/>
                          <a:ea typeface="Arial"/>
                          <a:cs typeface="Arial"/>
                        </a:rPr>
                        <a:t>Rendered video</a:t>
                      </a:r>
                    </a:p>
                  </a:txBody>
                  <a:tcPr marL="114300" marR="114300" marT="47625" marB="47625"/>
                </a:tc>
                <a:tc>
                  <a:txBody>
                    <a:bodyPr/>
                    <a:lstStyle/>
                    <a:p>
                      <a:r>
                        <a:rPr sz="1725">
                          <a:solidFill>
                            <a:srgbClr val="151515"/>
                          </a:solidFill>
                          <a:latin typeface="Arial"/>
                          <a:ea typeface="Arial"/>
                          <a:cs typeface="Arial"/>
                        </a:rPr>
                        <a:t>Predictable art direction</a:t>
                      </a:r>
                    </a:p>
                  </a:txBody>
                  <a:tcPr marL="114300" marR="114300" marT="47625" marB="47625"/>
                </a:tc>
              </a:tr>
            </a:tbl>
          </a:graphicData>
        </a:graphic>
      </p:graphicFrame>
    </p:spTree>
    <p:extLst>
      <p:ext uri="{BB962C8B-B14F-4D97-AF65-F5344CB8AC3E}">
        <p14:creationId xmlns:p14="http://schemas.microsoft.com/office/powerpoint/2010/main" val="10233940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3CD6361-49C1-49D5-B38E-841894ADDDF6}"/>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LIGHTMETRICS   /   3D EXPLORATION</a:t>
            </a:r>
          </a:p>
        </p:txBody>
      </p:sp>
      <p:sp>
        <p:nvSpPr>
          <p:cNvPr id="2" name="">
            <a:extLst xmlns:a="http://schemas.openxmlformats.org/drawingml/2006/main">
              <a:ext uri="{FF2B5EF4-FFF2-40B4-BE49-F238E27FC236}">
                <a16:creationId xmlns:a16="http://schemas.microsoft.com/office/drawing/2014/main" id="{9D37A6A7-C9CC-4C0F-861D-93AA9EBCE737}"/>
              </a:ext>
            </a:extLst>
          </p:cNvPr>
          <p:cNvSpPr>
            <a:spLocks xmlns:a="http://schemas.openxmlformats.org/drawingml/2006/main" noGrp="1"/>
          </p:cNvSpPr>
          <p:nvPr/>
        </p:nvSpPr>
        <p:spPr>
          <a:xfrm xmlns:a="http://schemas.openxmlformats.org/drawingml/2006/main">
            <a:off x="11049000" y="2857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19</a:t>
            </a:r>
          </a:p>
        </p:txBody>
      </p:sp>
      <p:sp>
        <p:nvSpPr>
          <p:cNvPr id="3" name="">
            <a:extLst xmlns:a="http://schemas.openxmlformats.org/drawingml/2006/main">
              <a:ext uri="{FF2B5EF4-FFF2-40B4-BE49-F238E27FC236}">
                <a16:creationId xmlns:a16="http://schemas.microsoft.com/office/drawing/2014/main" id="{EA448964-7B17-4177-893F-5CF8A9A5E5C5}"/>
              </a:ext>
            </a:extLst>
          </p:cNvPr>
          <p:cNvSpPr>
            <a:spLocks xmlns:a="http://schemas.openxmlformats.org/drawingml/2006/main" noGrp="1"/>
          </p:cNvSpPr>
          <p:nvPr/>
        </p:nvSpPr>
        <p:spPr>
          <a:xfrm xmlns:a="http://schemas.openxmlformats.org/drawingml/2006/main">
            <a:off x="533400" y="89535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151515"/>
                </a:solidFill>
                <a:latin typeface="Arial"/>
                <a:ea typeface="Arial"/>
                <a:cs typeface="Arial"/>
              </a:defRPr>
            </a:defPPr>
          </a:lstStyle>
          <a:p xmlns:a="http://schemas.openxmlformats.org/drawingml/2006/main">
            <a:pPr>
              <a:defRPr sz="3300" b="0">
                <a:solidFill>
                  <a:srgbClr val="151515"/>
                </a:solidFill>
                <a:latin typeface="Arial"/>
                <a:ea typeface="Arial"/>
                <a:cs typeface="Arial"/>
              </a:defRPr>
            </a:pPr>
            <a:r>
              <a:rPr sz="3300" b="0">
                <a:solidFill>
                  <a:srgbClr val="151515"/>
                </a:solidFill>
                <a:latin typeface="Arial"/>
                <a:ea typeface="Arial"/>
                <a:cs typeface="Arial"/>
              </a:rPr>
              <a:t>Motion design for live interaction</a:t>
            </a:r>
          </a:p>
        </p:txBody>
      </p:sp>
      <p:sp>
        <p:nvSpPr>
          <p:cNvPr id="4" name="">
            <a:extLst xmlns:a="http://schemas.openxmlformats.org/drawingml/2006/main">
              <a:ext uri="{FF2B5EF4-FFF2-40B4-BE49-F238E27FC236}">
                <a16:creationId xmlns:a16="http://schemas.microsoft.com/office/drawing/2014/main" id="{F28D3A0B-3D98-455D-B765-57906C859FDC}"/>
              </a:ext>
            </a:extLst>
          </p:cNvPr>
          <p:cNvSpPr>
            <a:spLocks xmlns:a="http://schemas.openxmlformats.org/drawingml/2006/main" noGrp="1"/>
          </p:cNvSpPr>
          <p:nvPr/>
        </p:nvSpPr>
        <p:spPr>
          <a:xfrm xmlns:a="http://schemas.openxmlformats.org/drawingml/2006/main">
            <a:off x="552450" y="16764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6666"/>
                </a:solidFill>
                <a:latin typeface="Arial"/>
                <a:ea typeface="Arial"/>
                <a:cs typeface="Arial"/>
              </a:defRPr>
            </a:defPPr>
          </a:lstStyle>
          <a:p xmlns:a="http://schemas.openxmlformats.org/drawingml/2006/main">
            <a:pPr>
              <a:defRPr sz="1875" b="0">
                <a:solidFill>
                  <a:srgbClr val="666666"/>
                </a:solidFill>
                <a:latin typeface="Arial"/>
                <a:ea typeface="Arial"/>
                <a:cs typeface="Arial"/>
              </a:defRPr>
            </a:pPr>
            <a:r>
              <a:rPr sz="1875" b="0">
                <a:solidFill>
                  <a:srgbClr val="666666"/>
                </a:solidFill>
                <a:latin typeface="Arial"/>
                <a:ea typeface="Arial"/>
                <a:cs typeface="Arial"/>
              </a:rPr>
              <a:t>The visitor can interrupt, reverse or repeat the motion.</a:t>
            </a:r>
          </a:p>
        </p:txBody>
      </p:sp>
      <p:sp>
        <p:nvSpPr>
          <p:cNvPr id="5" name="">
            <a:extLst xmlns:a="http://schemas.openxmlformats.org/drawingml/2006/main">
              <a:ext uri="{FF2B5EF4-FFF2-40B4-BE49-F238E27FC236}">
                <a16:creationId xmlns:a16="http://schemas.microsoft.com/office/drawing/2014/main" id="{68FE7B52-3E51-459A-9AAA-F7E5F0D0963E}"/>
              </a:ext>
            </a:extLst>
          </p:cNvPr>
          <p:cNvSpPr>
            <a:spLocks xmlns:a="http://schemas.openxmlformats.org/drawingml/2006/main" noGrp="1"/>
          </p:cNvSpPr>
          <p:nvPr/>
        </p:nvSpPr>
        <p:spPr>
          <a:xfrm xmlns:a="http://schemas.openxmlformats.org/drawingml/2006/main">
            <a:off x="552450" y="2600325"/>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Authored animation</a:t>
            </a:r>
          </a:p>
        </p:txBody>
      </p:sp>
      <p:sp>
        <p:nvSpPr>
          <p:cNvPr id="6" name="">
            <a:extLst xmlns:a="http://schemas.openxmlformats.org/drawingml/2006/main">
              <a:ext uri="{FF2B5EF4-FFF2-40B4-BE49-F238E27FC236}">
                <a16:creationId xmlns:a16="http://schemas.microsoft.com/office/drawing/2014/main" id="{703081A2-33D7-443B-A317-4B0BB7D3AA78}"/>
              </a:ext>
            </a:extLst>
          </p:cNvPr>
          <p:cNvSpPr>
            <a:spLocks xmlns:a="http://schemas.openxmlformats.org/drawingml/2006/main" noGrp="1"/>
          </p:cNvSpPr>
          <p:nvPr/>
        </p:nvSpPr>
        <p:spPr>
          <a:xfrm xmlns:a="http://schemas.openxmlformats.org/drawingml/2006/main">
            <a:off x="3886200" y="2600325"/>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Create named clips such as OpenCover or RevealLens.</a:t>
            </a:r>
          </a:p>
        </p:txBody>
      </p:sp>
      <p:sp>
        <p:nvSpPr>
          <p:cNvPr id="7" name="">
            <a:extLst xmlns:a="http://schemas.openxmlformats.org/drawingml/2006/main">
              <a:ext uri="{FF2B5EF4-FFF2-40B4-BE49-F238E27FC236}">
                <a16:creationId xmlns:a16="http://schemas.microsoft.com/office/drawing/2014/main" id="{E406B73A-5C22-4F40-B6BC-8E1C1276274D}"/>
              </a:ext>
            </a:extLst>
          </p:cNvPr>
          <p:cNvSpPr>
            <a:spLocks xmlns:a="http://schemas.openxmlformats.org/drawingml/2006/main" noGrp="1"/>
          </p:cNvSpPr>
          <p:nvPr/>
        </p:nvSpPr>
        <p:spPr>
          <a:xfrm xmlns:a="http://schemas.openxmlformats.org/drawingml/2006/main">
            <a:off x="552450" y="3505200"/>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Procedural motion</a:t>
            </a:r>
          </a:p>
        </p:txBody>
      </p:sp>
      <p:sp>
        <p:nvSpPr>
          <p:cNvPr id="8" name="">
            <a:extLst xmlns:a="http://schemas.openxmlformats.org/drawingml/2006/main">
              <a:ext uri="{FF2B5EF4-FFF2-40B4-BE49-F238E27FC236}">
                <a16:creationId xmlns:a16="http://schemas.microsoft.com/office/drawing/2014/main" id="{E06FD934-914E-4BE1-B4A3-69EFCE148F71}"/>
              </a:ext>
            </a:extLst>
          </p:cNvPr>
          <p:cNvSpPr>
            <a:spLocks xmlns:a="http://schemas.openxmlformats.org/drawingml/2006/main" noGrp="1"/>
          </p:cNvSpPr>
          <p:nvPr/>
        </p:nvSpPr>
        <p:spPr>
          <a:xfrm xmlns:a="http://schemas.openxmlformats.org/drawingml/2006/main">
            <a:off x="3886200" y="3505200"/>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Use code for hover responses, camera moves or product rotation.</a:t>
            </a:r>
          </a:p>
        </p:txBody>
      </p:sp>
      <p:sp>
        <p:nvSpPr>
          <p:cNvPr id="9" name="">
            <a:extLst xmlns:a="http://schemas.openxmlformats.org/drawingml/2006/main">
              <a:ext uri="{FF2B5EF4-FFF2-40B4-BE49-F238E27FC236}">
                <a16:creationId xmlns:a16="http://schemas.microsoft.com/office/drawing/2014/main" id="{B0C5048F-B2D8-44BD-A3DC-42A9A0DC9189}"/>
              </a:ext>
            </a:extLst>
          </p:cNvPr>
          <p:cNvSpPr>
            <a:spLocks xmlns:a="http://schemas.openxmlformats.org/drawingml/2006/main" noGrp="1"/>
          </p:cNvSpPr>
          <p:nvPr/>
        </p:nvSpPr>
        <p:spPr>
          <a:xfrm xmlns:a="http://schemas.openxmlformats.org/drawingml/2006/main">
            <a:off x="552450" y="4410075"/>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Scroll behavior</a:t>
            </a:r>
          </a:p>
        </p:txBody>
      </p:sp>
      <p:sp>
        <p:nvSpPr>
          <p:cNvPr id="10" name="">
            <a:extLst xmlns:a="http://schemas.openxmlformats.org/drawingml/2006/main">
              <a:ext uri="{FF2B5EF4-FFF2-40B4-BE49-F238E27FC236}">
                <a16:creationId xmlns:a16="http://schemas.microsoft.com/office/drawing/2014/main" id="{1C94771E-0325-464C-BE15-D1CEA119DA40}"/>
              </a:ext>
            </a:extLst>
          </p:cNvPr>
          <p:cNvSpPr>
            <a:spLocks xmlns:a="http://schemas.openxmlformats.org/drawingml/2006/main" noGrp="1"/>
          </p:cNvSpPr>
          <p:nvPr/>
        </p:nvSpPr>
        <p:spPr>
          <a:xfrm xmlns:a="http://schemas.openxmlformats.org/drawingml/2006/main">
            <a:off x="3886200" y="4410075"/>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Map scroll progress to a camera or animation state when useful.</a:t>
            </a:r>
          </a:p>
        </p:txBody>
      </p:sp>
      <p:sp>
        <p:nvSpPr>
          <p:cNvPr id="11" name="">
            <a:extLst xmlns:a="http://schemas.openxmlformats.org/drawingml/2006/main">
              <a:ext uri="{FF2B5EF4-FFF2-40B4-BE49-F238E27FC236}">
                <a16:creationId xmlns:a16="http://schemas.microsoft.com/office/drawing/2014/main" id="{012F91FC-486F-4D5A-8801-7F72B33DEF7B}"/>
              </a:ext>
            </a:extLst>
          </p:cNvPr>
          <p:cNvSpPr>
            <a:spLocks xmlns:a="http://schemas.openxmlformats.org/drawingml/2006/main" noGrp="1"/>
          </p:cNvSpPr>
          <p:nvPr/>
        </p:nvSpPr>
        <p:spPr>
          <a:xfrm xmlns:a="http://schemas.openxmlformats.org/drawingml/2006/main">
            <a:off x="552450" y="5314950"/>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Accessible behavior</a:t>
            </a:r>
          </a:p>
        </p:txBody>
      </p:sp>
      <p:sp>
        <p:nvSpPr>
          <p:cNvPr id="12" name="">
            <a:extLst xmlns:a="http://schemas.openxmlformats.org/drawingml/2006/main">
              <a:ext uri="{FF2B5EF4-FFF2-40B4-BE49-F238E27FC236}">
                <a16:creationId xmlns:a16="http://schemas.microsoft.com/office/drawing/2014/main" id="{AC54385E-F9E3-4A8C-81AF-8F3D98642830}"/>
              </a:ext>
            </a:extLst>
          </p:cNvPr>
          <p:cNvSpPr>
            <a:spLocks xmlns:a="http://schemas.openxmlformats.org/drawingml/2006/main" noGrp="1"/>
          </p:cNvSpPr>
          <p:nvPr/>
        </p:nvSpPr>
        <p:spPr>
          <a:xfrm xmlns:a="http://schemas.openxmlformats.org/drawingml/2006/main">
            <a:off x="3886200" y="5314950"/>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Provide pause or reduced motion and preserve normal page navigation.</a:t>
            </a:r>
          </a:p>
        </p:txBody>
      </p:sp>
    </p:spTree>
    <p:extLst>
      <p:ext uri="{BB962C8B-B14F-4D97-AF65-F5344CB8AC3E}">
        <p14:creationId xmlns:p14="http://schemas.microsoft.com/office/powerpoint/2010/main" val="139981888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81664F4-B555-44EB-AA32-F4DF6F0943CF}"/>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LIGHTMETRICS   /   3D EXPLORATION</a:t>
            </a:r>
          </a:p>
        </p:txBody>
      </p:sp>
      <p:sp>
        <p:nvSpPr>
          <p:cNvPr id="2" name="">
            <a:extLst xmlns:a="http://schemas.openxmlformats.org/drawingml/2006/main">
              <a:ext uri="{FF2B5EF4-FFF2-40B4-BE49-F238E27FC236}">
                <a16:creationId xmlns:a16="http://schemas.microsoft.com/office/drawing/2014/main" id="{74CFBEFA-DF19-4A19-A8A6-4BE2AD47083F}"/>
              </a:ext>
            </a:extLst>
          </p:cNvPr>
          <p:cNvSpPr>
            <a:spLocks xmlns:a="http://schemas.openxmlformats.org/drawingml/2006/main" noGrp="1"/>
          </p:cNvSpPr>
          <p:nvPr/>
        </p:nvSpPr>
        <p:spPr>
          <a:xfrm xmlns:a="http://schemas.openxmlformats.org/drawingml/2006/main">
            <a:off x="11049000" y="2857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20</a:t>
            </a:r>
          </a:p>
        </p:txBody>
      </p:sp>
      <p:sp>
        <p:nvSpPr>
          <p:cNvPr id="3" name="">
            <a:extLst xmlns:a="http://schemas.openxmlformats.org/drawingml/2006/main">
              <a:ext uri="{FF2B5EF4-FFF2-40B4-BE49-F238E27FC236}">
                <a16:creationId xmlns:a16="http://schemas.microsoft.com/office/drawing/2014/main" id="{322987CF-E7CA-4901-90CA-37B5EBC7267B}"/>
              </a:ext>
            </a:extLst>
          </p:cNvPr>
          <p:cNvSpPr>
            <a:spLocks xmlns:a="http://schemas.openxmlformats.org/drawingml/2006/main" noGrp="1"/>
          </p:cNvSpPr>
          <p:nvPr/>
        </p:nvSpPr>
        <p:spPr>
          <a:xfrm xmlns:a="http://schemas.openxmlformats.org/drawingml/2006/main">
            <a:off x="533400" y="89535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151515"/>
                </a:solidFill>
                <a:latin typeface="Arial"/>
                <a:ea typeface="Arial"/>
                <a:cs typeface="Arial"/>
              </a:defRPr>
            </a:defPPr>
          </a:lstStyle>
          <a:p xmlns:a="http://schemas.openxmlformats.org/drawingml/2006/main">
            <a:pPr>
              <a:defRPr sz="3300" b="0">
                <a:solidFill>
                  <a:srgbClr val="151515"/>
                </a:solidFill>
                <a:latin typeface="Arial"/>
                <a:ea typeface="Arial"/>
                <a:cs typeface="Arial"/>
              </a:defRPr>
            </a:pPr>
            <a:r>
              <a:rPr sz="3300" b="0">
                <a:solidFill>
                  <a:srgbClr val="151515"/>
                </a:solidFill>
                <a:latin typeface="Arial"/>
                <a:ea typeface="Arial"/>
                <a:cs typeface="Arial"/>
              </a:rPr>
              <a:t>A clear handoff between disciplines</a:t>
            </a:r>
          </a:p>
        </p:txBody>
      </p:sp>
      <p:sp>
        <p:nvSpPr>
          <p:cNvPr id="4" name="">
            <a:extLst xmlns:a="http://schemas.openxmlformats.org/drawingml/2006/main">
              <a:ext uri="{FF2B5EF4-FFF2-40B4-BE49-F238E27FC236}">
                <a16:creationId xmlns:a16="http://schemas.microsoft.com/office/drawing/2014/main" id="{4BD07BD8-70F0-4F0F-B4AC-8FBBCD1B257A}"/>
              </a:ext>
            </a:extLst>
          </p:cNvPr>
          <p:cNvSpPr>
            <a:spLocks xmlns:a="http://schemas.openxmlformats.org/drawingml/2006/main" noGrp="1"/>
          </p:cNvSpPr>
          <p:nvPr/>
        </p:nvSpPr>
        <p:spPr>
          <a:xfrm xmlns:a="http://schemas.openxmlformats.org/drawingml/2006/main">
            <a:off x="552450" y="16764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6666"/>
                </a:solidFill>
                <a:latin typeface="Arial"/>
                <a:ea typeface="Arial"/>
                <a:cs typeface="Arial"/>
              </a:defRPr>
            </a:defPPr>
          </a:lstStyle>
          <a:p xmlns:a="http://schemas.openxmlformats.org/drawingml/2006/main">
            <a:pPr>
              <a:defRPr sz="1875" b="0">
                <a:solidFill>
                  <a:srgbClr val="666666"/>
                </a:solidFill>
                <a:latin typeface="Arial"/>
                <a:ea typeface="Arial"/>
                <a:cs typeface="Arial"/>
              </a:defRPr>
            </a:pPr>
            <a:r>
              <a:rPr sz="1875" b="0">
                <a:solidFill>
                  <a:srgbClr val="666666"/>
                </a:solidFill>
                <a:latin typeface="Arial"/>
                <a:ea typeface="Arial"/>
                <a:cs typeface="Arial"/>
              </a:rPr>
              <a:t>Everyone owns a different part of the final experience.</a:t>
            </a:r>
          </a:p>
        </p:txBody>
      </p:sp>
      <p:graphicFrame>
        <p:nvGraphicFramePr>
          <p:cNvPr id="5" name="">
            <a:extLst xmlns:a="http://schemas.openxmlformats.org/drawingml/2006/main">
              <a:ext uri="{FF2B5EF4-FFF2-40B4-BE49-F238E27FC236}">
                <a16:creationId xmlns:a16="http://schemas.microsoft.com/office/drawing/2014/main" id="{8561E669-FAA1-4DC1-84CC-E7AD1654E003}"/>
              </a:ext>
            </a:extLst>
          </p:cNvPr>
          <p:cNvGraphicFramePr/>
          <p:nvPr/>
        </p:nvGraphicFramePr>
        <p:xfrm>
          <a:off xmlns:a="http://schemas.openxmlformats.org/drawingml/2006/main" x="552450" y="2562225"/>
          <a:ext xmlns:a="http://schemas.openxmlformats.org/drawingml/2006/main" cx="11087100" cy="3638550"/>
        </p:xfrm>
        <a:graphic xmlns:a="http://schemas.openxmlformats.org/drawingml/2006/main">
          <a:graphicData uri="http://schemas.openxmlformats.org/drawingml/2006/table">
            <a:tbl>
              <a:tblPr/>
              <a:tblGrid>
                <a:gridCol w="3095625"/>
                <a:gridCol w="3905250"/>
                <a:gridCol w="4086225"/>
              </a:tblGrid>
              <a:tr h="727710">
                <a:tc>
                  <a:txBody>
                    <a:bodyPr/>
                    <a:lstStyle/>
                    <a:p>
                      <a:r>
                        <a:rPr sz="1725" b="1">
                          <a:solidFill>
                            <a:srgbClr val="FFFFFF"/>
                          </a:solidFill>
                          <a:latin typeface="Arial"/>
                          <a:ea typeface="Arial"/>
                          <a:cs typeface="Arial"/>
                        </a:rPr>
                        <a:t>Role</a:t>
                      </a:r>
                    </a:p>
                  </a:txBody>
                  <a:tcPr marL="114300" marR="114300" marT="47625" marB="47625">
                    <a:solidFill>
                      <a:srgbClr val="151515"/>
                    </a:solidFill>
                  </a:tcPr>
                </a:tc>
                <a:tc>
                  <a:txBody>
                    <a:bodyPr/>
                    <a:lstStyle/>
                    <a:p>
                      <a:r>
                        <a:rPr sz="1725" b="1">
                          <a:solidFill>
                            <a:srgbClr val="FFFFFF"/>
                          </a:solidFill>
                          <a:latin typeface="Arial"/>
                          <a:ea typeface="Arial"/>
                          <a:cs typeface="Arial"/>
                        </a:rPr>
                        <a:t>Ownership</a:t>
                      </a:r>
                    </a:p>
                  </a:txBody>
                  <a:tcPr marL="114300" marR="114300" marT="47625" marB="47625">
                    <a:solidFill>
                      <a:srgbClr val="151515"/>
                    </a:solidFill>
                  </a:tcPr>
                </a:tc>
                <a:tc>
                  <a:txBody>
                    <a:bodyPr/>
                    <a:lstStyle/>
                    <a:p>
                      <a:r>
                        <a:rPr sz="1725" b="1">
                          <a:solidFill>
                            <a:srgbClr val="FFFFFF"/>
                          </a:solidFill>
                          <a:latin typeface="Arial"/>
                          <a:ea typeface="Arial"/>
                          <a:cs typeface="Arial"/>
                        </a:rPr>
                        <a:t>Handoff</a:t>
                      </a:r>
                    </a:p>
                  </a:txBody>
                  <a:tcPr marL="114300" marR="114300" marT="47625" marB="47625">
                    <a:solidFill>
                      <a:srgbClr val="151515"/>
                    </a:solidFill>
                  </a:tcPr>
                </a:tc>
              </a:tr>
              <a:tr h="727710">
                <a:tc>
                  <a:txBody>
                    <a:bodyPr/>
                    <a:lstStyle/>
                    <a:p>
                      <a:r>
                        <a:rPr sz="1725">
                          <a:solidFill>
                            <a:srgbClr val="151515"/>
                          </a:solidFill>
                          <a:latin typeface="Arial"/>
                          <a:ea typeface="Arial"/>
                          <a:cs typeface="Arial"/>
                        </a:rPr>
                        <a:t>Designer</a:t>
                      </a:r>
                    </a:p>
                  </a:txBody>
                  <a:tcPr marL="114300" marR="114300" marT="47625" marB="47625"/>
                </a:tc>
                <a:tc>
                  <a:txBody>
                    <a:bodyPr/>
                    <a:lstStyle/>
                    <a:p>
                      <a:r>
                        <a:rPr sz="1725">
                          <a:solidFill>
                            <a:srgbClr val="151515"/>
                          </a:solidFill>
                          <a:latin typeface="Arial"/>
                          <a:ea typeface="Arial"/>
                          <a:cs typeface="Arial"/>
                        </a:rPr>
                        <a:t>Layout, initial view, controls and fallback states</a:t>
                      </a:r>
                    </a:p>
                  </a:txBody>
                  <a:tcPr marL="114300" marR="114300" marT="47625" marB="47625"/>
                </a:tc>
                <a:tc>
                  <a:txBody>
                    <a:bodyPr/>
                    <a:lstStyle/>
                    <a:p>
                      <a:r>
                        <a:rPr sz="1725">
                          <a:solidFill>
                            <a:srgbClr val="151515"/>
                          </a:solidFill>
                          <a:latin typeface="Arial"/>
                          <a:ea typeface="Arial"/>
                          <a:cs typeface="Arial"/>
                        </a:rPr>
                        <a:t>Interaction specification</a:t>
                      </a:r>
                    </a:p>
                  </a:txBody>
                  <a:tcPr marL="114300" marR="114300" marT="47625" marB="47625"/>
                </a:tc>
              </a:tr>
              <a:tr h="727710">
                <a:tc>
                  <a:txBody>
                    <a:bodyPr/>
                    <a:lstStyle/>
                    <a:p>
                      <a:r>
                        <a:rPr sz="1725">
                          <a:solidFill>
                            <a:srgbClr val="151515"/>
                          </a:solidFill>
                          <a:latin typeface="Arial"/>
                          <a:ea typeface="Arial"/>
                          <a:cs typeface="Arial"/>
                        </a:rPr>
                        <a:t>Motion designer</a:t>
                      </a:r>
                    </a:p>
                  </a:txBody>
                  <a:tcPr marL="114300" marR="114300" marT="47625" marB="47625"/>
                </a:tc>
                <a:tc>
                  <a:txBody>
                    <a:bodyPr/>
                    <a:lstStyle/>
                    <a:p>
                      <a:r>
                        <a:rPr sz="1725">
                          <a:solidFill>
                            <a:srgbClr val="151515"/>
                          </a:solidFill>
                          <a:latin typeface="Arial"/>
                          <a:ea typeface="Arial"/>
                          <a:cs typeface="Arial"/>
                        </a:rPr>
                        <a:t>Timing, transitions and interruption behavior</a:t>
                      </a:r>
                    </a:p>
                  </a:txBody>
                  <a:tcPr marL="114300" marR="114300" marT="47625" marB="47625"/>
                </a:tc>
                <a:tc>
                  <a:txBody>
                    <a:bodyPr/>
                    <a:lstStyle/>
                    <a:p>
                      <a:r>
                        <a:rPr sz="1725">
                          <a:solidFill>
                            <a:srgbClr val="151515"/>
                          </a:solidFill>
                          <a:latin typeface="Arial"/>
                          <a:ea typeface="Arial"/>
                          <a:cs typeface="Arial"/>
                        </a:rPr>
                        <a:t>Motion reference + state notes</a:t>
                      </a:r>
                    </a:p>
                  </a:txBody>
                  <a:tcPr marL="114300" marR="114300" marT="47625" marB="47625"/>
                </a:tc>
              </a:tr>
              <a:tr h="727710">
                <a:tc>
                  <a:txBody>
                    <a:bodyPr/>
                    <a:lstStyle/>
                    <a:p>
                      <a:r>
                        <a:rPr sz="1725">
                          <a:solidFill>
                            <a:srgbClr val="151515"/>
                          </a:solidFill>
                          <a:latin typeface="Arial"/>
                          <a:ea typeface="Arial"/>
                          <a:cs typeface="Arial"/>
                        </a:rPr>
                        <a:t>3D artist</a:t>
                      </a:r>
                    </a:p>
                  </a:txBody>
                  <a:tcPr marL="114300" marR="114300" marT="47625" marB="47625"/>
                </a:tc>
                <a:tc>
                  <a:txBody>
                    <a:bodyPr/>
                    <a:lstStyle/>
                    <a:p>
                      <a:r>
                        <a:rPr sz="1725">
                          <a:solidFill>
                            <a:srgbClr val="151515"/>
                          </a:solidFill>
                          <a:latin typeface="Arial"/>
                          <a:ea typeface="Arial"/>
                          <a:cs typeface="Arial"/>
                        </a:rPr>
                        <a:t>Geometry, materials, pivots and animation clips</a:t>
                      </a:r>
                    </a:p>
                  </a:txBody>
                  <a:tcPr marL="114300" marR="114300" marT="47625" marB="47625"/>
                </a:tc>
                <a:tc>
                  <a:txBody>
                    <a:bodyPr/>
                    <a:lstStyle/>
                    <a:p>
                      <a:r>
                        <a:rPr sz="1725">
                          <a:solidFill>
                            <a:srgbClr val="151515"/>
                          </a:solidFill>
                          <a:latin typeface="Arial"/>
                          <a:ea typeface="Arial"/>
                          <a:cs typeface="Arial"/>
                        </a:rPr>
                        <a:t>Source scene + approved GLB</a:t>
                      </a:r>
                    </a:p>
                  </a:txBody>
                  <a:tcPr marL="114300" marR="114300" marT="47625" marB="47625"/>
                </a:tc>
              </a:tr>
              <a:tr h="727710">
                <a:tc>
                  <a:txBody>
                    <a:bodyPr/>
                    <a:lstStyle/>
                    <a:p>
                      <a:r>
                        <a:rPr sz="1725">
                          <a:solidFill>
                            <a:srgbClr val="151515"/>
                          </a:solidFill>
                          <a:latin typeface="Arial"/>
                          <a:ea typeface="Arial"/>
                          <a:cs typeface="Arial"/>
                        </a:rPr>
                        <a:t>Developer</a:t>
                      </a:r>
                    </a:p>
                  </a:txBody>
                  <a:tcPr marL="114300" marR="114300" marT="47625" marB="47625"/>
                </a:tc>
                <a:tc>
                  <a:txBody>
                    <a:bodyPr/>
                    <a:lstStyle/>
                    <a:p>
                      <a:r>
                        <a:rPr sz="1725">
                          <a:solidFill>
                            <a:srgbClr val="151515"/>
                          </a:solidFill>
                          <a:latin typeface="Arial"/>
                          <a:ea typeface="Arial"/>
                          <a:cs typeface="Arial"/>
                        </a:rPr>
                        <a:t>Loading, interaction, accessibility and deployment</a:t>
                      </a:r>
                    </a:p>
                  </a:txBody>
                  <a:tcPr marL="114300" marR="114300" marT="47625" marB="47625"/>
                </a:tc>
                <a:tc>
                  <a:txBody>
                    <a:bodyPr/>
                    <a:lstStyle/>
                    <a:p>
                      <a:r>
                        <a:rPr sz="1725">
                          <a:solidFill>
                            <a:srgbClr val="151515"/>
                          </a:solidFill>
                          <a:latin typeface="Arial"/>
                          <a:ea typeface="Arial"/>
                          <a:cs typeface="Arial"/>
                        </a:rPr>
                        <a:t>Tested website implementation</a:t>
                      </a:r>
                    </a:p>
                  </a:txBody>
                  <a:tcPr marL="114300" marR="114300" marT="47625" marB="47625"/>
                </a:tc>
              </a:tr>
            </a:tbl>
          </a:graphicData>
        </a:graphic>
      </p:graphicFrame>
    </p:spTree>
    <p:extLst>
      <p:ext uri="{BB962C8B-B14F-4D97-AF65-F5344CB8AC3E}">
        <p14:creationId xmlns:p14="http://schemas.microsoft.com/office/powerpoint/2010/main" val="137526477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8512E63-D08E-4565-B5BC-D340A722AD20}"/>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LIGHTMETRICS   /   3D EXPLORATION</a:t>
            </a:r>
          </a:p>
        </p:txBody>
      </p:sp>
      <p:sp>
        <p:nvSpPr>
          <p:cNvPr id="2" name="">
            <a:extLst xmlns:a="http://schemas.openxmlformats.org/drawingml/2006/main">
              <a:ext uri="{FF2B5EF4-FFF2-40B4-BE49-F238E27FC236}">
                <a16:creationId xmlns:a16="http://schemas.microsoft.com/office/drawing/2014/main" id="{10F6A193-10CE-4783-80D7-A037423CB65D}"/>
              </a:ext>
            </a:extLst>
          </p:cNvPr>
          <p:cNvSpPr>
            <a:spLocks xmlns:a="http://schemas.openxmlformats.org/drawingml/2006/main" noGrp="1"/>
          </p:cNvSpPr>
          <p:nvPr/>
        </p:nvSpPr>
        <p:spPr>
          <a:xfrm xmlns:a="http://schemas.openxmlformats.org/drawingml/2006/main">
            <a:off x="11049000" y="2857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21</a:t>
            </a:r>
          </a:p>
        </p:txBody>
      </p:sp>
      <p:sp>
        <p:nvSpPr>
          <p:cNvPr id="3" name="">
            <a:extLst xmlns:a="http://schemas.openxmlformats.org/drawingml/2006/main">
              <a:ext uri="{FF2B5EF4-FFF2-40B4-BE49-F238E27FC236}">
                <a16:creationId xmlns:a16="http://schemas.microsoft.com/office/drawing/2014/main" id="{9ADBFFB7-023A-4EAA-81F6-6D985C8F44A1}"/>
              </a:ext>
            </a:extLst>
          </p:cNvPr>
          <p:cNvSpPr>
            <a:spLocks xmlns:a="http://schemas.openxmlformats.org/drawingml/2006/main" noGrp="1"/>
          </p:cNvSpPr>
          <p:nvPr/>
        </p:nvSpPr>
        <p:spPr>
          <a:xfrm xmlns:a="http://schemas.openxmlformats.org/drawingml/2006/main">
            <a:off x="533400" y="89535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151515"/>
                </a:solidFill>
                <a:latin typeface="Arial"/>
                <a:ea typeface="Arial"/>
                <a:cs typeface="Arial"/>
              </a:defRPr>
            </a:defPPr>
          </a:lstStyle>
          <a:p xmlns:a="http://schemas.openxmlformats.org/drawingml/2006/main">
            <a:pPr>
              <a:defRPr sz="3300" b="0">
                <a:solidFill>
                  <a:srgbClr val="151515"/>
                </a:solidFill>
                <a:latin typeface="Arial"/>
                <a:ea typeface="Arial"/>
                <a:cs typeface="Arial"/>
              </a:defRPr>
            </a:pPr>
            <a:r>
              <a:rPr sz="3300" b="0">
                <a:solidFill>
                  <a:srgbClr val="151515"/>
                </a:solidFill>
                <a:latin typeface="Arial"/>
                <a:ea typeface="Arial"/>
                <a:cs typeface="Arial"/>
              </a:rPr>
              <a:t>What makes a product look accurate</a:t>
            </a:r>
          </a:p>
        </p:txBody>
      </p:sp>
      <p:sp>
        <p:nvSpPr>
          <p:cNvPr id="4" name="">
            <a:extLst xmlns:a="http://schemas.openxmlformats.org/drawingml/2006/main">
              <a:ext uri="{FF2B5EF4-FFF2-40B4-BE49-F238E27FC236}">
                <a16:creationId xmlns:a16="http://schemas.microsoft.com/office/drawing/2014/main" id="{0FEDD666-6356-4F8F-BAAA-18175FB0BB0C}"/>
              </a:ext>
            </a:extLst>
          </p:cNvPr>
          <p:cNvSpPr>
            <a:spLocks xmlns:a="http://schemas.openxmlformats.org/drawingml/2006/main" noGrp="1"/>
          </p:cNvSpPr>
          <p:nvPr/>
        </p:nvSpPr>
        <p:spPr>
          <a:xfrm xmlns:a="http://schemas.openxmlformats.org/drawingml/2006/main">
            <a:off x="552450" y="16764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6666"/>
                </a:solidFill>
                <a:latin typeface="Arial"/>
                <a:ea typeface="Arial"/>
                <a:cs typeface="Arial"/>
              </a:defRPr>
            </a:defPPr>
          </a:lstStyle>
          <a:p xmlns:a="http://schemas.openxmlformats.org/drawingml/2006/main">
            <a:pPr>
              <a:defRPr sz="1875" b="0">
                <a:solidFill>
                  <a:srgbClr val="666666"/>
                </a:solidFill>
                <a:latin typeface="Arial"/>
                <a:ea typeface="Arial"/>
                <a:cs typeface="Arial"/>
              </a:defRPr>
            </a:pPr>
            <a:r>
              <a:rPr sz="1875" b="0">
                <a:solidFill>
                  <a:srgbClr val="666666"/>
                </a:solidFill>
                <a:latin typeface="Arial"/>
                <a:ea typeface="Arial"/>
                <a:cs typeface="Arial"/>
              </a:rPr>
              <a:t>Geometry and presentation both contribute to perceived quality.</a:t>
            </a:r>
          </a:p>
        </p:txBody>
      </p:sp>
      <p:sp>
        <p:nvSpPr>
          <p:cNvPr id="5" name="">
            <a:extLst xmlns:a="http://schemas.openxmlformats.org/drawingml/2006/main">
              <a:ext uri="{FF2B5EF4-FFF2-40B4-BE49-F238E27FC236}">
                <a16:creationId xmlns:a16="http://schemas.microsoft.com/office/drawing/2014/main" id="{B15786C1-3DCA-4DD7-B8D9-8672183BD4BD}"/>
              </a:ext>
            </a:extLst>
          </p:cNvPr>
          <p:cNvSpPr>
            <a:spLocks xmlns:a="http://schemas.openxmlformats.org/drawingml/2006/main" noGrp="1"/>
          </p:cNvSpPr>
          <p:nvPr/>
        </p:nvSpPr>
        <p:spPr>
          <a:xfrm xmlns:a="http://schemas.openxmlformats.org/drawingml/2006/main">
            <a:off x="552450" y="260032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961A86"/>
                </a:solidFill>
                <a:latin typeface="Arial"/>
                <a:ea typeface="Arial"/>
                <a:cs typeface="Arial"/>
              </a:defRPr>
            </a:defPPr>
          </a:lstStyle>
          <a:p xmlns:a="http://schemas.openxmlformats.org/drawingml/2006/main">
            <a:pPr>
              <a:defRPr sz="1875" b="1">
                <a:solidFill>
                  <a:srgbClr val="961A86"/>
                </a:solidFill>
                <a:latin typeface="Arial"/>
                <a:ea typeface="Arial"/>
                <a:cs typeface="Arial"/>
              </a:defRPr>
            </a:pPr>
            <a:r>
              <a:rPr sz="1875" b="1">
                <a:solidFill>
                  <a:srgbClr val="961A86"/>
                </a:solidFill>
                <a:latin typeface="Arial"/>
                <a:ea typeface="Arial"/>
                <a:cs typeface="Arial"/>
              </a:rPr>
              <a:t>Shape</a:t>
            </a:r>
          </a:p>
        </p:txBody>
      </p:sp>
      <p:sp>
        <p:nvSpPr>
          <p:cNvPr id="6" name="">
            <a:extLst xmlns:a="http://schemas.openxmlformats.org/drawingml/2006/main">
              <a:ext uri="{FF2B5EF4-FFF2-40B4-BE49-F238E27FC236}">
                <a16:creationId xmlns:a16="http://schemas.microsoft.com/office/drawing/2014/main" id="{6A594197-E982-401A-A052-31E236A0922D}"/>
              </a:ext>
            </a:extLst>
          </p:cNvPr>
          <p:cNvSpPr>
            <a:spLocks xmlns:a="http://schemas.openxmlformats.org/drawingml/2006/main" noGrp="1"/>
          </p:cNvSpPr>
          <p:nvPr/>
        </p:nvSpPr>
        <p:spPr>
          <a:xfrm xmlns:a="http://schemas.openxmlformats.org/drawingml/2006/main">
            <a:off x="552450" y="3000375"/>
            <a:ext cx="4572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51515"/>
                </a:solidFill>
                <a:latin typeface="Arial"/>
                <a:ea typeface="Arial"/>
                <a:cs typeface="Arial"/>
              </a:defRPr>
            </a:defPPr>
          </a:lstStyle>
          <a:p xmlns:a="http://schemas.openxmlformats.org/drawingml/2006/main">
            <a:pPr>
              <a:defRPr sz="1875" b="0">
                <a:solidFill>
                  <a:srgbClr val="151515"/>
                </a:solidFill>
                <a:latin typeface="Arial"/>
                <a:ea typeface="Arial"/>
                <a:cs typeface="Arial"/>
              </a:defRPr>
            </a:pPr>
            <a:r>
              <a:rPr sz="1875" b="0">
                <a:solidFill>
                  <a:srgbClr val="151515"/>
                </a:solidFill>
                <a:latin typeface="Arial"/>
                <a:ea typeface="Arial"/>
                <a:cs typeface="Arial"/>
              </a:rPr>
              <a:t>Silhouette, proportions, openings and part placement.</a:t>
            </a:r>
          </a:p>
        </p:txBody>
      </p:sp>
      <p:sp>
        <p:nvSpPr>
          <p:cNvPr id="7" name="">
            <a:extLst xmlns:a="http://schemas.openxmlformats.org/drawingml/2006/main">
              <a:ext uri="{FF2B5EF4-FFF2-40B4-BE49-F238E27FC236}">
                <a16:creationId xmlns:a16="http://schemas.microsoft.com/office/drawing/2014/main" id="{1A935AC7-0211-4626-AA84-D8173B52C846}"/>
              </a:ext>
            </a:extLst>
          </p:cNvPr>
          <p:cNvSpPr>
            <a:spLocks xmlns:a="http://schemas.openxmlformats.org/drawingml/2006/main" noGrp="1"/>
          </p:cNvSpPr>
          <p:nvPr/>
        </p:nvSpPr>
        <p:spPr>
          <a:xfrm xmlns:a="http://schemas.openxmlformats.org/drawingml/2006/main">
            <a:off x="552450" y="38004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961A86"/>
                </a:solidFill>
                <a:latin typeface="Arial"/>
                <a:ea typeface="Arial"/>
                <a:cs typeface="Arial"/>
              </a:defRPr>
            </a:defPPr>
          </a:lstStyle>
          <a:p xmlns:a="http://schemas.openxmlformats.org/drawingml/2006/main">
            <a:pPr>
              <a:defRPr sz="1875" b="1">
                <a:solidFill>
                  <a:srgbClr val="961A86"/>
                </a:solidFill>
                <a:latin typeface="Arial"/>
                <a:ea typeface="Arial"/>
                <a:cs typeface="Arial"/>
              </a:defRPr>
            </a:pPr>
            <a:r>
              <a:rPr sz="1875" b="1">
                <a:solidFill>
                  <a:srgbClr val="961A86"/>
                </a:solidFill>
                <a:latin typeface="Arial"/>
                <a:ea typeface="Arial"/>
                <a:cs typeface="Arial"/>
              </a:rPr>
              <a:t>Surface</a:t>
            </a:r>
          </a:p>
        </p:txBody>
      </p:sp>
      <p:sp>
        <p:nvSpPr>
          <p:cNvPr id="8" name="">
            <a:extLst xmlns:a="http://schemas.openxmlformats.org/drawingml/2006/main">
              <a:ext uri="{FF2B5EF4-FFF2-40B4-BE49-F238E27FC236}">
                <a16:creationId xmlns:a16="http://schemas.microsoft.com/office/drawing/2014/main" id="{71FA31AE-314B-4701-B856-44243F60D29A}"/>
              </a:ext>
            </a:extLst>
          </p:cNvPr>
          <p:cNvSpPr>
            <a:spLocks xmlns:a="http://schemas.openxmlformats.org/drawingml/2006/main" noGrp="1"/>
          </p:cNvSpPr>
          <p:nvPr/>
        </p:nvSpPr>
        <p:spPr>
          <a:xfrm xmlns:a="http://schemas.openxmlformats.org/drawingml/2006/main">
            <a:off x="552450" y="4200525"/>
            <a:ext cx="4572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51515"/>
                </a:solidFill>
                <a:latin typeface="Arial"/>
                <a:ea typeface="Arial"/>
                <a:cs typeface="Arial"/>
              </a:defRPr>
            </a:defPPr>
          </a:lstStyle>
          <a:p xmlns:a="http://schemas.openxmlformats.org/drawingml/2006/main">
            <a:pPr>
              <a:defRPr sz="1875" b="0">
                <a:solidFill>
                  <a:srgbClr val="151515"/>
                </a:solidFill>
                <a:latin typeface="Arial"/>
                <a:ea typeface="Arial"/>
                <a:cs typeface="Arial"/>
              </a:defRPr>
            </a:pPr>
            <a:r>
              <a:rPr sz="1875" b="0">
                <a:solidFill>
                  <a:srgbClr val="151515"/>
                </a:solidFill>
                <a:latin typeface="Arial"/>
                <a:ea typeface="Arial"/>
                <a:cs typeface="Arial"/>
              </a:rPr>
              <a:t>Roughness, metalness, lens appearance and fine texture.</a:t>
            </a:r>
          </a:p>
        </p:txBody>
      </p:sp>
      <p:sp>
        <p:nvSpPr>
          <p:cNvPr id="9" name="">
            <a:extLst xmlns:a="http://schemas.openxmlformats.org/drawingml/2006/main">
              <a:ext uri="{FF2B5EF4-FFF2-40B4-BE49-F238E27FC236}">
                <a16:creationId xmlns:a16="http://schemas.microsoft.com/office/drawing/2014/main" id="{6D4C7E9C-3C8D-4948-9126-FCC03F825225}"/>
              </a:ext>
            </a:extLst>
          </p:cNvPr>
          <p:cNvSpPr>
            <a:spLocks xmlns:a="http://schemas.openxmlformats.org/drawingml/2006/main" noGrp="1"/>
          </p:cNvSpPr>
          <p:nvPr/>
        </p:nvSpPr>
        <p:spPr>
          <a:xfrm xmlns:a="http://schemas.openxmlformats.org/drawingml/2006/main">
            <a:off x="552450" y="500062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961A86"/>
                </a:solidFill>
                <a:latin typeface="Arial"/>
                <a:ea typeface="Arial"/>
                <a:cs typeface="Arial"/>
              </a:defRPr>
            </a:defPPr>
          </a:lstStyle>
          <a:p xmlns:a="http://schemas.openxmlformats.org/drawingml/2006/main">
            <a:pPr>
              <a:defRPr sz="1875" b="1">
                <a:solidFill>
                  <a:srgbClr val="961A86"/>
                </a:solidFill>
                <a:latin typeface="Arial"/>
                <a:ea typeface="Arial"/>
                <a:cs typeface="Arial"/>
              </a:defRPr>
            </a:pPr>
            <a:r>
              <a:rPr sz="1875" b="1">
                <a:solidFill>
                  <a:srgbClr val="961A86"/>
                </a:solidFill>
                <a:latin typeface="Arial"/>
                <a:ea typeface="Arial"/>
                <a:cs typeface="Arial"/>
              </a:rPr>
              <a:t>Presentation</a:t>
            </a:r>
          </a:p>
        </p:txBody>
      </p:sp>
      <p:sp>
        <p:nvSpPr>
          <p:cNvPr id="10" name="">
            <a:extLst xmlns:a="http://schemas.openxmlformats.org/drawingml/2006/main">
              <a:ext uri="{FF2B5EF4-FFF2-40B4-BE49-F238E27FC236}">
                <a16:creationId xmlns:a16="http://schemas.microsoft.com/office/drawing/2014/main" id="{C4139FC3-B843-401E-BA58-AF2F35DBE8AC}"/>
              </a:ext>
            </a:extLst>
          </p:cNvPr>
          <p:cNvSpPr>
            <a:spLocks xmlns:a="http://schemas.openxmlformats.org/drawingml/2006/main" noGrp="1"/>
          </p:cNvSpPr>
          <p:nvPr/>
        </p:nvSpPr>
        <p:spPr>
          <a:xfrm xmlns:a="http://schemas.openxmlformats.org/drawingml/2006/main">
            <a:off x="552450" y="5400675"/>
            <a:ext cx="4572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51515"/>
                </a:solidFill>
                <a:latin typeface="Arial"/>
                <a:ea typeface="Arial"/>
                <a:cs typeface="Arial"/>
              </a:defRPr>
            </a:defPPr>
          </a:lstStyle>
          <a:p xmlns:a="http://schemas.openxmlformats.org/drawingml/2006/main">
            <a:pPr>
              <a:defRPr sz="1875" b="0">
                <a:solidFill>
                  <a:srgbClr val="151515"/>
                </a:solidFill>
                <a:latin typeface="Arial"/>
                <a:ea typeface="Arial"/>
                <a:cs typeface="Arial"/>
              </a:defRPr>
            </a:pPr>
            <a:r>
              <a:rPr sz="1875" b="0">
                <a:solidFill>
                  <a:srgbClr val="151515"/>
                </a:solidFill>
                <a:latin typeface="Arial"/>
                <a:ea typeface="Arial"/>
                <a:cs typeface="Arial"/>
              </a:rPr>
              <a:t>Lighting, reflections, camera lens and exposure.</a:t>
            </a:r>
          </a:p>
        </p:txBody>
      </p:sp>
      <p:pic>
        <p:nvPicPr>
          <p:cNvPr id="11" name="">
            <a:extLst xmlns:a="http://schemas.openxmlformats.org/drawingml/2006/main">
              <a:ext uri="{FF2B5EF4-FFF2-40B4-BE49-F238E27FC236}">
                <a16:creationId xmlns:a16="http://schemas.microsoft.com/office/drawing/2014/main" id="{63E2C658-C07A-4A95-BACC-F3F091A82603}"/>
              </a:ext>
            </a:extLst>
          </p:cNvPr>
          <p:cNvPicPr>
            <a:picLocks xmlns:a="http://schemas.openxmlformats.org/drawingml/2006/main" noChangeAspect="1"/>
          </p:cNvPicPr>
          <p:nvPr/>
        </p:nvPicPr>
        <p:blipFill>
          <a:blip xmlns:r="http://schemas.openxmlformats.org/officeDocument/2006/relationships" xmlns:a="http://schemas.openxmlformats.org/drawingml/2006/main" r:embed="R1d818d34653042a6"/>
          <a:stretch xmlns:a="http://schemas.openxmlformats.org/drawingml/2006/main"/>
        </p:blipFill>
        <p:spPr>
          <a:xfrm xmlns:a="http://schemas.openxmlformats.org/drawingml/2006/main">
            <a:off x="7086600" y="2571750"/>
            <a:ext cx="3162300" cy="31623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4A32B0E1-A493-4356-8F13-8A3453841B31}"/>
              </a:ext>
            </a:extLst>
          </p:cNvPr>
          <p:cNvSpPr>
            <a:spLocks xmlns:a="http://schemas.openxmlformats.org/drawingml/2006/main" noGrp="1"/>
          </p:cNvSpPr>
          <p:nvPr/>
        </p:nvSpPr>
        <p:spPr>
          <a:xfrm xmlns:a="http://schemas.openxmlformats.org/drawingml/2006/main">
            <a:off x="5667375" y="5962650"/>
            <a:ext cx="600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66666"/>
                </a:solidFill>
                <a:latin typeface="Arial"/>
                <a:ea typeface="Arial"/>
                <a:cs typeface="Arial"/>
              </a:defRPr>
            </a:defPPr>
          </a:lstStyle>
          <a:p xmlns:a="http://schemas.openxmlformats.org/drawingml/2006/main">
            <a:pPr>
              <a:defRPr sz="1275" b="0">
                <a:solidFill>
                  <a:srgbClr val="666666"/>
                </a:solidFill>
                <a:latin typeface="Arial"/>
                <a:ea typeface="Arial"/>
                <a:cs typeface="Arial"/>
              </a:defRPr>
            </a:pPr>
            <a:r>
              <a:rPr sz="1275" b="0">
                <a:solidFill>
                  <a:srgbClr val="666666"/>
                </a:solidFill>
                <a:latin typeface="Arial"/>
                <a:ea typeface="Arial"/>
                <a:cs typeface="Arial"/>
              </a:rPr>
              <a:t>Product reference: shape and detail review</a:t>
            </a:r>
          </a:p>
        </p:txBody>
      </p:sp>
    </p:spTree>
    <p:extLst>
      <p:ext uri="{BB962C8B-B14F-4D97-AF65-F5344CB8AC3E}">
        <p14:creationId xmlns:p14="http://schemas.microsoft.com/office/powerpoint/2010/main" val="107337765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7D0B2DB-E763-4F4B-A1DB-E405CB67876E}"/>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LIGHTMETRICS   /   3D EXPLORATION</a:t>
            </a:r>
          </a:p>
        </p:txBody>
      </p:sp>
      <p:sp>
        <p:nvSpPr>
          <p:cNvPr id="2" name="">
            <a:extLst xmlns:a="http://schemas.openxmlformats.org/drawingml/2006/main">
              <a:ext uri="{FF2B5EF4-FFF2-40B4-BE49-F238E27FC236}">
                <a16:creationId xmlns:a16="http://schemas.microsoft.com/office/drawing/2014/main" id="{1B9DD21F-EDF0-4EEC-988C-B06D78D6FFE8}"/>
              </a:ext>
            </a:extLst>
          </p:cNvPr>
          <p:cNvSpPr>
            <a:spLocks xmlns:a="http://schemas.openxmlformats.org/drawingml/2006/main" noGrp="1"/>
          </p:cNvSpPr>
          <p:nvPr/>
        </p:nvSpPr>
        <p:spPr>
          <a:xfrm xmlns:a="http://schemas.openxmlformats.org/drawingml/2006/main">
            <a:off x="11049000" y="2857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22</a:t>
            </a:r>
          </a:p>
        </p:txBody>
      </p:sp>
      <p:sp>
        <p:nvSpPr>
          <p:cNvPr id="3" name="">
            <a:extLst xmlns:a="http://schemas.openxmlformats.org/drawingml/2006/main">
              <a:ext uri="{FF2B5EF4-FFF2-40B4-BE49-F238E27FC236}">
                <a16:creationId xmlns:a16="http://schemas.microsoft.com/office/drawing/2014/main" id="{70F9F452-2E5D-4470-8C36-825C1C026ED5}"/>
              </a:ext>
            </a:extLst>
          </p:cNvPr>
          <p:cNvSpPr>
            <a:spLocks xmlns:a="http://schemas.openxmlformats.org/drawingml/2006/main" noGrp="1"/>
          </p:cNvSpPr>
          <p:nvPr/>
        </p:nvSpPr>
        <p:spPr>
          <a:xfrm xmlns:a="http://schemas.openxmlformats.org/drawingml/2006/main">
            <a:off x="533400" y="89535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151515"/>
                </a:solidFill>
                <a:latin typeface="Arial"/>
                <a:ea typeface="Arial"/>
                <a:cs typeface="Arial"/>
              </a:defRPr>
            </a:defPPr>
          </a:lstStyle>
          <a:p xmlns:a="http://schemas.openxmlformats.org/drawingml/2006/main">
            <a:pPr>
              <a:defRPr sz="3300" b="0">
                <a:solidFill>
                  <a:srgbClr val="151515"/>
                </a:solidFill>
                <a:latin typeface="Arial"/>
                <a:ea typeface="Arial"/>
                <a:cs typeface="Arial"/>
              </a:defRPr>
            </a:pPr>
            <a:r>
              <a:rPr sz="3300" b="0">
                <a:solidFill>
                  <a:srgbClr val="151515"/>
                </a:solidFill>
                <a:latin typeface="Arial"/>
                <a:ea typeface="Arial"/>
                <a:cs typeface="Arial"/>
              </a:rPr>
              <a:t>Performance is a design constraint</a:t>
            </a:r>
          </a:p>
        </p:txBody>
      </p:sp>
      <p:sp>
        <p:nvSpPr>
          <p:cNvPr id="4" name="">
            <a:extLst xmlns:a="http://schemas.openxmlformats.org/drawingml/2006/main">
              <a:ext uri="{FF2B5EF4-FFF2-40B4-BE49-F238E27FC236}">
                <a16:creationId xmlns:a16="http://schemas.microsoft.com/office/drawing/2014/main" id="{72DFA578-9C73-44B7-A8D5-AE58437E7189}"/>
              </a:ext>
            </a:extLst>
          </p:cNvPr>
          <p:cNvSpPr>
            <a:spLocks xmlns:a="http://schemas.openxmlformats.org/drawingml/2006/main" noGrp="1"/>
          </p:cNvSpPr>
          <p:nvPr/>
        </p:nvSpPr>
        <p:spPr>
          <a:xfrm xmlns:a="http://schemas.openxmlformats.org/drawingml/2006/main">
            <a:off x="552450" y="16764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6666"/>
                </a:solidFill>
                <a:latin typeface="Arial"/>
                <a:ea typeface="Arial"/>
                <a:cs typeface="Arial"/>
              </a:defRPr>
            </a:defPPr>
          </a:lstStyle>
          <a:p xmlns:a="http://schemas.openxmlformats.org/drawingml/2006/main">
            <a:pPr>
              <a:defRPr sz="1875" b="0">
                <a:solidFill>
                  <a:srgbClr val="666666"/>
                </a:solidFill>
                <a:latin typeface="Arial"/>
                <a:ea typeface="Arial"/>
                <a:cs typeface="Arial"/>
              </a:defRPr>
            </a:pPr>
            <a:r>
              <a:rPr sz="1875" b="0">
                <a:solidFill>
                  <a:srgbClr val="666666"/>
                </a:solidFill>
                <a:latin typeface="Arial"/>
                <a:ea typeface="Arial"/>
                <a:cs typeface="Arial"/>
              </a:rPr>
              <a:t>A useful viewer loads promptly and stays responsive on target phones.</a:t>
            </a:r>
          </a:p>
        </p:txBody>
      </p:sp>
      <p:sp>
        <p:nvSpPr>
          <p:cNvPr id="5" name="">
            <a:extLst xmlns:a="http://schemas.openxmlformats.org/drawingml/2006/main">
              <a:ext uri="{FF2B5EF4-FFF2-40B4-BE49-F238E27FC236}">
                <a16:creationId xmlns:a16="http://schemas.microsoft.com/office/drawing/2014/main" id="{DE72FA78-7A8A-4498-9FB3-D472F1FB694E}"/>
              </a:ext>
            </a:extLst>
          </p:cNvPr>
          <p:cNvSpPr>
            <a:spLocks xmlns:a="http://schemas.openxmlformats.org/drawingml/2006/main" noGrp="1"/>
          </p:cNvSpPr>
          <p:nvPr/>
        </p:nvSpPr>
        <p:spPr>
          <a:xfrm xmlns:a="http://schemas.openxmlformats.org/drawingml/2006/main">
            <a:off x="552450" y="2600325"/>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Delivery</a:t>
            </a:r>
          </a:p>
        </p:txBody>
      </p:sp>
      <p:sp>
        <p:nvSpPr>
          <p:cNvPr id="6" name="">
            <a:extLst xmlns:a="http://schemas.openxmlformats.org/drawingml/2006/main">
              <a:ext uri="{FF2B5EF4-FFF2-40B4-BE49-F238E27FC236}">
                <a16:creationId xmlns:a16="http://schemas.microsoft.com/office/drawing/2014/main" id="{505879E3-D925-4AED-8511-33520E8F8274}"/>
              </a:ext>
            </a:extLst>
          </p:cNvPr>
          <p:cNvSpPr>
            <a:spLocks xmlns:a="http://schemas.openxmlformats.org/drawingml/2006/main" noGrp="1"/>
          </p:cNvSpPr>
          <p:nvPr/>
        </p:nvSpPr>
        <p:spPr>
          <a:xfrm xmlns:a="http://schemas.openxmlformats.org/drawingml/2006/main">
            <a:off x="3886200" y="2600325"/>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Measure model, texture and JavaScript download size.</a:t>
            </a:r>
          </a:p>
        </p:txBody>
      </p:sp>
      <p:sp>
        <p:nvSpPr>
          <p:cNvPr id="7" name="">
            <a:extLst xmlns:a="http://schemas.openxmlformats.org/drawingml/2006/main">
              <a:ext uri="{FF2B5EF4-FFF2-40B4-BE49-F238E27FC236}">
                <a16:creationId xmlns:a16="http://schemas.microsoft.com/office/drawing/2014/main" id="{A213B971-B039-4F04-9F2F-8832156D4FB9}"/>
              </a:ext>
            </a:extLst>
          </p:cNvPr>
          <p:cNvSpPr>
            <a:spLocks xmlns:a="http://schemas.openxmlformats.org/drawingml/2006/main" noGrp="1"/>
          </p:cNvSpPr>
          <p:nvPr/>
        </p:nvSpPr>
        <p:spPr>
          <a:xfrm xmlns:a="http://schemas.openxmlformats.org/drawingml/2006/main">
            <a:off x="552450" y="3505200"/>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Rendering</a:t>
            </a:r>
          </a:p>
        </p:txBody>
      </p:sp>
      <p:sp>
        <p:nvSpPr>
          <p:cNvPr id="8" name="">
            <a:extLst xmlns:a="http://schemas.openxmlformats.org/drawingml/2006/main">
              <a:ext uri="{FF2B5EF4-FFF2-40B4-BE49-F238E27FC236}">
                <a16:creationId xmlns:a16="http://schemas.microsoft.com/office/drawing/2014/main" id="{B9A9A184-5F51-4BCD-BC41-734110BA2139}"/>
              </a:ext>
            </a:extLst>
          </p:cNvPr>
          <p:cNvSpPr>
            <a:spLocks xmlns:a="http://schemas.openxmlformats.org/drawingml/2006/main" noGrp="1"/>
          </p:cNvSpPr>
          <p:nvPr/>
        </p:nvSpPr>
        <p:spPr>
          <a:xfrm xmlns:a="http://schemas.openxmlformats.org/drawingml/2006/main">
            <a:off x="3886200" y="3505200"/>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Watch draw calls, pixel resolution, shadows and transparent layers.</a:t>
            </a:r>
          </a:p>
        </p:txBody>
      </p:sp>
      <p:sp>
        <p:nvSpPr>
          <p:cNvPr id="9" name="">
            <a:extLst xmlns:a="http://schemas.openxmlformats.org/drawingml/2006/main">
              <a:ext uri="{FF2B5EF4-FFF2-40B4-BE49-F238E27FC236}">
                <a16:creationId xmlns:a16="http://schemas.microsoft.com/office/drawing/2014/main" id="{581EC78E-5F84-4D60-83CC-F5876FA9B4CE}"/>
              </a:ext>
            </a:extLst>
          </p:cNvPr>
          <p:cNvSpPr>
            <a:spLocks xmlns:a="http://schemas.openxmlformats.org/drawingml/2006/main" noGrp="1"/>
          </p:cNvSpPr>
          <p:nvPr/>
        </p:nvSpPr>
        <p:spPr>
          <a:xfrm xmlns:a="http://schemas.openxmlformats.org/drawingml/2006/main">
            <a:off x="552450" y="4410075"/>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Optimization</a:t>
            </a:r>
          </a:p>
        </p:txBody>
      </p:sp>
      <p:sp>
        <p:nvSpPr>
          <p:cNvPr id="10" name="">
            <a:extLst xmlns:a="http://schemas.openxmlformats.org/drawingml/2006/main">
              <a:ext uri="{FF2B5EF4-FFF2-40B4-BE49-F238E27FC236}">
                <a16:creationId xmlns:a16="http://schemas.microsoft.com/office/drawing/2014/main" id="{167DCE7F-9934-40D6-88BB-8EC92D8A23C8}"/>
              </a:ext>
            </a:extLst>
          </p:cNvPr>
          <p:cNvSpPr>
            <a:spLocks xmlns:a="http://schemas.openxmlformats.org/drawingml/2006/main" noGrp="1"/>
          </p:cNvSpPr>
          <p:nvPr/>
        </p:nvSpPr>
        <p:spPr>
          <a:xfrm xmlns:a="http://schemas.openxmlformats.org/drawingml/2006/main">
            <a:off x="3886200" y="4410075"/>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Compress assets, simplify unseen detail and limit unnecessary effects.</a:t>
            </a:r>
          </a:p>
        </p:txBody>
      </p:sp>
      <p:sp>
        <p:nvSpPr>
          <p:cNvPr id="11" name="">
            <a:extLst xmlns:a="http://schemas.openxmlformats.org/drawingml/2006/main">
              <a:ext uri="{FF2B5EF4-FFF2-40B4-BE49-F238E27FC236}">
                <a16:creationId xmlns:a16="http://schemas.microsoft.com/office/drawing/2014/main" id="{ABCA3B37-6BED-440C-B576-BD6BCD5266E8}"/>
              </a:ext>
            </a:extLst>
          </p:cNvPr>
          <p:cNvSpPr>
            <a:spLocks xmlns:a="http://schemas.openxmlformats.org/drawingml/2006/main" noGrp="1"/>
          </p:cNvSpPr>
          <p:nvPr/>
        </p:nvSpPr>
        <p:spPr>
          <a:xfrm xmlns:a="http://schemas.openxmlformats.org/drawingml/2006/main">
            <a:off x="552450" y="5314950"/>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Measurement</a:t>
            </a:r>
          </a:p>
        </p:txBody>
      </p:sp>
      <p:sp>
        <p:nvSpPr>
          <p:cNvPr id="12" name="">
            <a:extLst xmlns:a="http://schemas.openxmlformats.org/drawingml/2006/main">
              <a:ext uri="{FF2B5EF4-FFF2-40B4-BE49-F238E27FC236}">
                <a16:creationId xmlns:a16="http://schemas.microsoft.com/office/drawing/2014/main" id="{6210608C-5F1A-49CF-9EE5-F22CCE291B4D}"/>
              </a:ext>
            </a:extLst>
          </p:cNvPr>
          <p:cNvSpPr>
            <a:spLocks xmlns:a="http://schemas.openxmlformats.org/drawingml/2006/main" noGrp="1"/>
          </p:cNvSpPr>
          <p:nvPr/>
        </p:nvSpPr>
        <p:spPr>
          <a:xfrm xmlns:a="http://schemas.openxmlformats.org/drawingml/2006/main">
            <a:off x="3886200" y="5314950"/>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Test loading, interaction smoothness and memory on real devices.</a:t>
            </a:r>
          </a:p>
        </p:txBody>
      </p:sp>
    </p:spTree>
    <p:extLst>
      <p:ext uri="{BB962C8B-B14F-4D97-AF65-F5344CB8AC3E}">
        <p14:creationId xmlns:p14="http://schemas.microsoft.com/office/powerpoint/2010/main" val="15679457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D9AF088-25E8-4F48-99CA-7A6B0900EF39}"/>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LIGHTMETRICS   /   3D EXPLORATION</a:t>
            </a:r>
          </a:p>
        </p:txBody>
      </p:sp>
      <p:sp>
        <p:nvSpPr>
          <p:cNvPr id="2" name="">
            <a:extLst xmlns:a="http://schemas.openxmlformats.org/drawingml/2006/main">
              <a:ext uri="{FF2B5EF4-FFF2-40B4-BE49-F238E27FC236}">
                <a16:creationId xmlns:a16="http://schemas.microsoft.com/office/drawing/2014/main" id="{B5B65D98-8B00-4382-8F24-17A149346596}"/>
              </a:ext>
            </a:extLst>
          </p:cNvPr>
          <p:cNvSpPr>
            <a:spLocks xmlns:a="http://schemas.openxmlformats.org/drawingml/2006/main" noGrp="1"/>
          </p:cNvSpPr>
          <p:nvPr/>
        </p:nvSpPr>
        <p:spPr>
          <a:xfrm xmlns:a="http://schemas.openxmlformats.org/drawingml/2006/main">
            <a:off x="11049000" y="2857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23</a:t>
            </a:r>
          </a:p>
        </p:txBody>
      </p:sp>
      <p:sp>
        <p:nvSpPr>
          <p:cNvPr id="3" name="">
            <a:extLst xmlns:a="http://schemas.openxmlformats.org/drawingml/2006/main">
              <a:ext uri="{FF2B5EF4-FFF2-40B4-BE49-F238E27FC236}">
                <a16:creationId xmlns:a16="http://schemas.microsoft.com/office/drawing/2014/main" id="{F88C1D64-7877-4207-A18F-4D1B6FBE433C}"/>
              </a:ext>
            </a:extLst>
          </p:cNvPr>
          <p:cNvSpPr>
            <a:spLocks xmlns:a="http://schemas.openxmlformats.org/drawingml/2006/main" noGrp="1"/>
          </p:cNvSpPr>
          <p:nvPr/>
        </p:nvSpPr>
        <p:spPr>
          <a:xfrm xmlns:a="http://schemas.openxmlformats.org/drawingml/2006/main">
            <a:off x="533400" y="89535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151515"/>
                </a:solidFill>
                <a:latin typeface="Arial"/>
                <a:ea typeface="Arial"/>
                <a:cs typeface="Arial"/>
              </a:defRPr>
            </a:defPPr>
          </a:lstStyle>
          <a:p xmlns:a="http://schemas.openxmlformats.org/drawingml/2006/main">
            <a:pPr>
              <a:defRPr sz="3300" b="0">
                <a:solidFill>
                  <a:srgbClr val="151515"/>
                </a:solidFill>
                <a:latin typeface="Arial"/>
                <a:ea typeface="Arial"/>
                <a:cs typeface="Arial"/>
              </a:defRPr>
            </a:pPr>
            <a:r>
              <a:rPr sz="3300" b="0">
                <a:solidFill>
                  <a:srgbClr val="151515"/>
                </a:solidFill>
                <a:latin typeface="Arial"/>
                <a:ea typeface="Arial"/>
                <a:cs typeface="Arial"/>
              </a:rPr>
              <a:t>The complete viewer experience</a:t>
            </a:r>
          </a:p>
        </p:txBody>
      </p:sp>
      <p:sp>
        <p:nvSpPr>
          <p:cNvPr id="4" name="">
            <a:extLst xmlns:a="http://schemas.openxmlformats.org/drawingml/2006/main">
              <a:ext uri="{FF2B5EF4-FFF2-40B4-BE49-F238E27FC236}">
                <a16:creationId xmlns:a16="http://schemas.microsoft.com/office/drawing/2014/main" id="{AA9E027C-9269-4BC5-B347-AFBD279ED1E7}"/>
              </a:ext>
            </a:extLst>
          </p:cNvPr>
          <p:cNvSpPr>
            <a:spLocks xmlns:a="http://schemas.openxmlformats.org/drawingml/2006/main" noGrp="1"/>
          </p:cNvSpPr>
          <p:nvPr/>
        </p:nvSpPr>
        <p:spPr>
          <a:xfrm xmlns:a="http://schemas.openxmlformats.org/drawingml/2006/main">
            <a:off x="552450" y="16764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6666"/>
                </a:solidFill>
                <a:latin typeface="Arial"/>
                <a:ea typeface="Arial"/>
                <a:cs typeface="Arial"/>
              </a:defRPr>
            </a:defPPr>
          </a:lstStyle>
          <a:p xmlns:a="http://schemas.openxmlformats.org/drawingml/2006/main">
            <a:pPr>
              <a:defRPr sz="1875" b="0">
                <a:solidFill>
                  <a:srgbClr val="666666"/>
                </a:solidFill>
                <a:latin typeface="Arial"/>
                <a:ea typeface="Arial"/>
                <a:cs typeface="Arial"/>
              </a:defRPr>
            </a:pPr>
            <a:r>
              <a:rPr sz="1875" b="0">
                <a:solidFill>
                  <a:srgbClr val="666666"/>
                </a:solidFill>
                <a:latin typeface="Arial"/>
                <a:ea typeface="Arial"/>
                <a:cs typeface="Arial"/>
              </a:rPr>
              <a:t>The page must work before, during and after the 3D scene loads.</a:t>
            </a:r>
          </a:p>
        </p:txBody>
      </p:sp>
      <p:sp>
        <p:nvSpPr>
          <p:cNvPr id="5" name="">
            <a:extLst xmlns:a="http://schemas.openxmlformats.org/drawingml/2006/main">
              <a:ext uri="{FF2B5EF4-FFF2-40B4-BE49-F238E27FC236}">
                <a16:creationId xmlns:a16="http://schemas.microsoft.com/office/drawing/2014/main" id="{15726D69-1E7D-425B-8A42-D4B8323E0326}"/>
              </a:ext>
            </a:extLst>
          </p:cNvPr>
          <p:cNvSpPr>
            <a:spLocks xmlns:a="http://schemas.openxmlformats.org/drawingml/2006/main" noGrp="1"/>
          </p:cNvSpPr>
          <p:nvPr/>
        </p:nvSpPr>
        <p:spPr>
          <a:xfrm xmlns:a="http://schemas.openxmlformats.org/drawingml/2006/main">
            <a:off x="552450" y="260032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Before loading</a:t>
            </a:r>
          </a:p>
        </p:txBody>
      </p:sp>
      <p:sp>
        <p:nvSpPr>
          <p:cNvPr id="6" name="">
            <a:extLst xmlns:a="http://schemas.openxmlformats.org/drawingml/2006/main">
              <a:ext uri="{FF2B5EF4-FFF2-40B4-BE49-F238E27FC236}">
                <a16:creationId xmlns:a16="http://schemas.microsoft.com/office/drawing/2014/main" id="{ABB0D228-C7EB-4493-91AC-32BFE679A039}"/>
              </a:ext>
            </a:extLst>
          </p:cNvPr>
          <p:cNvSpPr>
            <a:spLocks xmlns:a="http://schemas.openxmlformats.org/drawingml/2006/main" noGrp="1"/>
          </p:cNvSpPr>
          <p:nvPr/>
        </p:nvSpPr>
        <p:spPr>
          <a:xfrm xmlns:a="http://schemas.openxmlformats.org/drawingml/2006/main">
            <a:off x="3886200" y="26003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Show a useful poster image and readable product information.</a:t>
            </a:r>
          </a:p>
        </p:txBody>
      </p:sp>
      <p:sp>
        <p:nvSpPr>
          <p:cNvPr id="7" name="">
            <a:extLst xmlns:a="http://schemas.openxmlformats.org/drawingml/2006/main">
              <a:ext uri="{FF2B5EF4-FFF2-40B4-BE49-F238E27FC236}">
                <a16:creationId xmlns:a16="http://schemas.microsoft.com/office/drawing/2014/main" id="{D8D0B5E6-6C5A-4A17-9838-D45E56B0E3EB}"/>
              </a:ext>
            </a:extLst>
          </p:cNvPr>
          <p:cNvSpPr>
            <a:spLocks xmlns:a="http://schemas.openxmlformats.org/drawingml/2006/main" noGrp="1"/>
          </p:cNvSpPr>
          <p:nvPr/>
        </p:nvSpPr>
        <p:spPr>
          <a:xfrm xmlns:a="http://schemas.openxmlformats.org/drawingml/2006/main">
            <a:off x="552450" y="332422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While loading</a:t>
            </a:r>
          </a:p>
        </p:txBody>
      </p:sp>
      <p:sp>
        <p:nvSpPr>
          <p:cNvPr id="8" name="">
            <a:extLst xmlns:a="http://schemas.openxmlformats.org/drawingml/2006/main">
              <a:ext uri="{FF2B5EF4-FFF2-40B4-BE49-F238E27FC236}">
                <a16:creationId xmlns:a16="http://schemas.microsoft.com/office/drawing/2014/main" id="{4013C198-80B2-4EEC-9608-E648209B6139}"/>
              </a:ext>
            </a:extLst>
          </p:cNvPr>
          <p:cNvSpPr>
            <a:spLocks xmlns:a="http://schemas.openxmlformats.org/drawingml/2006/main" noGrp="1"/>
          </p:cNvSpPr>
          <p:nvPr/>
        </p:nvSpPr>
        <p:spPr>
          <a:xfrm xmlns:a="http://schemas.openxmlformats.org/drawingml/2006/main">
            <a:off x="3886200" y="33242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Provide progress or a clear loading state.</a:t>
            </a:r>
          </a:p>
        </p:txBody>
      </p:sp>
      <p:sp>
        <p:nvSpPr>
          <p:cNvPr id="9" name="">
            <a:extLst xmlns:a="http://schemas.openxmlformats.org/drawingml/2006/main">
              <a:ext uri="{FF2B5EF4-FFF2-40B4-BE49-F238E27FC236}">
                <a16:creationId xmlns:a16="http://schemas.microsoft.com/office/drawing/2014/main" id="{B40CD5AF-3613-4B7D-AADA-2330BF781EEC}"/>
              </a:ext>
            </a:extLst>
          </p:cNvPr>
          <p:cNvSpPr>
            <a:spLocks xmlns:a="http://schemas.openxmlformats.org/drawingml/2006/main" noGrp="1"/>
          </p:cNvSpPr>
          <p:nvPr/>
        </p:nvSpPr>
        <p:spPr>
          <a:xfrm xmlns:a="http://schemas.openxmlformats.org/drawingml/2006/main">
            <a:off x="552450" y="404812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During interaction</a:t>
            </a:r>
          </a:p>
        </p:txBody>
      </p:sp>
      <p:sp>
        <p:nvSpPr>
          <p:cNvPr id="10" name="">
            <a:extLst xmlns:a="http://schemas.openxmlformats.org/drawingml/2006/main">
              <a:ext uri="{FF2B5EF4-FFF2-40B4-BE49-F238E27FC236}">
                <a16:creationId xmlns:a16="http://schemas.microsoft.com/office/drawing/2014/main" id="{ED9A84F8-E45B-4116-AB17-F2FB6ED318AA}"/>
              </a:ext>
            </a:extLst>
          </p:cNvPr>
          <p:cNvSpPr>
            <a:spLocks xmlns:a="http://schemas.openxmlformats.org/drawingml/2006/main" noGrp="1"/>
          </p:cNvSpPr>
          <p:nvPr/>
        </p:nvSpPr>
        <p:spPr>
          <a:xfrm xmlns:a="http://schemas.openxmlformats.org/drawingml/2006/main">
            <a:off x="3886200" y="40481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Explain rotate, pan and zoom. Offer a reset view action.</a:t>
            </a:r>
          </a:p>
        </p:txBody>
      </p:sp>
      <p:sp>
        <p:nvSpPr>
          <p:cNvPr id="11" name="">
            <a:extLst xmlns:a="http://schemas.openxmlformats.org/drawingml/2006/main">
              <a:ext uri="{FF2B5EF4-FFF2-40B4-BE49-F238E27FC236}">
                <a16:creationId xmlns:a16="http://schemas.microsoft.com/office/drawing/2014/main" id="{C842785D-F933-4576-A088-33409620E757}"/>
              </a:ext>
            </a:extLst>
          </p:cNvPr>
          <p:cNvSpPr>
            <a:spLocks xmlns:a="http://schemas.openxmlformats.org/drawingml/2006/main" noGrp="1"/>
          </p:cNvSpPr>
          <p:nvPr/>
        </p:nvSpPr>
        <p:spPr>
          <a:xfrm xmlns:a="http://schemas.openxmlformats.org/drawingml/2006/main">
            <a:off x="552450" y="477202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When unavailable</a:t>
            </a:r>
          </a:p>
        </p:txBody>
      </p:sp>
      <p:sp>
        <p:nvSpPr>
          <p:cNvPr id="12" name="">
            <a:extLst xmlns:a="http://schemas.openxmlformats.org/drawingml/2006/main">
              <a:ext uri="{FF2B5EF4-FFF2-40B4-BE49-F238E27FC236}">
                <a16:creationId xmlns:a16="http://schemas.microsoft.com/office/drawing/2014/main" id="{DE276C96-6435-4C95-9A9D-A7A40A46A34F}"/>
              </a:ext>
            </a:extLst>
          </p:cNvPr>
          <p:cNvSpPr>
            <a:spLocks xmlns:a="http://schemas.openxmlformats.org/drawingml/2006/main" noGrp="1"/>
          </p:cNvSpPr>
          <p:nvPr/>
        </p:nvSpPr>
        <p:spPr>
          <a:xfrm xmlns:a="http://schemas.openxmlformats.org/drawingml/2006/main">
            <a:off x="3886200" y="47720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Keep a static image and an understandable retry or fallback.</a:t>
            </a:r>
          </a:p>
        </p:txBody>
      </p:sp>
      <p:sp>
        <p:nvSpPr>
          <p:cNvPr id="13" name="">
            <a:extLst xmlns:a="http://schemas.openxmlformats.org/drawingml/2006/main">
              <a:ext uri="{FF2B5EF4-FFF2-40B4-BE49-F238E27FC236}">
                <a16:creationId xmlns:a16="http://schemas.microsoft.com/office/drawing/2014/main" id="{8DF4C6C6-DABF-462D-8225-FA56688672B8}"/>
              </a:ext>
            </a:extLst>
          </p:cNvPr>
          <p:cNvSpPr>
            <a:spLocks xmlns:a="http://schemas.openxmlformats.org/drawingml/2006/main" noGrp="1"/>
          </p:cNvSpPr>
          <p:nvPr/>
        </p:nvSpPr>
        <p:spPr>
          <a:xfrm xmlns:a="http://schemas.openxmlformats.org/drawingml/2006/main">
            <a:off x="552450" y="549592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For every visitor</a:t>
            </a:r>
          </a:p>
        </p:txBody>
      </p:sp>
      <p:sp>
        <p:nvSpPr>
          <p:cNvPr id="14" name="">
            <a:extLst xmlns:a="http://schemas.openxmlformats.org/drawingml/2006/main">
              <a:ext uri="{FF2B5EF4-FFF2-40B4-BE49-F238E27FC236}">
                <a16:creationId xmlns:a16="http://schemas.microsoft.com/office/drawing/2014/main" id="{434495F0-8269-4C5B-BB66-D1E6195580DB}"/>
              </a:ext>
            </a:extLst>
          </p:cNvPr>
          <p:cNvSpPr>
            <a:spLocks xmlns:a="http://schemas.openxmlformats.org/drawingml/2006/main" noGrp="1"/>
          </p:cNvSpPr>
          <p:nvPr/>
        </p:nvSpPr>
        <p:spPr>
          <a:xfrm xmlns:a="http://schemas.openxmlformats.org/drawingml/2006/main">
            <a:off x="3886200" y="54959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Use labeled HTML controls, keyboard access and reduced motion.</a:t>
            </a:r>
          </a:p>
        </p:txBody>
      </p:sp>
    </p:spTree>
    <p:extLst>
      <p:ext uri="{BB962C8B-B14F-4D97-AF65-F5344CB8AC3E}">
        <p14:creationId xmlns:p14="http://schemas.microsoft.com/office/powerpoint/2010/main" val="107683863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CC4DC78-7D2E-4929-B1E8-1AC5CD53FAE5}"/>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LIGHTMETRICS   /   3D EXPLORATION</a:t>
            </a:r>
          </a:p>
        </p:txBody>
      </p:sp>
      <p:sp>
        <p:nvSpPr>
          <p:cNvPr id="2" name="">
            <a:extLst xmlns:a="http://schemas.openxmlformats.org/drawingml/2006/main">
              <a:ext uri="{FF2B5EF4-FFF2-40B4-BE49-F238E27FC236}">
                <a16:creationId xmlns:a16="http://schemas.microsoft.com/office/drawing/2014/main" id="{EFF8A9D1-2C95-4D12-B5D2-1C71728FCC51}"/>
              </a:ext>
            </a:extLst>
          </p:cNvPr>
          <p:cNvSpPr>
            <a:spLocks xmlns:a="http://schemas.openxmlformats.org/drawingml/2006/main" noGrp="1"/>
          </p:cNvSpPr>
          <p:nvPr/>
        </p:nvSpPr>
        <p:spPr>
          <a:xfrm xmlns:a="http://schemas.openxmlformats.org/drawingml/2006/main">
            <a:off x="11049000" y="2857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24</a:t>
            </a:r>
          </a:p>
        </p:txBody>
      </p:sp>
      <p:sp>
        <p:nvSpPr>
          <p:cNvPr id="3" name="">
            <a:extLst xmlns:a="http://schemas.openxmlformats.org/drawingml/2006/main">
              <a:ext uri="{FF2B5EF4-FFF2-40B4-BE49-F238E27FC236}">
                <a16:creationId xmlns:a16="http://schemas.microsoft.com/office/drawing/2014/main" id="{6ECD4A4C-96C0-4C69-9C46-6BDB795A535E}"/>
              </a:ext>
            </a:extLst>
          </p:cNvPr>
          <p:cNvSpPr>
            <a:spLocks xmlns:a="http://schemas.openxmlformats.org/drawingml/2006/main" noGrp="1"/>
          </p:cNvSpPr>
          <p:nvPr/>
        </p:nvSpPr>
        <p:spPr>
          <a:xfrm xmlns:a="http://schemas.openxmlformats.org/drawingml/2006/main">
            <a:off x="533400" y="89535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151515"/>
                </a:solidFill>
                <a:latin typeface="Arial"/>
                <a:ea typeface="Arial"/>
                <a:cs typeface="Arial"/>
              </a:defRPr>
            </a:defPPr>
          </a:lstStyle>
          <a:p xmlns:a="http://schemas.openxmlformats.org/drawingml/2006/main">
            <a:pPr>
              <a:defRPr sz="3300" b="0">
                <a:solidFill>
                  <a:srgbClr val="151515"/>
                </a:solidFill>
                <a:latin typeface="Arial"/>
                <a:ea typeface="Arial"/>
                <a:cs typeface="Arial"/>
              </a:defRPr>
            </a:pPr>
            <a:r>
              <a:rPr sz="3300" b="0">
                <a:solidFill>
                  <a:srgbClr val="151515"/>
                </a:solidFill>
                <a:latin typeface="Arial"/>
                <a:ea typeface="Arial"/>
                <a:cs typeface="Arial"/>
              </a:rPr>
              <a:t>Publishing on Webflow or any website</a:t>
            </a:r>
          </a:p>
        </p:txBody>
      </p:sp>
      <p:sp>
        <p:nvSpPr>
          <p:cNvPr id="4" name="">
            <a:extLst xmlns:a="http://schemas.openxmlformats.org/drawingml/2006/main">
              <a:ext uri="{FF2B5EF4-FFF2-40B4-BE49-F238E27FC236}">
                <a16:creationId xmlns:a16="http://schemas.microsoft.com/office/drawing/2014/main" id="{5C7626CC-6E4C-4847-893C-86C62627B0A8}"/>
              </a:ext>
            </a:extLst>
          </p:cNvPr>
          <p:cNvSpPr>
            <a:spLocks xmlns:a="http://schemas.openxmlformats.org/drawingml/2006/main" noGrp="1"/>
          </p:cNvSpPr>
          <p:nvPr/>
        </p:nvSpPr>
        <p:spPr>
          <a:xfrm xmlns:a="http://schemas.openxmlformats.org/drawingml/2006/main">
            <a:off x="552450" y="16764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6666"/>
                </a:solidFill>
                <a:latin typeface="Arial"/>
                <a:ea typeface="Arial"/>
                <a:cs typeface="Arial"/>
              </a:defRPr>
            </a:defPPr>
          </a:lstStyle>
          <a:p xmlns:a="http://schemas.openxmlformats.org/drawingml/2006/main">
            <a:pPr>
              <a:defRPr sz="1875" b="0">
                <a:solidFill>
                  <a:srgbClr val="666666"/>
                </a:solidFill>
                <a:latin typeface="Arial"/>
                <a:ea typeface="Arial"/>
                <a:cs typeface="Arial"/>
              </a:defRPr>
            </a:pPr>
            <a:r>
              <a:rPr sz="1875" b="0">
                <a:solidFill>
                  <a:srgbClr val="666666"/>
                </a:solidFill>
                <a:latin typeface="Arial"/>
                <a:ea typeface="Arial"/>
                <a:cs typeface="Arial"/>
              </a:rPr>
              <a:t>Host the viewer assets, then connect them to the page.</a:t>
            </a:r>
          </a:p>
        </p:txBody>
      </p:sp>
      <p:sp>
        <p:nvSpPr>
          <p:cNvPr id="5" name="">
            <a:extLst xmlns:a="http://schemas.openxmlformats.org/drawingml/2006/main">
              <a:ext uri="{FF2B5EF4-FFF2-40B4-BE49-F238E27FC236}">
                <a16:creationId xmlns:a16="http://schemas.microsoft.com/office/drawing/2014/main" id="{EA39D2B2-F616-41EA-94E6-C8865F9864B5}"/>
              </a:ext>
            </a:extLst>
          </p:cNvPr>
          <p:cNvSpPr>
            <a:spLocks xmlns:a="http://schemas.openxmlformats.org/drawingml/2006/main" noGrp="1"/>
          </p:cNvSpPr>
          <p:nvPr/>
        </p:nvSpPr>
        <p:spPr>
          <a:xfrm xmlns:a="http://schemas.openxmlformats.org/drawingml/2006/main">
            <a:off x="552450" y="2600325"/>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Embed a component</a:t>
            </a:r>
          </a:p>
        </p:txBody>
      </p:sp>
      <p:sp>
        <p:nvSpPr>
          <p:cNvPr id="6" name="">
            <a:extLst xmlns:a="http://schemas.openxmlformats.org/drawingml/2006/main">
              <a:ext uri="{FF2B5EF4-FFF2-40B4-BE49-F238E27FC236}">
                <a16:creationId xmlns:a16="http://schemas.microsoft.com/office/drawing/2014/main" id="{CD161ABA-EBC8-4B76-AD40-602A212A9767}"/>
              </a:ext>
            </a:extLst>
          </p:cNvPr>
          <p:cNvSpPr>
            <a:spLocks xmlns:a="http://schemas.openxmlformats.org/drawingml/2006/main" noGrp="1"/>
          </p:cNvSpPr>
          <p:nvPr/>
        </p:nvSpPr>
        <p:spPr>
          <a:xfrm xmlns:a="http://schemas.openxmlformats.org/drawingml/2006/main">
            <a:off x="3886200" y="2600325"/>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Use model-viewer or Spline Viewer inside the page.</a:t>
            </a:r>
          </a:p>
        </p:txBody>
      </p:sp>
      <p:sp>
        <p:nvSpPr>
          <p:cNvPr id="7" name="">
            <a:extLst xmlns:a="http://schemas.openxmlformats.org/drawingml/2006/main">
              <a:ext uri="{FF2B5EF4-FFF2-40B4-BE49-F238E27FC236}">
                <a16:creationId xmlns:a16="http://schemas.microsoft.com/office/drawing/2014/main" id="{57E85439-A9A4-4A73-8341-D20FDAEB4AB5}"/>
              </a:ext>
            </a:extLst>
          </p:cNvPr>
          <p:cNvSpPr>
            <a:spLocks xmlns:a="http://schemas.openxmlformats.org/drawingml/2006/main" noGrp="1"/>
          </p:cNvSpPr>
          <p:nvPr/>
        </p:nvSpPr>
        <p:spPr>
          <a:xfrm xmlns:a="http://schemas.openxmlformats.org/drawingml/2006/main">
            <a:off x="552450" y="3505200"/>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Embed an iframe</a:t>
            </a:r>
          </a:p>
        </p:txBody>
      </p:sp>
      <p:sp>
        <p:nvSpPr>
          <p:cNvPr id="8" name="">
            <a:extLst xmlns:a="http://schemas.openxmlformats.org/drawingml/2006/main">
              <a:ext uri="{FF2B5EF4-FFF2-40B4-BE49-F238E27FC236}">
                <a16:creationId xmlns:a16="http://schemas.microsoft.com/office/drawing/2014/main" id="{0AEBC2A1-341F-4150-A6C7-F9D26A2B7ECC}"/>
              </a:ext>
            </a:extLst>
          </p:cNvPr>
          <p:cNvSpPr>
            <a:spLocks xmlns:a="http://schemas.openxmlformats.org/drawingml/2006/main" noGrp="1"/>
          </p:cNvSpPr>
          <p:nvPr/>
        </p:nvSpPr>
        <p:spPr>
          <a:xfrm xmlns:a="http://schemas.openxmlformats.org/drawingml/2006/main">
            <a:off x="3886200" y="3505200"/>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Host a complete viewer separately and point an iframe at its URL.</a:t>
            </a:r>
          </a:p>
        </p:txBody>
      </p:sp>
      <p:sp>
        <p:nvSpPr>
          <p:cNvPr id="9" name="">
            <a:extLst xmlns:a="http://schemas.openxmlformats.org/drawingml/2006/main">
              <a:ext uri="{FF2B5EF4-FFF2-40B4-BE49-F238E27FC236}">
                <a16:creationId xmlns:a16="http://schemas.microsoft.com/office/drawing/2014/main" id="{9546F355-A2C7-4770-8A16-4255D7B037AA}"/>
              </a:ext>
            </a:extLst>
          </p:cNvPr>
          <p:cNvSpPr>
            <a:spLocks xmlns:a="http://schemas.openxmlformats.org/drawingml/2006/main" noGrp="1"/>
          </p:cNvSpPr>
          <p:nvPr/>
        </p:nvSpPr>
        <p:spPr>
          <a:xfrm xmlns:a="http://schemas.openxmlformats.org/drawingml/2006/main">
            <a:off x="552450" y="4410075"/>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Integrate JavaScript</a:t>
            </a:r>
          </a:p>
        </p:txBody>
      </p:sp>
      <p:sp>
        <p:nvSpPr>
          <p:cNvPr id="10" name="">
            <a:extLst xmlns:a="http://schemas.openxmlformats.org/drawingml/2006/main">
              <a:ext uri="{FF2B5EF4-FFF2-40B4-BE49-F238E27FC236}">
                <a16:creationId xmlns:a16="http://schemas.microsoft.com/office/drawing/2014/main" id="{FAA97BDA-3601-40E7-B1FB-01456F38FBC7}"/>
              </a:ext>
            </a:extLst>
          </p:cNvPr>
          <p:cNvSpPr>
            <a:spLocks xmlns:a="http://schemas.openxmlformats.org/drawingml/2006/main" noGrp="1"/>
          </p:cNvSpPr>
          <p:nvPr/>
        </p:nvSpPr>
        <p:spPr>
          <a:xfrm xmlns:a="http://schemas.openxmlformats.org/drawingml/2006/main">
            <a:off x="3886200" y="4410075"/>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Mount Three.js directly for deeper page and UI integration.</a:t>
            </a:r>
          </a:p>
        </p:txBody>
      </p:sp>
      <p:sp>
        <p:nvSpPr>
          <p:cNvPr id="11" name="">
            <a:extLst xmlns:a="http://schemas.openxmlformats.org/drawingml/2006/main">
              <a:ext uri="{FF2B5EF4-FFF2-40B4-BE49-F238E27FC236}">
                <a16:creationId xmlns:a16="http://schemas.microsoft.com/office/drawing/2014/main" id="{65820B76-B1FD-4C4F-850B-28AE4F6D38A2}"/>
              </a:ext>
            </a:extLst>
          </p:cNvPr>
          <p:cNvSpPr>
            <a:spLocks xmlns:a="http://schemas.openxmlformats.org/drawingml/2006/main" noGrp="1"/>
          </p:cNvSpPr>
          <p:nvPr/>
        </p:nvSpPr>
        <p:spPr>
          <a:xfrm xmlns:a="http://schemas.openxmlformats.org/drawingml/2006/main">
            <a:off x="552450" y="5314950"/>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Test the published page</a:t>
            </a:r>
          </a:p>
        </p:txBody>
      </p:sp>
      <p:sp>
        <p:nvSpPr>
          <p:cNvPr id="12" name="">
            <a:extLst xmlns:a="http://schemas.openxmlformats.org/drawingml/2006/main">
              <a:ext uri="{FF2B5EF4-FFF2-40B4-BE49-F238E27FC236}">
                <a16:creationId xmlns:a16="http://schemas.microsoft.com/office/drawing/2014/main" id="{3D8500E4-D614-432E-9C0D-F233C3670D06}"/>
              </a:ext>
            </a:extLst>
          </p:cNvPr>
          <p:cNvSpPr>
            <a:spLocks xmlns:a="http://schemas.openxmlformats.org/drawingml/2006/main" noGrp="1"/>
          </p:cNvSpPr>
          <p:nvPr/>
        </p:nvSpPr>
        <p:spPr>
          <a:xfrm xmlns:a="http://schemas.openxmlformats.org/drawingml/2006/main">
            <a:off x="3886200" y="5314950"/>
            <a:ext cx="771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Check asset paths, HTTPS, sizing, cross-origin rules and mobile controls.</a:t>
            </a:r>
          </a:p>
        </p:txBody>
      </p:sp>
    </p:spTree>
    <p:extLst>
      <p:ext uri="{BB962C8B-B14F-4D97-AF65-F5344CB8AC3E}">
        <p14:creationId xmlns:p14="http://schemas.microsoft.com/office/powerpoint/2010/main" val="151786192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342BB35-18A8-459F-8779-EFAC46EB4D46}"/>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LIGHTMETRICS   /   3D EXPLORATION</a:t>
            </a:r>
          </a:p>
        </p:txBody>
      </p:sp>
      <p:sp>
        <p:nvSpPr>
          <p:cNvPr id="2" name="">
            <a:extLst xmlns:a="http://schemas.openxmlformats.org/drawingml/2006/main">
              <a:ext uri="{FF2B5EF4-FFF2-40B4-BE49-F238E27FC236}">
                <a16:creationId xmlns:a16="http://schemas.microsoft.com/office/drawing/2014/main" id="{2DD1457B-E804-4930-8DCB-5BF25B4A21B0}"/>
              </a:ext>
            </a:extLst>
          </p:cNvPr>
          <p:cNvSpPr>
            <a:spLocks xmlns:a="http://schemas.openxmlformats.org/drawingml/2006/main" noGrp="1"/>
          </p:cNvSpPr>
          <p:nvPr/>
        </p:nvSpPr>
        <p:spPr>
          <a:xfrm xmlns:a="http://schemas.openxmlformats.org/drawingml/2006/main">
            <a:off x="11049000" y="2857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25</a:t>
            </a:r>
          </a:p>
        </p:txBody>
      </p:sp>
      <p:sp>
        <p:nvSpPr>
          <p:cNvPr id="3" name="">
            <a:extLst xmlns:a="http://schemas.openxmlformats.org/drawingml/2006/main">
              <a:ext uri="{FF2B5EF4-FFF2-40B4-BE49-F238E27FC236}">
                <a16:creationId xmlns:a16="http://schemas.microsoft.com/office/drawing/2014/main" id="{63E50937-D551-493D-BB00-D40DEC00D3B7}"/>
              </a:ext>
            </a:extLst>
          </p:cNvPr>
          <p:cNvSpPr>
            <a:spLocks xmlns:a="http://schemas.openxmlformats.org/drawingml/2006/main" noGrp="1"/>
          </p:cNvSpPr>
          <p:nvPr/>
        </p:nvSpPr>
        <p:spPr>
          <a:xfrm xmlns:a="http://schemas.openxmlformats.org/drawingml/2006/main">
            <a:off x="533400" y="89535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151515"/>
                </a:solidFill>
                <a:latin typeface="Arial"/>
                <a:ea typeface="Arial"/>
                <a:cs typeface="Arial"/>
              </a:defRPr>
            </a:defPPr>
          </a:lstStyle>
          <a:p xmlns:a="http://schemas.openxmlformats.org/drawingml/2006/main">
            <a:pPr>
              <a:defRPr sz="3300" b="0">
                <a:solidFill>
                  <a:srgbClr val="151515"/>
                </a:solidFill>
                <a:latin typeface="Arial"/>
                <a:ea typeface="Arial"/>
                <a:cs typeface="Arial"/>
              </a:defRPr>
            </a:pPr>
            <a:r>
              <a:rPr sz="3300" b="0">
                <a:solidFill>
                  <a:srgbClr val="151515"/>
                </a:solidFill>
                <a:latin typeface="Arial"/>
                <a:ea typeface="Arial"/>
                <a:cs typeface="Arial"/>
              </a:rPr>
              <a:t>Your LightMetrics camera viewer</a:t>
            </a:r>
          </a:p>
        </p:txBody>
      </p:sp>
      <p:sp>
        <p:nvSpPr>
          <p:cNvPr id="4" name="">
            <a:extLst xmlns:a="http://schemas.openxmlformats.org/drawingml/2006/main">
              <a:ext uri="{FF2B5EF4-FFF2-40B4-BE49-F238E27FC236}">
                <a16:creationId xmlns:a16="http://schemas.microsoft.com/office/drawing/2014/main" id="{F32AFC8F-C4A7-4F8E-AD97-3EF287BF2ADA}"/>
              </a:ext>
            </a:extLst>
          </p:cNvPr>
          <p:cNvSpPr>
            <a:spLocks xmlns:a="http://schemas.openxmlformats.org/drawingml/2006/main" noGrp="1"/>
          </p:cNvSpPr>
          <p:nvPr/>
        </p:nvSpPr>
        <p:spPr>
          <a:xfrm xmlns:a="http://schemas.openxmlformats.org/drawingml/2006/main">
            <a:off x="552450" y="16764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6666"/>
                </a:solidFill>
                <a:latin typeface="Arial"/>
                <a:ea typeface="Arial"/>
                <a:cs typeface="Arial"/>
              </a:defRPr>
            </a:defPPr>
          </a:lstStyle>
          <a:p xmlns:a="http://schemas.openxmlformats.org/drawingml/2006/main">
            <a:pPr>
              <a:defRPr sz="1875" b="0">
                <a:solidFill>
                  <a:srgbClr val="666666"/>
                </a:solidFill>
                <a:latin typeface="Arial"/>
                <a:ea typeface="Arial"/>
                <a:cs typeface="Arial"/>
              </a:defRPr>
            </a:pPr>
            <a:r>
              <a:rPr sz="1875" b="0">
                <a:solidFill>
                  <a:srgbClr val="666666"/>
                </a:solidFill>
                <a:latin typeface="Arial"/>
                <a:ea typeface="Arial"/>
                <a:cs typeface="Arial"/>
              </a:rPr>
              <a:t>Recommended route: keep Three.js and refine the source asset.</a:t>
            </a:r>
          </a:p>
        </p:txBody>
      </p:sp>
      <p:sp>
        <p:nvSpPr>
          <p:cNvPr id="5" name="">
            <a:extLst xmlns:a="http://schemas.openxmlformats.org/drawingml/2006/main">
              <a:ext uri="{FF2B5EF4-FFF2-40B4-BE49-F238E27FC236}">
                <a16:creationId xmlns:a16="http://schemas.microsoft.com/office/drawing/2014/main" id="{B8351A82-9612-491A-96D7-5E17537E164D}"/>
              </a:ext>
            </a:extLst>
          </p:cNvPr>
          <p:cNvSpPr>
            <a:spLocks xmlns:a="http://schemas.openxmlformats.org/drawingml/2006/main" noGrp="1"/>
          </p:cNvSpPr>
          <p:nvPr/>
        </p:nvSpPr>
        <p:spPr>
          <a:xfrm xmlns:a="http://schemas.openxmlformats.org/drawingml/2006/main">
            <a:off x="552450" y="260032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961A86"/>
                </a:solidFill>
                <a:latin typeface="Arial"/>
                <a:ea typeface="Arial"/>
                <a:cs typeface="Arial"/>
              </a:defRPr>
            </a:defPPr>
          </a:lstStyle>
          <a:p xmlns:a="http://schemas.openxmlformats.org/drawingml/2006/main">
            <a:pPr>
              <a:defRPr sz="1875" b="1">
                <a:solidFill>
                  <a:srgbClr val="961A86"/>
                </a:solidFill>
                <a:latin typeface="Arial"/>
                <a:ea typeface="Arial"/>
                <a:cs typeface="Arial"/>
              </a:defRPr>
            </a:pPr>
            <a:r>
              <a:rPr sz="1875" b="1">
                <a:solidFill>
                  <a:srgbClr val="961A86"/>
                </a:solidFill>
                <a:latin typeface="Arial"/>
                <a:ea typeface="Arial"/>
                <a:cs typeface="Arial"/>
              </a:rPr>
              <a:t>Current implementation</a:t>
            </a:r>
          </a:p>
        </p:txBody>
      </p:sp>
      <p:sp>
        <p:nvSpPr>
          <p:cNvPr id="6" name="">
            <a:extLst xmlns:a="http://schemas.openxmlformats.org/drawingml/2006/main">
              <a:ext uri="{FF2B5EF4-FFF2-40B4-BE49-F238E27FC236}">
                <a16:creationId xmlns:a16="http://schemas.microsoft.com/office/drawing/2014/main" id="{C9D9443C-CA1B-4340-9761-C1CF41D0DB3C}"/>
              </a:ext>
            </a:extLst>
          </p:cNvPr>
          <p:cNvSpPr>
            <a:spLocks xmlns:a="http://schemas.openxmlformats.org/drawingml/2006/main" noGrp="1"/>
          </p:cNvSpPr>
          <p:nvPr/>
        </p:nvSpPr>
        <p:spPr>
          <a:xfrm xmlns:a="http://schemas.openxmlformats.org/drawingml/2006/main">
            <a:off x="552450" y="3000375"/>
            <a:ext cx="4572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51515"/>
                </a:solidFill>
                <a:latin typeface="Arial"/>
                <a:ea typeface="Arial"/>
                <a:cs typeface="Arial"/>
              </a:defRPr>
            </a:defPPr>
          </a:lstStyle>
          <a:p xmlns:a="http://schemas.openxmlformats.org/drawingml/2006/main">
            <a:pPr>
              <a:defRPr sz="1875" b="0">
                <a:solidFill>
                  <a:srgbClr val="151515"/>
                </a:solidFill>
                <a:latin typeface="Arial"/>
                <a:ea typeface="Arial"/>
                <a:cs typeface="Arial"/>
              </a:defRPr>
            </a:pPr>
            <a:r>
              <a:rPr sz="1875" b="0">
                <a:solidFill>
                  <a:srgbClr val="151515"/>
                </a:solidFill>
                <a:latin typeface="Arial"/>
                <a:ea typeface="Arial"/>
                <a:cs typeface="Arial"/>
              </a:rPr>
              <a:t>A procedural Three.js model with OrbitControls and a GLB export path.</a:t>
            </a:r>
          </a:p>
        </p:txBody>
      </p:sp>
      <p:sp>
        <p:nvSpPr>
          <p:cNvPr id="7" name="">
            <a:extLst xmlns:a="http://schemas.openxmlformats.org/drawingml/2006/main">
              <a:ext uri="{FF2B5EF4-FFF2-40B4-BE49-F238E27FC236}">
                <a16:creationId xmlns:a16="http://schemas.microsoft.com/office/drawing/2014/main" id="{2FC39327-A8A9-4D5E-9627-D2B200B29E9E}"/>
              </a:ext>
            </a:extLst>
          </p:cNvPr>
          <p:cNvSpPr>
            <a:spLocks xmlns:a="http://schemas.openxmlformats.org/drawingml/2006/main" noGrp="1"/>
          </p:cNvSpPr>
          <p:nvPr/>
        </p:nvSpPr>
        <p:spPr>
          <a:xfrm xmlns:a="http://schemas.openxmlformats.org/drawingml/2006/main">
            <a:off x="552450" y="38004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961A86"/>
                </a:solidFill>
                <a:latin typeface="Arial"/>
                <a:ea typeface="Arial"/>
                <a:cs typeface="Arial"/>
              </a:defRPr>
            </a:defPPr>
          </a:lstStyle>
          <a:p xmlns:a="http://schemas.openxmlformats.org/drawingml/2006/main">
            <a:pPr>
              <a:defRPr sz="1875" b="1">
                <a:solidFill>
                  <a:srgbClr val="961A86"/>
                </a:solidFill>
                <a:latin typeface="Arial"/>
                <a:ea typeface="Arial"/>
                <a:cs typeface="Arial"/>
              </a:defRPr>
            </a:pPr>
            <a:r>
              <a:rPr sz="1875" b="1">
                <a:solidFill>
                  <a:srgbClr val="961A86"/>
                </a:solidFill>
                <a:latin typeface="Arial"/>
                <a:ea typeface="Arial"/>
                <a:cs typeface="Arial"/>
              </a:rPr>
              <a:t>Art improvement</a:t>
            </a:r>
          </a:p>
        </p:txBody>
      </p:sp>
      <p:sp>
        <p:nvSpPr>
          <p:cNvPr id="8" name="">
            <a:extLst xmlns:a="http://schemas.openxmlformats.org/drawingml/2006/main">
              <a:ext uri="{FF2B5EF4-FFF2-40B4-BE49-F238E27FC236}">
                <a16:creationId xmlns:a16="http://schemas.microsoft.com/office/drawing/2014/main" id="{9F9F7AD5-51E0-43E6-869B-A05CA26CD78A}"/>
              </a:ext>
            </a:extLst>
          </p:cNvPr>
          <p:cNvSpPr>
            <a:spLocks xmlns:a="http://schemas.openxmlformats.org/drawingml/2006/main" noGrp="1"/>
          </p:cNvSpPr>
          <p:nvPr/>
        </p:nvSpPr>
        <p:spPr>
          <a:xfrm xmlns:a="http://schemas.openxmlformats.org/drawingml/2006/main">
            <a:off x="552450" y="4200525"/>
            <a:ext cx="4572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51515"/>
                </a:solidFill>
                <a:latin typeface="Arial"/>
                <a:ea typeface="Arial"/>
                <a:cs typeface="Arial"/>
              </a:defRPr>
            </a:defPPr>
          </a:lstStyle>
          <a:p xmlns:a="http://schemas.openxmlformats.org/drawingml/2006/main">
            <a:pPr>
              <a:defRPr sz="1875" b="0">
                <a:solidFill>
                  <a:srgbClr val="151515"/>
                </a:solidFill>
                <a:latin typeface="Arial"/>
                <a:ea typeface="Arial"/>
                <a:cs typeface="Arial"/>
              </a:defRPr>
            </a:pPr>
            <a:r>
              <a:rPr sz="1875" b="0">
                <a:solidFill>
                  <a:srgbClr val="151515"/>
                </a:solidFill>
                <a:latin typeface="Arial"/>
                <a:ea typeface="Arial"/>
                <a:cs typeface="Arial"/>
              </a:rPr>
              <a:t>Refine the body and side grille against the supplied product references.</a:t>
            </a:r>
          </a:p>
        </p:txBody>
      </p:sp>
      <p:sp>
        <p:nvSpPr>
          <p:cNvPr id="9" name="">
            <a:extLst xmlns:a="http://schemas.openxmlformats.org/drawingml/2006/main">
              <a:ext uri="{FF2B5EF4-FFF2-40B4-BE49-F238E27FC236}">
                <a16:creationId xmlns:a16="http://schemas.microsoft.com/office/drawing/2014/main" id="{AC2C458A-E957-409D-B534-F62DA4872744}"/>
              </a:ext>
            </a:extLst>
          </p:cNvPr>
          <p:cNvSpPr>
            <a:spLocks xmlns:a="http://schemas.openxmlformats.org/drawingml/2006/main" noGrp="1"/>
          </p:cNvSpPr>
          <p:nvPr/>
        </p:nvSpPr>
        <p:spPr>
          <a:xfrm xmlns:a="http://schemas.openxmlformats.org/drawingml/2006/main">
            <a:off x="552450" y="500062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961A86"/>
                </a:solidFill>
                <a:latin typeface="Arial"/>
                <a:ea typeface="Arial"/>
                <a:cs typeface="Arial"/>
              </a:defRPr>
            </a:defPPr>
          </a:lstStyle>
          <a:p xmlns:a="http://schemas.openxmlformats.org/drawingml/2006/main">
            <a:pPr>
              <a:defRPr sz="1875" b="1">
                <a:solidFill>
                  <a:srgbClr val="961A86"/>
                </a:solidFill>
                <a:latin typeface="Arial"/>
                <a:ea typeface="Arial"/>
                <a:cs typeface="Arial"/>
              </a:defRPr>
            </a:pPr>
            <a:r>
              <a:rPr sz="1875" b="1">
                <a:solidFill>
                  <a:srgbClr val="961A86"/>
                </a:solidFill>
                <a:latin typeface="Arial"/>
                <a:ea typeface="Arial"/>
                <a:cs typeface="Arial"/>
              </a:rPr>
              <a:t>Web improvement</a:t>
            </a:r>
          </a:p>
        </p:txBody>
      </p:sp>
      <p:sp>
        <p:nvSpPr>
          <p:cNvPr id="10" name="">
            <a:extLst xmlns:a="http://schemas.openxmlformats.org/drawingml/2006/main">
              <a:ext uri="{FF2B5EF4-FFF2-40B4-BE49-F238E27FC236}">
                <a16:creationId xmlns:a16="http://schemas.microsoft.com/office/drawing/2014/main" id="{F0428661-E639-48A4-8D24-816D73A2AA1E}"/>
              </a:ext>
            </a:extLst>
          </p:cNvPr>
          <p:cNvSpPr>
            <a:spLocks xmlns:a="http://schemas.openxmlformats.org/drawingml/2006/main" noGrp="1"/>
          </p:cNvSpPr>
          <p:nvPr/>
        </p:nvSpPr>
        <p:spPr>
          <a:xfrm xmlns:a="http://schemas.openxmlformats.org/drawingml/2006/main">
            <a:off x="552450" y="5400675"/>
            <a:ext cx="4572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51515"/>
                </a:solidFill>
                <a:latin typeface="Arial"/>
                <a:ea typeface="Arial"/>
                <a:cs typeface="Arial"/>
              </a:defRPr>
            </a:defPPr>
          </a:lstStyle>
          <a:p xmlns:a="http://schemas.openxmlformats.org/drawingml/2006/main">
            <a:pPr>
              <a:defRPr sz="1875" b="0">
                <a:solidFill>
                  <a:srgbClr val="151515"/>
                </a:solidFill>
                <a:latin typeface="Arial"/>
                <a:ea typeface="Arial"/>
                <a:cs typeface="Arial"/>
              </a:defRPr>
            </a:pPr>
            <a:r>
              <a:rPr sz="1875" b="0">
                <a:solidFill>
                  <a:srgbClr val="151515"/>
                </a:solidFill>
                <a:latin typeface="Arial"/>
                <a:ea typeface="Arial"/>
                <a:cs typeface="Arial"/>
              </a:rPr>
              <a:t>Keep rotate, pan, zoom and reset controls in the LightMetrics theme.</a:t>
            </a:r>
          </a:p>
        </p:txBody>
      </p:sp>
      <p:pic>
        <p:nvPicPr>
          <p:cNvPr id="11" name="">
            <a:extLst xmlns:a="http://schemas.openxmlformats.org/drawingml/2006/main">
              <a:ext uri="{FF2B5EF4-FFF2-40B4-BE49-F238E27FC236}">
                <a16:creationId xmlns:a16="http://schemas.microsoft.com/office/drawing/2014/main" id="{15865C73-8CDD-4845-8459-9F65B449D67D}"/>
              </a:ext>
            </a:extLst>
          </p:cNvPr>
          <p:cNvPicPr>
            <a:picLocks xmlns:a="http://schemas.openxmlformats.org/drawingml/2006/main" noChangeAspect="1"/>
          </p:cNvPicPr>
          <p:nvPr/>
        </p:nvPicPr>
        <p:blipFill>
          <a:blip xmlns:r="http://schemas.openxmlformats.org/officeDocument/2006/relationships" xmlns:a="http://schemas.openxmlformats.org/drawingml/2006/main" r:embed="R5eb38e52b51c4dc9"/>
          <a:stretch xmlns:a="http://schemas.openxmlformats.org/drawingml/2006/main"/>
        </p:blipFill>
        <p:spPr>
          <a:xfrm xmlns:a="http://schemas.openxmlformats.org/drawingml/2006/main">
            <a:off x="6455175" y="2571750"/>
            <a:ext cx="4425150" cy="31623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464E7284-5DB6-4645-9DC8-2447BCBB63CF}"/>
              </a:ext>
            </a:extLst>
          </p:cNvPr>
          <p:cNvSpPr>
            <a:spLocks xmlns:a="http://schemas.openxmlformats.org/drawingml/2006/main" noGrp="1"/>
          </p:cNvSpPr>
          <p:nvPr/>
        </p:nvSpPr>
        <p:spPr>
          <a:xfrm xmlns:a="http://schemas.openxmlformats.org/drawingml/2006/main">
            <a:off x="5667375" y="5962650"/>
            <a:ext cx="600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66666"/>
                </a:solidFill>
                <a:latin typeface="Arial"/>
                <a:ea typeface="Arial"/>
                <a:cs typeface="Arial"/>
              </a:defRPr>
            </a:defPPr>
          </a:lstStyle>
          <a:p xmlns:a="http://schemas.openxmlformats.org/drawingml/2006/main">
            <a:pPr>
              <a:defRPr sz="1275" b="0">
                <a:solidFill>
                  <a:srgbClr val="666666"/>
                </a:solidFill>
                <a:latin typeface="Arial"/>
                <a:ea typeface="Arial"/>
                <a:cs typeface="Arial"/>
              </a:defRPr>
            </a:pPr>
            <a:r>
              <a:rPr sz="1275" b="0">
                <a:solidFill>
                  <a:srgbClr val="666666"/>
                </a:solidFill>
                <a:latin typeface="Arial"/>
                <a:ea typeface="Arial"/>
                <a:cs typeface="Arial"/>
              </a:rPr>
              <a:t>Existing project capture, not a new implementation</a:t>
            </a:r>
          </a:p>
        </p:txBody>
      </p:sp>
    </p:spTree>
    <p:extLst>
      <p:ext uri="{BB962C8B-B14F-4D97-AF65-F5344CB8AC3E}">
        <p14:creationId xmlns:p14="http://schemas.microsoft.com/office/powerpoint/2010/main" val="103064609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8F2F73E-461D-4978-B7E6-4925211EF596}"/>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LIGHTMETRICS   /   3D EXPLORATION</a:t>
            </a:r>
          </a:p>
        </p:txBody>
      </p:sp>
      <p:sp>
        <p:nvSpPr>
          <p:cNvPr id="2" name="">
            <a:extLst xmlns:a="http://schemas.openxmlformats.org/drawingml/2006/main">
              <a:ext uri="{FF2B5EF4-FFF2-40B4-BE49-F238E27FC236}">
                <a16:creationId xmlns:a16="http://schemas.microsoft.com/office/drawing/2014/main" id="{AD745A19-BB4F-4E06-8651-2AFF60E533AB}"/>
              </a:ext>
            </a:extLst>
          </p:cNvPr>
          <p:cNvSpPr>
            <a:spLocks xmlns:a="http://schemas.openxmlformats.org/drawingml/2006/main" noGrp="1"/>
          </p:cNvSpPr>
          <p:nvPr/>
        </p:nvSpPr>
        <p:spPr>
          <a:xfrm xmlns:a="http://schemas.openxmlformats.org/drawingml/2006/main">
            <a:off x="11049000" y="2857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26</a:t>
            </a:r>
          </a:p>
        </p:txBody>
      </p:sp>
      <p:sp>
        <p:nvSpPr>
          <p:cNvPr id="3" name="">
            <a:extLst xmlns:a="http://schemas.openxmlformats.org/drawingml/2006/main">
              <a:ext uri="{FF2B5EF4-FFF2-40B4-BE49-F238E27FC236}">
                <a16:creationId xmlns:a16="http://schemas.microsoft.com/office/drawing/2014/main" id="{EFC7C6B6-E1DA-4DE0-9068-1B994456A0CF}"/>
              </a:ext>
            </a:extLst>
          </p:cNvPr>
          <p:cNvSpPr>
            <a:spLocks xmlns:a="http://schemas.openxmlformats.org/drawingml/2006/main" noGrp="1"/>
          </p:cNvSpPr>
          <p:nvPr/>
        </p:nvSpPr>
        <p:spPr>
          <a:xfrm xmlns:a="http://schemas.openxmlformats.org/drawingml/2006/main">
            <a:off x="533400" y="89535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151515"/>
                </a:solidFill>
                <a:latin typeface="Arial"/>
                <a:ea typeface="Arial"/>
                <a:cs typeface="Arial"/>
              </a:defRPr>
            </a:defPPr>
          </a:lstStyle>
          <a:p xmlns:a="http://schemas.openxmlformats.org/drawingml/2006/main">
            <a:pPr>
              <a:defRPr sz="3300" b="0">
                <a:solidFill>
                  <a:srgbClr val="151515"/>
                </a:solidFill>
                <a:latin typeface="Arial"/>
                <a:ea typeface="Arial"/>
                <a:cs typeface="Arial"/>
              </a:defRPr>
            </a:pPr>
            <a:r>
              <a:rPr sz="3300" b="0">
                <a:solidFill>
                  <a:srgbClr val="151515"/>
                </a:solidFill>
                <a:latin typeface="Arial"/>
                <a:ea typeface="Arial"/>
                <a:cs typeface="Arial"/>
              </a:rPr>
              <a:t>A practical learning path</a:t>
            </a:r>
          </a:p>
        </p:txBody>
      </p:sp>
      <p:sp>
        <p:nvSpPr>
          <p:cNvPr id="4" name="">
            <a:extLst xmlns:a="http://schemas.openxmlformats.org/drawingml/2006/main">
              <a:ext uri="{FF2B5EF4-FFF2-40B4-BE49-F238E27FC236}">
                <a16:creationId xmlns:a16="http://schemas.microsoft.com/office/drawing/2014/main" id="{C3A4247F-235D-42E5-B8A3-B5DEC14392D2}"/>
              </a:ext>
            </a:extLst>
          </p:cNvPr>
          <p:cNvSpPr>
            <a:spLocks xmlns:a="http://schemas.openxmlformats.org/drawingml/2006/main" noGrp="1"/>
          </p:cNvSpPr>
          <p:nvPr/>
        </p:nvSpPr>
        <p:spPr>
          <a:xfrm xmlns:a="http://schemas.openxmlformats.org/drawingml/2006/main">
            <a:off x="552450" y="16764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6666"/>
                </a:solidFill>
                <a:latin typeface="Arial"/>
                <a:ea typeface="Arial"/>
                <a:cs typeface="Arial"/>
              </a:defRPr>
            </a:defPPr>
          </a:lstStyle>
          <a:p xmlns:a="http://schemas.openxmlformats.org/drawingml/2006/main">
            <a:pPr>
              <a:defRPr sz="1875" b="0">
                <a:solidFill>
                  <a:srgbClr val="666666"/>
                </a:solidFill>
                <a:latin typeface="Arial"/>
                <a:ea typeface="Arial"/>
                <a:cs typeface="Arial"/>
              </a:defRPr>
            </a:pPr>
            <a:r>
              <a:rPr sz="1875" b="0">
                <a:solidFill>
                  <a:srgbClr val="666666"/>
                </a:solidFill>
                <a:latin typeface="Arial"/>
                <a:ea typeface="Arial"/>
                <a:cs typeface="Arial"/>
              </a:rPr>
              <a:t>Each discipline can begin with a small, shared product example.</a:t>
            </a:r>
          </a:p>
        </p:txBody>
      </p:sp>
      <p:sp>
        <p:nvSpPr>
          <p:cNvPr id="5" name="">
            <a:extLst xmlns:a="http://schemas.openxmlformats.org/drawingml/2006/main">
              <a:ext uri="{FF2B5EF4-FFF2-40B4-BE49-F238E27FC236}">
                <a16:creationId xmlns:a16="http://schemas.microsoft.com/office/drawing/2014/main" id="{3DE2DB9F-A20E-4392-82C6-E5C93704A791}"/>
              </a:ext>
            </a:extLst>
          </p:cNvPr>
          <p:cNvSpPr>
            <a:spLocks xmlns:a="http://schemas.openxmlformats.org/drawingml/2006/main" noGrp="1"/>
          </p:cNvSpPr>
          <p:nvPr/>
        </p:nvSpPr>
        <p:spPr>
          <a:xfrm xmlns:a="http://schemas.openxmlformats.org/drawingml/2006/main">
            <a:off x="552450" y="260032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Beginner</a:t>
            </a:r>
          </a:p>
        </p:txBody>
      </p:sp>
      <p:sp>
        <p:nvSpPr>
          <p:cNvPr id="6" name="">
            <a:extLst xmlns:a="http://schemas.openxmlformats.org/drawingml/2006/main">
              <a:ext uri="{FF2B5EF4-FFF2-40B4-BE49-F238E27FC236}">
                <a16:creationId xmlns:a16="http://schemas.microsoft.com/office/drawing/2014/main" id="{0B52D203-1F5D-4CB5-B244-E8111F67FDDC}"/>
              </a:ext>
            </a:extLst>
          </p:cNvPr>
          <p:cNvSpPr>
            <a:spLocks xmlns:a="http://schemas.openxmlformats.org/drawingml/2006/main" noGrp="1"/>
          </p:cNvSpPr>
          <p:nvPr/>
        </p:nvSpPr>
        <p:spPr>
          <a:xfrm xmlns:a="http://schemas.openxmlformats.org/drawingml/2006/main">
            <a:off x="3886200" y="26003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Load a sample GLB, rotate it and learn the six basic terms.</a:t>
            </a:r>
          </a:p>
        </p:txBody>
      </p:sp>
      <p:sp>
        <p:nvSpPr>
          <p:cNvPr id="7" name="">
            <a:extLst xmlns:a="http://schemas.openxmlformats.org/drawingml/2006/main">
              <a:ext uri="{FF2B5EF4-FFF2-40B4-BE49-F238E27FC236}">
                <a16:creationId xmlns:a16="http://schemas.microsoft.com/office/drawing/2014/main" id="{100B3930-155C-4608-ADAD-978280217A7C}"/>
              </a:ext>
            </a:extLst>
          </p:cNvPr>
          <p:cNvSpPr>
            <a:spLocks xmlns:a="http://schemas.openxmlformats.org/drawingml/2006/main" noGrp="1"/>
          </p:cNvSpPr>
          <p:nvPr/>
        </p:nvSpPr>
        <p:spPr>
          <a:xfrm xmlns:a="http://schemas.openxmlformats.org/drawingml/2006/main">
            <a:off x="552450" y="332422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Designer</a:t>
            </a:r>
          </a:p>
        </p:txBody>
      </p:sp>
      <p:sp>
        <p:nvSpPr>
          <p:cNvPr id="8" name="">
            <a:extLst xmlns:a="http://schemas.openxmlformats.org/drawingml/2006/main">
              <a:ext uri="{FF2B5EF4-FFF2-40B4-BE49-F238E27FC236}">
                <a16:creationId xmlns:a16="http://schemas.microsoft.com/office/drawing/2014/main" id="{7D00B37E-AC2D-46EE-BCF0-B60C9E729E1D}"/>
              </a:ext>
            </a:extLst>
          </p:cNvPr>
          <p:cNvSpPr>
            <a:spLocks xmlns:a="http://schemas.openxmlformats.org/drawingml/2006/main" noGrp="1"/>
          </p:cNvSpPr>
          <p:nvPr/>
        </p:nvSpPr>
        <p:spPr>
          <a:xfrm xmlns:a="http://schemas.openxmlformats.org/drawingml/2006/main">
            <a:off x="3886200" y="33242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Specify initial view, control behavior and a mobile fallback.</a:t>
            </a:r>
          </a:p>
        </p:txBody>
      </p:sp>
      <p:sp>
        <p:nvSpPr>
          <p:cNvPr id="9" name="">
            <a:extLst xmlns:a="http://schemas.openxmlformats.org/drawingml/2006/main">
              <a:ext uri="{FF2B5EF4-FFF2-40B4-BE49-F238E27FC236}">
                <a16:creationId xmlns:a16="http://schemas.microsoft.com/office/drawing/2014/main" id="{4C00D3B5-906C-4B61-9D0D-01A31C8F1ED2}"/>
              </a:ext>
            </a:extLst>
          </p:cNvPr>
          <p:cNvSpPr>
            <a:spLocks xmlns:a="http://schemas.openxmlformats.org/drawingml/2006/main" noGrp="1"/>
          </p:cNvSpPr>
          <p:nvPr/>
        </p:nvSpPr>
        <p:spPr>
          <a:xfrm xmlns:a="http://schemas.openxmlformats.org/drawingml/2006/main">
            <a:off x="552450" y="404812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Artist / motion designer</a:t>
            </a:r>
          </a:p>
        </p:txBody>
      </p:sp>
      <p:sp>
        <p:nvSpPr>
          <p:cNvPr id="10" name="">
            <a:extLst xmlns:a="http://schemas.openxmlformats.org/drawingml/2006/main">
              <a:ext uri="{FF2B5EF4-FFF2-40B4-BE49-F238E27FC236}">
                <a16:creationId xmlns:a16="http://schemas.microsoft.com/office/drawing/2014/main" id="{2860A78E-BA19-4972-AA12-D7863DFA0DBF}"/>
              </a:ext>
            </a:extLst>
          </p:cNvPr>
          <p:cNvSpPr>
            <a:spLocks xmlns:a="http://schemas.openxmlformats.org/drawingml/2006/main" noGrp="1"/>
          </p:cNvSpPr>
          <p:nvPr/>
        </p:nvSpPr>
        <p:spPr>
          <a:xfrm xmlns:a="http://schemas.openxmlformats.org/drawingml/2006/main">
            <a:off x="3886200" y="40481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Export one model and one animation clip. Compare the browser result.</a:t>
            </a:r>
          </a:p>
        </p:txBody>
      </p:sp>
      <p:sp>
        <p:nvSpPr>
          <p:cNvPr id="11" name="">
            <a:extLst xmlns:a="http://schemas.openxmlformats.org/drawingml/2006/main">
              <a:ext uri="{FF2B5EF4-FFF2-40B4-BE49-F238E27FC236}">
                <a16:creationId xmlns:a16="http://schemas.microsoft.com/office/drawing/2014/main" id="{0D975D81-374E-4123-A7F9-EFBE534AB153}"/>
              </a:ext>
            </a:extLst>
          </p:cNvPr>
          <p:cNvSpPr>
            <a:spLocks xmlns:a="http://schemas.openxmlformats.org/drawingml/2006/main" noGrp="1"/>
          </p:cNvSpPr>
          <p:nvPr/>
        </p:nvSpPr>
        <p:spPr>
          <a:xfrm xmlns:a="http://schemas.openxmlformats.org/drawingml/2006/main">
            <a:off x="552450" y="477202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Developer</a:t>
            </a:r>
          </a:p>
        </p:txBody>
      </p:sp>
      <p:sp>
        <p:nvSpPr>
          <p:cNvPr id="12" name="">
            <a:extLst xmlns:a="http://schemas.openxmlformats.org/drawingml/2006/main">
              <a:ext uri="{FF2B5EF4-FFF2-40B4-BE49-F238E27FC236}">
                <a16:creationId xmlns:a16="http://schemas.microsoft.com/office/drawing/2014/main" id="{EEFC6247-ABE4-461C-AC30-A88C329E8C89}"/>
              </a:ext>
            </a:extLst>
          </p:cNvPr>
          <p:cNvSpPr>
            <a:spLocks xmlns:a="http://schemas.openxmlformats.org/drawingml/2006/main" noGrp="1"/>
          </p:cNvSpPr>
          <p:nvPr/>
        </p:nvSpPr>
        <p:spPr>
          <a:xfrm xmlns:a="http://schemas.openxmlformats.org/drawingml/2006/main">
            <a:off x="3886200" y="47720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Build loading and error states, connect controls and measure performance.</a:t>
            </a:r>
          </a:p>
        </p:txBody>
      </p:sp>
      <p:sp>
        <p:nvSpPr>
          <p:cNvPr id="13" name="">
            <a:extLst xmlns:a="http://schemas.openxmlformats.org/drawingml/2006/main">
              <a:ext uri="{FF2B5EF4-FFF2-40B4-BE49-F238E27FC236}">
                <a16:creationId xmlns:a16="http://schemas.microsoft.com/office/drawing/2014/main" id="{54925692-5BA1-44EA-A193-A06C0AE820A4}"/>
              </a:ext>
            </a:extLst>
          </p:cNvPr>
          <p:cNvSpPr>
            <a:spLocks xmlns:a="http://schemas.openxmlformats.org/drawingml/2006/main" noGrp="1"/>
          </p:cNvSpPr>
          <p:nvPr/>
        </p:nvSpPr>
        <p:spPr>
          <a:xfrm xmlns:a="http://schemas.openxmlformats.org/drawingml/2006/main">
            <a:off x="552450" y="549592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Intermediate team</a:t>
            </a:r>
          </a:p>
        </p:txBody>
      </p:sp>
      <p:sp>
        <p:nvSpPr>
          <p:cNvPr id="14" name="">
            <a:extLst xmlns:a="http://schemas.openxmlformats.org/drawingml/2006/main">
              <a:ext uri="{FF2B5EF4-FFF2-40B4-BE49-F238E27FC236}">
                <a16:creationId xmlns:a16="http://schemas.microsoft.com/office/drawing/2014/main" id="{22B6904B-2846-43AE-ABA4-93BA57BDD0AE}"/>
              </a:ext>
            </a:extLst>
          </p:cNvPr>
          <p:cNvSpPr>
            <a:spLocks xmlns:a="http://schemas.openxmlformats.org/drawingml/2006/main" noGrp="1"/>
          </p:cNvSpPr>
          <p:nvPr/>
        </p:nvSpPr>
        <p:spPr>
          <a:xfrm xmlns:a="http://schemas.openxmlformats.org/drawingml/2006/main">
            <a:off x="3886200" y="54959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Add one hotspot or variant, then test with real users and devices.</a:t>
            </a:r>
          </a:p>
        </p:txBody>
      </p:sp>
    </p:spTree>
    <p:extLst>
      <p:ext uri="{BB962C8B-B14F-4D97-AF65-F5344CB8AC3E}">
        <p14:creationId xmlns:p14="http://schemas.microsoft.com/office/powerpoint/2010/main" val="10609837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B765D4E-55A5-4D4C-B177-FEC7F71BB021}"/>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LIGHTMETRICS   /   3D EXPLORATION</a:t>
            </a:r>
          </a:p>
        </p:txBody>
      </p:sp>
      <p:sp>
        <p:nvSpPr>
          <p:cNvPr id="2" name="">
            <a:extLst xmlns:a="http://schemas.openxmlformats.org/drawingml/2006/main">
              <a:ext uri="{FF2B5EF4-FFF2-40B4-BE49-F238E27FC236}">
                <a16:creationId xmlns:a16="http://schemas.microsoft.com/office/drawing/2014/main" id="{555C9E5B-9E3A-4892-9C8B-D5513BA03C2C}"/>
              </a:ext>
            </a:extLst>
          </p:cNvPr>
          <p:cNvSpPr>
            <a:spLocks xmlns:a="http://schemas.openxmlformats.org/drawingml/2006/main" noGrp="1"/>
          </p:cNvSpPr>
          <p:nvPr/>
        </p:nvSpPr>
        <p:spPr>
          <a:xfrm xmlns:a="http://schemas.openxmlformats.org/drawingml/2006/main">
            <a:off x="11049000" y="2857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27</a:t>
            </a:r>
          </a:p>
        </p:txBody>
      </p:sp>
      <p:sp>
        <p:nvSpPr>
          <p:cNvPr id="3" name="">
            <a:extLst xmlns:a="http://schemas.openxmlformats.org/drawingml/2006/main">
              <a:ext uri="{FF2B5EF4-FFF2-40B4-BE49-F238E27FC236}">
                <a16:creationId xmlns:a16="http://schemas.microsoft.com/office/drawing/2014/main" id="{4C50A665-DACD-439E-B163-6C41A2749D69}"/>
              </a:ext>
            </a:extLst>
          </p:cNvPr>
          <p:cNvSpPr>
            <a:spLocks xmlns:a="http://schemas.openxmlformats.org/drawingml/2006/main" noGrp="1"/>
          </p:cNvSpPr>
          <p:nvPr/>
        </p:nvSpPr>
        <p:spPr>
          <a:xfrm xmlns:a="http://schemas.openxmlformats.org/drawingml/2006/main">
            <a:off x="533400" y="89535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151515"/>
                </a:solidFill>
                <a:latin typeface="Arial"/>
                <a:ea typeface="Arial"/>
                <a:cs typeface="Arial"/>
              </a:defRPr>
            </a:defPPr>
          </a:lstStyle>
          <a:p xmlns:a="http://schemas.openxmlformats.org/drawingml/2006/main">
            <a:pPr>
              <a:defRPr sz="3300" b="0">
                <a:solidFill>
                  <a:srgbClr val="151515"/>
                </a:solidFill>
                <a:latin typeface="Arial"/>
                <a:ea typeface="Arial"/>
                <a:cs typeface="Arial"/>
              </a:defRPr>
            </a:pPr>
            <a:r>
              <a:rPr sz="3300" b="0">
                <a:solidFill>
                  <a:srgbClr val="151515"/>
                </a:solidFill>
                <a:latin typeface="Arial"/>
                <a:ea typeface="Arial"/>
                <a:cs typeface="Arial"/>
              </a:rPr>
              <a:t>Example: a simple product embed</a:t>
            </a:r>
          </a:p>
        </p:txBody>
      </p:sp>
      <p:sp>
        <p:nvSpPr>
          <p:cNvPr id="4" name="">
            <a:extLst xmlns:a="http://schemas.openxmlformats.org/drawingml/2006/main">
              <a:ext uri="{FF2B5EF4-FFF2-40B4-BE49-F238E27FC236}">
                <a16:creationId xmlns:a16="http://schemas.microsoft.com/office/drawing/2014/main" id="{E2340E8F-B377-4F26-8B54-6F4C3B10CFEA}"/>
              </a:ext>
            </a:extLst>
          </p:cNvPr>
          <p:cNvSpPr>
            <a:spLocks xmlns:a="http://schemas.openxmlformats.org/drawingml/2006/main" noGrp="1"/>
          </p:cNvSpPr>
          <p:nvPr/>
        </p:nvSpPr>
        <p:spPr>
          <a:xfrm xmlns:a="http://schemas.openxmlformats.org/drawingml/2006/main">
            <a:off x="552450" y="16764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6666"/>
                </a:solidFill>
                <a:latin typeface="Arial"/>
                <a:ea typeface="Arial"/>
                <a:cs typeface="Arial"/>
              </a:defRPr>
            </a:defPPr>
          </a:lstStyle>
          <a:p xmlns:a="http://schemas.openxmlformats.org/drawingml/2006/main">
            <a:pPr>
              <a:defRPr sz="1875" b="0">
                <a:solidFill>
                  <a:srgbClr val="666666"/>
                </a:solidFill>
                <a:latin typeface="Arial"/>
                <a:ea typeface="Arial"/>
                <a:cs typeface="Arial"/>
              </a:defRPr>
            </a:pPr>
            <a:r>
              <a:rPr sz="1875" b="0">
                <a:solidFill>
                  <a:srgbClr val="666666"/>
                </a:solidFill>
                <a:latin typeface="Arial"/>
                <a:ea typeface="Arial"/>
                <a:cs typeface="Arial"/>
              </a:rPr>
              <a:t>For developers and designers working with custom HTML.</a:t>
            </a:r>
          </a:p>
        </p:txBody>
      </p:sp>
      <p:sp>
        <p:nvSpPr>
          <p:cNvPr id="5" name="">
            <a:extLst xmlns:a="http://schemas.openxmlformats.org/drawingml/2006/main">
              <a:ext uri="{FF2B5EF4-FFF2-40B4-BE49-F238E27FC236}">
                <a16:creationId xmlns:a16="http://schemas.microsoft.com/office/drawing/2014/main" id="{93A9DC94-4853-439E-AA81-D1066AAA275A}"/>
              </a:ext>
            </a:extLst>
          </p:cNvPr>
          <p:cNvSpPr>
            <a:spLocks xmlns:a="http://schemas.openxmlformats.org/drawingml/2006/main" noGrp="1"/>
          </p:cNvSpPr>
          <p:nvPr/>
        </p:nvSpPr>
        <p:spPr>
          <a:xfrm xmlns:a="http://schemas.openxmlformats.org/drawingml/2006/main">
            <a:off x="609600" y="2400300"/>
            <a:ext cx="1095375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51515"/>
                </a:solidFill>
                <a:latin typeface="Arial"/>
                <a:ea typeface="Arial"/>
                <a:cs typeface="Arial"/>
              </a:defRPr>
            </a:defPPr>
          </a:lstStyle>
          <a:p xmlns:a="http://schemas.openxmlformats.org/drawingml/2006/main">
            <a:pPr>
              <a:defRPr sz="1575" b="0">
                <a:solidFill>
                  <a:srgbClr val="151515"/>
                </a:solidFill>
                <a:latin typeface="Arial"/>
                <a:ea typeface="Arial"/>
                <a:cs typeface="Arial"/>
              </a:defRPr>
            </a:pPr>
            <a:r>
              <a:rPr sz="1575" b="0">
                <a:solidFill>
                  <a:srgbClr val="151515"/>
                </a:solidFill>
                <a:latin typeface="Arial"/>
                <a:ea typeface="Arial"/>
                <a:cs typeface="Arial"/>
              </a:rPr>
              <a:t>&lt;!-- After loading the model-viewer module --&gt;</a:t>
            </a:r>
          </a:p>
          <a:p xmlns:a="http://schemas.openxmlformats.org/drawingml/2006/main">
            <a:pPr>
              <a:defRPr sz="1575" b="0">
                <a:solidFill>
                  <a:srgbClr val="151515"/>
                </a:solidFill>
                <a:latin typeface="Arial"/>
                <a:ea typeface="Arial"/>
                <a:cs typeface="Arial"/>
              </a:defRPr>
            </a:pPr>
            <a:r>
              <a:rPr sz="1575" b="0">
                <a:solidFill>
                  <a:srgbClr val="151515"/>
                </a:solidFill>
                <a:latin typeface="Arial"/>
                <a:ea typeface="Arial"/>
                <a:cs typeface="Arial"/>
              </a:rPr>
              <a:t>&lt;model-viewer</a:t>
            </a:r>
          </a:p>
          <a:p xmlns:a="http://schemas.openxmlformats.org/drawingml/2006/main">
            <a:pPr>
              <a:defRPr sz="1575" b="0">
                <a:solidFill>
                  <a:srgbClr val="151515"/>
                </a:solidFill>
                <a:latin typeface="Arial"/>
                <a:ea typeface="Arial"/>
                <a:cs typeface="Arial"/>
              </a:defRPr>
            </a:pPr>
            <a:r>
              <a:rPr sz="1575" b="0">
                <a:solidFill>
                  <a:srgbClr val="151515"/>
                </a:solidFill>
                <a:latin typeface="Arial"/>
                <a:ea typeface="Arial"/>
                <a:cs typeface="Arial"/>
              </a:rPr>
              <a:t>  src="/models/camera.glb"</a:t>
            </a:r>
          </a:p>
          <a:p xmlns:a="http://schemas.openxmlformats.org/drawingml/2006/main">
            <a:pPr>
              <a:defRPr sz="1575" b="0">
                <a:solidFill>
                  <a:srgbClr val="151515"/>
                </a:solidFill>
                <a:latin typeface="Arial"/>
                <a:ea typeface="Arial"/>
                <a:cs typeface="Arial"/>
              </a:defRPr>
            </a:pPr>
            <a:r>
              <a:rPr sz="1575" b="0">
                <a:solidFill>
                  <a:srgbClr val="151515"/>
                </a:solidFill>
                <a:latin typeface="Arial"/>
                <a:ea typeface="Arial"/>
                <a:cs typeface="Arial"/>
              </a:rPr>
              <a:t>  poster="/images/camera.webp"</a:t>
            </a:r>
          </a:p>
          <a:p xmlns:a="http://schemas.openxmlformats.org/drawingml/2006/main">
            <a:pPr>
              <a:defRPr sz="1575" b="0">
                <a:solidFill>
                  <a:srgbClr val="151515"/>
                </a:solidFill>
                <a:latin typeface="Arial"/>
                <a:ea typeface="Arial"/>
                <a:cs typeface="Arial"/>
              </a:defRPr>
            </a:pPr>
            <a:r>
              <a:rPr sz="1575" b="0">
                <a:solidFill>
                  <a:srgbClr val="151515"/>
                </a:solidFill>
                <a:latin typeface="Arial"/>
                <a:ea typeface="Arial"/>
                <a:cs typeface="Arial"/>
              </a:rPr>
              <a:t>  alt="Interactive view of the camera"</a:t>
            </a:r>
          </a:p>
          <a:p xmlns:a="http://schemas.openxmlformats.org/drawingml/2006/main">
            <a:pPr>
              <a:defRPr sz="1575" b="0">
                <a:solidFill>
                  <a:srgbClr val="151515"/>
                </a:solidFill>
                <a:latin typeface="Arial"/>
                <a:ea typeface="Arial"/>
                <a:cs typeface="Arial"/>
              </a:defRPr>
            </a:pPr>
            <a:r>
              <a:rPr sz="1575" b="0">
                <a:solidFill>
                  <a:srgbClr val="151515"/>
                </a:solidFill>
                <a:latin typeface="Arial"/>
                <a:ea typeface="Arial"/>
                <a:cs typeface="Arial"/>
              </a:rPr>
              <a:t>  camera-controls</a:t>
            </a:r>
          </a:p>
          <a:p xmlns:a="http://schemas.openxmlformats.org/drawingml/2006/main">
            <a:pPr>
              <a:defRPr sz="1575" b="0">
                <a:solidFill>
                  <a:srgbClr val="151515"/>
                </a:solidFill>
                <a:latin typeface="Arial"/>
                <a:ea typeface="Arial"/>
                <a:cs typeface="Arial"/>
              </a:defRPr>
            </a:pPr>
            <a:r>
              <a:rPr sz="1575" b="0">
                <a:solidFill>
                  <a:srgbClr val="151515"/>
                </a:solidFill>
                <a:latin typeface="Arial"/>
                <a:ea typeface="Arial"/>
                <a:cs typeface="Arial"/>
              </a:rPr>
              <a:t>  touch-action="pan-y"</a:t>
            </a:r>
          </a:p>
          <a:p xmlns:a="http://schemas.openxmlformats.org/drawingml/2006/main">
            <a:pPr>
              <a:defRPr sz="1575" b="0">
                <a:solidFill>
                  <a:srgbClr val="151515"/>
                </a:solidFill>
                <a:latin typeface="Arial"/>
                <a:ea typeface="Arial"/>
                <a:cs typeface="Arial"/>
              </a:defRPr>
            </a:pPr>
            <a:r>
              <a:rPr sz="1575" b="0">
                <a:solidFill>
                  <a:srgbClr val="151515"/>
                </a:solidFill>
                <a:latin typeface="Arial"/>
                <a:ea typeface="Arial"/>
                <a:cs typeface="Arial"/>
              </a:rPr>
              <a:t>  style="width:100%; height:480px"&gt;</a:t>
            </a:r>
          </a:p>
          <a:p xmlns:a="http://schemas.openxmlformats.org/drawingml/2006/main">
            <a:pPr>
              <a:defRPr sz="1575" b="0">
                <a:solidFill>
                  <a:srgbClr val="151515"/>
                </a:solidFill>
                <a:latin typeface="Arial"/>
                <a:ea typeface="Arial"/>
                <a:cs typeface="Arial"/>
              </a:defRPr>
            </a:pPr>
            <a:r>
              <a:rPr sz="1575" b="0">
                <a:solidFill>
                  <a:srgbClr val="151515"/>
                </a:solidFill>
                <a:latin typeface="Arial"/>
                <a:ea typeface="Arial"/>
                <a:cs typeface="Arial"/>
              </a:rPr>
              <a:t>&lt;/model-viewer&gt;</a:t>
            </a:r>
          </a:p>
        </p:txBody>
      </p:sp>
      <p:sp>
        <p:nvSpPr>
          <p:cNvPr id="6" name="">
            <a:extLst xmlns:a="http://schemas.openxmlformats.org/drawingml/2006/main">
              <a:ext uri="{FF2B5EF4-FFF2-40B4-BE49-F238E27FC236}">
                <a16:creationId xmlns:a16="http://schemas.microsoft.com/office/drawing/2014/main" id="{49358D2A-661E-456F-B388-93DB48294F3E}"/>
              </a:ext>
            </a:extLst>
          </p:cNvPr>
          <p:cNvSpPr>
            <a:spLocks xmlns:a="http://schemas.openxmlformats.org/drawingml/2006/main" noGrp="1"/>
          </p:cNvSpPr>
          <p:nvPr/>
        </p:nvSpPr>
        <p:spPr>
          <a:xfrm xmlns:a="http://schemas.openxmlformats.org/drawingml/2006/main">
            <a:off x="609600" y="62293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961A86"/>
                </a:solidFill>
                <a:latin typeface="Arial"/>
                <a:ea typeface="Arial"/>
                <a:cs typeface="Arial"/>
              </a:defRPr>
            </a:defPPr>
          </a:lstStyle>
          <a:p xmlns:a="http://schemas.openxmlformats.org/drawingml/2006/main">
            <a:pPr>
              <a:defRPr sz="1500" b="0">
                <a:solidFill>
                  <a:srgbClr val="961A86"/>
                </a:solidFill>
                <a:latin typeface="Arial"/>
                <a:ea typeface="Arial"/>
                <a:cs typeface="Arial"/>
              </a:defRPr>
            </a:pPr>
            <a:r>
              <a:rPr sz="1500" b="0">
                <a:solidFill>
                  <a:srgbClr val="961A86"/>
                </a:solidFill>
                <a:latin typeface="Arial"/>
                <a:ea typeface="Arial"/>
                <a:cs typeface="Arial"/>
              </a:rPr>
              <a:t>The component handles the viewer. Your page still supplies layout, content and fallback behavior.</a:t>
            </a:r>
          </a:p>
        </p:txBody>
      </p:sp>
    </p:spTree>
    <p:extLst>
      <p:ext uri="{BB962C8B-B14F-4D97-AF65-F5344CB8AC3E}">
        <p14:creationId xmlns:p14="http://schemas.microsoft.com/office/powerpoint/2010/main" val="190797915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46F8865-70E8-4438-9F0D-2B118F3E9DB9}"/>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LIGHTMETRICS   /   3D EXPLORATION</a:t>
            </a:r>
          </a:p>
        </p:txBody>
      </p:sp>
      <p:sp>
        <p:nvSpPr>
          <p:cNvPr id="2" name="">
            <a:extLst xmlns:a="http://schemas.openxmlformats.org/drawingml/2006/main">
              <a:ext uri="{FF2B5EF4-FFF2-40B4-BE49-F238E27FC236}">
                <a16:creationId xmlns:a16="http://schemas.microsoft.com/office/drawing/2014/main" id="{4599BC5F-F9A3-4E2F-8C47-20FBDC990F27}"/>
              </a:ext>
            </a:extLst>
          </p:cNvPr>
          <p:cNvSpPr>
            <a:spLocks xmlns:a="http://schemas.openxmlformats.org/drawingml/2006/main" noGrp="1"/>
          </p:cNvSpPr>
          <p:nvPr/>
        </p:nvSpPr>
        <p:spPr>
          <a:xfrm xmlns:a="http://schemas.openxmlformats.org/drawingml/2006/main">
            <a:off x="11049000" y="2857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28</a:t>
            </a:r>
          </a:p>
        </p:txBody>
      </p:sp>
      <p:sp>
        <p:nvSpPr>
          <p:cNvPr id="3" name="">
            <a:extLst xmlns:a="http://schemas.openxmlformats.org/drawingml/2006/main">
              <a:ext uri="{FF2B5EF4-FFF2-40B4-BE49-F238E27FC236}">
                <a16:creationId xmlns:a16="http://schemas.microsoft.com/office/drawing/2014/main" id="{BF038282-E000-4889-BE84-E3CF727C07C2}"/>
              </a:ext>
            </a:extLst>
          </p:cNvPr>
          <p:cNvSpPr>
            <a:spLocks xmlns:a="http://schemas.openxmlformats.org/drawingml/2006/main" noGrp="1"/>
          </p:cNvSpPr>
          <p:nvPr/>
        </p:nvSpPr>
        <p:spPr>
          <a:xfrm xmlns:a="http://schemas.openxmlformats.org/drawingml/2006/main">
            <a:off x="533400" y="89535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151515"/>
                </a:solidFill>
                <a:latin typeface="Arial"/>
                <a:ea typeface="Arial"/>
                <a:cs typeface="Arial"/>
              </a:defRPr>
            </a:defPPr>
          </a:lstStyle>
          <a:p xmlns:a="http://schemas.openxmlformats.org/drawingml/2006/main">
            <a:pPr>
              <a:defRPr sz="3300" b="0">
                <a:solidFill>
                  <a:srgbClr val="151515"/>
                </a:solidFill>
                <a:latin typeface="Arial"/>
                <a:ea typeface="Arial"/>
                <a:cs typeface="Arial"/>
              </a:defRPr>
            </a:pPr>
            <a:r>
              <a:rPr sz="3300" b="0">
                <a:solidFill>
                  <a:srgbClr val="151515"/>
                </a:solidFill>
                <a:latin typeface="Arial"/>
                <a:ea typeface="Arial"/>
                <a:cs typeface="Arial"/>
              </a:rPr>
              <a:t>Example: loading a GLB in Three.js</a:t>
            </a:r>
          </a:p>
        </p:txBody>
      </p:sp>
      <p:sp>
        <p:nvSpPr>
          <p:cNvPr id="4" name="">
            <a:extLst xmlns:a="http://schemas.openxmlformats.org/drawingml/2006/main">
              <a:ext uri="{FF2B5EF4-FFF2-40B4-BE49-F238E27FC236}">
                <a16:creationId xmlns:a16="http://schemas.microsoft.com/office/drawing/2014/main" id="{33DC613F-9353-4ABD-8770-40DA1DE8A46A}"/>
              </a:ext>
            </a:extLst>
          </p:cNvPr>
          <p:cNvSpPr>
            <a:spLocks xmlns:a="http://schemas.openxmlformats.org/drawingml/2006/main" noGrp="1"/>
          </p:cNvSpPr>
          <p:nvPr/>
        </p:nvSpPr>
        <p:spPr>
          <a:xfrm xmlns:a="http://schemas.openxmlformats.org/drawingml/2006/main">
            <a:off x="552450" y="16764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6666"/>
                </a:solidFill>
                <a:latin typeface="Arial"/>
                <a:ea typeface="Arial"/>
                <a:cs typeface="Arial"/>
              </a:defRPr>
            </a:defPPr>
          </a:lstStyle>
          <a:p xmlns:a="http://schemas.openxmlformats.org/drawingml/2006/main">
            <a:pPr>
              <a:defRPr sz="1875" b="0">
                <a:solidFill>
                  <a:srgbClr val="666666"/>
                </a:solidFill>
                <a:latin typeface="Arial"/>
                <a:ea typeface="Arial"/>
                <a:cs typeface="Arial"/>
              </a:defRPr>
            </a:pPr>
            <a:r>
              <a:rPr sz="1875" b="0">
                <a:solidFill>
                  <a:srgbClr val="666666"/>
                </a:solidFill>
                <a:latin typeface="Arial"/>
                <a:ea typeface="Arial"/>
                <a:cs typeface="Arial"/>
              </a:rPr>
              <a:t>A small fragment inside an initialized Three.js scene.</a:t>
            </a:r>
          </a:p>
        </p:txBody>
      </p:sp>
      <p:sp>
        <p:nvSpPr>
          <p:cNvPr id="5" name="">
            <a:extLst xmlns:a="http://schemas.openxmlformats.org/drawingml/2006/main">
              <a:ext uri="{FF2B5EF4-FFF2-40B4-BE49-F238E27FC236}">
                <a16:creationId xmlns:a16="http://schemas.microsoft.com/office/drawing/2014/main" id="{58963260-F382-4866-B96D-9B0C9497D07A}"/>
              </a:ext>
            </a:extLst>
          </p:cNvPr>
          <p:cNvSpPr>
            <a:spLocks xmlns:a="http://schemas.openxmlformats.org/drawingml/2006/main" noGrp="1"/>
          </p:cNvSpPr>
          <p:nvPr/>
        </p:nvSpPr>
        <p:spPr>
          <a:xfrm xmlns:a="http://schemas.openxmlformats.org/drawingml/2006/main">
            <a:off x="609600" y="2400300"/>
            <a:ext cx="1095375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51515"/>
                </a:solidFill>
                <a:latin typeface="Arial"/>
                <a:ea typeface="Arial"/>
                <a:cs typeface="Arial"/>
              </a:defRPr>
            </a:defPPr>
          </a:lstStyle>
          <a:p xmlns:a="http://schemas.openxmlformats.org/drawingml/2006/main">
            <a:pPr>
              <a:defRPr sz="1575" b="0">
                <a:solidFill>
                  <a:srgbClr val="151515"/>
                </a:solidFill>
                <a:latin typeface="Arial"/>
                <a:ea typeface="Arial"/>
                <a:cs typeface="Arial"/>
              </a:defRPr>
            </a:pPr>
            <a:r>
              <a:rPr sz="1575" b="0">
                <a:solidFill>
                  <a:srgbClr val="151515"/>
                </a:solidFill>
                <a:latin typeface="Arial"/>
                <a:ea typeface="Arial"/>
                <a:cs typeface="Arial"/>
              </a:rPr>
              <a:t>import { GLTFLoader } from</a:t>
            </a:r>
          </a:p>
          <a:p xmlns:a="http://schemas.openxmlformats.org/drawingml/2006/main">
            <a:pPr>
              <a:defRPr sz="1575" b="0">
                <a:solidFill>
                  <a:srgbClr val="151515"/>
                </a:solidFill>
                <a:latin typeface="Arial"/>
                <a:ea typeface="Arial"/>
                <a:cs typeface="Arial"/>
              </a:defRPr>
            </a:pPr>
            <a:r>
              <a:rPr sz="1575" b="0">
                <a:solidFill>
                  <a:srgbClr val="151515"/>
                </a:solidFill>
                <a:latin typeface="Arial"/>
                <a:ea typeface="Arial"/>
                <a:cs typeface="Arial"/>
              </a:rPr>
              <a:t>  "three/addons/loaders/GLTFLoader.js";</a:t>
            </a:r>
          </a:p>
          <a:p xmlns:a="http://schemas.openxmlformats.org/drawingml/2006/main">
            <a:pPr>
              <a:defRPr sz="1575" b="0">
                <a:solidFill>
                  <a:srgbClr val="151515"/>
                </a:solidFill>
                <a:latin typeface="Arial"/>
                <a:ea typeface="Arial"/>
                <a:cs typeface="Arial"/>
              </a:defRPr>
            </a:pPr>
            <a:r>
              <a:rPr sz="1575" b="0">
                <a:solidFill>
                  <a:srgbClr val="151515"/>
                </a:solidFill>
                <a:latin typeface="Arial"/>
                <a:ea typeface="Arial"/>
                <a:cs typeface="Arial"/>
              </a:rPr>
              <a:t>import { OrbitControls } from</a:t>
            </a:r>
          </a:p>
          <a:p xmlns:a="http://schemas.openxmlformats.org/drawingml/2006/main">
            <a:pPr>
              <a:defRPr sz="1575" b="0">
                <a:solidFill>
                  <a:srgbClr val="151515"/>
                </a:solidFill>
                <a:latin typeface="Arial"/>
                <a:ea typeface="Arial"/>
                <a:cs typeface="Arial"/>
              </a:defRPr>
            </a:pPr>
            <a:r>
              <a:rPr sz="1575" b="0">
                <a:solidFill>
                  <a:srgbClr val="151515"/>
                </a:solidFill>
                <a:latin typeface="Arial"/>
                <a:ea typeface="Arial"/>
                <a:cs typeface="Arial"/>
              </a:rPr>
              <a:t>  "three/addons/controls/OrbitControls.js";</a:t>
            </a:r>
          </a:p>
          <a:p xmlns:a="http://schemas.openxmlformats.org/drawingml/2006/main">
            <a:r>
              <a:t/>
            </a:r>
          </a:p>
          <a:p xmlns:a="http://schemas.openxmlformats.org/drawingml/2006/main">
            <a:pPr>
              <a:defRPr sz="1575" b="0">
                <a:solidFill>
                  <a:srgbClr val="151515"/>
                </a:solidFill>
                <a:latin typeface="Arial"/>
                <a:ea typeface="Arial"/>
                <a:cs typeface="Arial"/>
              </a:defRPr>
            </a:pPr>
            <a:r>
              <a:rPr sz="1575" b="0">
                <a:solidFill>
                  <a:srgbClr val="151515"/>
                </a:solidFill>
                <a:latin typeface="Arial"/>
                <a:ea typeface="Arial"/>
                <a:cs typeface="Arial"/>
              </a:rPr>
              <a:t>const controls = new OrbitControls(camera, renderer.domElement);</a:t>
            </a:r>
          </a:p>
          <a:p xmlns:a="http://schemas.openxmlformats.org/drawingml/2006/main">
            <a:pPr>
              <a:defRPr sz="1575" b="0">
                <a:solidFill>
                  <a:srgbClr val="151515"/>
                </a:solidFill>
                <a:latin typeface="Arial"/>
                <a:ea typeface="Arial"/>
                <a:cs typeface="Arial"/>
              </a:defRPr>
            </a:pPr>
            <a:r>
              <a:rPr sz="1575" b="0">
                <a:solidFill>
                  <a:srgbClr val="151515"/>
                </a:solidFill>
                <a:latin typeface="Arial"/>
                <a:ea typeface="Arial"/>
                <a:cs typeface="Arial"/>
              </a:rPr>
              <a:t>controls.enablePan = true;</a:t>
            </a:r>
          </a:p>
          <a:p xmlns:a="http://schemas.openxmlformats.org/drawingml/2006/main">
            <a:pPr>
              <a:defRPr sz="1575" b="0">
                <a:solidFill>
                  <a:srgbClr val="151515"/>
                </a:solidFill>
                <a:latin typeface="Arial"/>
                <a:ea typeface="Arial"/>
                <a:cs typeface="Arial"/>
              </a:defRPr>
            </a:pPr>
            <a:r>
              <a:rPr sz="1575" b="0">
                <a:solidFill>
                  <a:srgbClr val="151515"/>
                </a:solidFill>
                <a:latin typeface="Arial"/>
                <a:ea typeface="Arial"/>
                <a:cs typeface="Arial"/>
              </a:rPr>
              <a:t>new GLTFLoader().load("/models/camera.glb",</a:t>
            </a:r>
          </a:p>
          <a:p xmlns:a="http://schemas.openxmlformats.org/drawingml/2006/main">
            <a:pPr>
              <a:defRPr sz="1575" b="0">
                <a:solidFill>
                  <a:srgbClr val="151515"/>
                </a:solidFill>
                <a:latin typeface="Arial"/>
                <a:ea typeface="Arial"/>
                <a:cs typeface="Arial"/>
              </a:defRPr>
            </a:pPr>
            <a:r>
              <a:rPr sz="1575" b="0">
                <a:solidFill>
                  <a:srgbClr val="151515"/>
                </a:solidFill>
                <a:latin typeface="Arial"/>
                <a:ea typeface="Arial"/>
                <a:cs typeface="Arial"/>
              </a:rPr>
              <a:t>  gltf =&gt; scene.add(gltf.scene),</a:t>
            </a:r>
          </a:p>
          <a:p xmlns:a="http://schemas.openxmlformats.org/drawingml/2006/main">
            <a:pPr>
              <a:defRPr sz="1575" b="0">
                <a:solidFill>
                  <a:srgbClr val="151515"/>
                </a:solidFill>
                <a:latin typeface="Arial"/>
                <a:ea typeface="Arial"/>
                <a:cs typeface="Arial"/>
              </a:defRPr>
            </a:pPr>
            <a:r>
              <a:rPr sz="1575" b="0">
                <a:solidFill>
                  <a:srgbClr val="151515"/>
                </a:solidFill>
                <a:latin typeface="Arial"/>
                <a:ea typeface="Arial"/>
                <a:cs typeface="Arial"/>
              </a:rPr>
              <a:t>  undefined, error =&gt; console.error("Model failed", error));</a:t>
            </a:r>
          </a:p>
          <a:p xmlns:a="http://schemas.openxmlformats.org/drawingml/2006/main">
            <a:pPr>
              <a:defRPr sz="1575" b="0">
                <a:solidFill>
                  <a:srgbClr val="151515"/>
                </a:solidFill>
                <a:latin typeface="Arial"/>
                <a:ea typeface="Arial"/>
                <a:cs typeface="Arial"/>
              </a:defRPr>
            </a:pPr>
            <a:r>
              <a:rPr sz="1575" b="0">
                <a:solidFill>
                  <a:srgbClr val="151515"/>
                </a:solidFill>
                <a:latin typeface="Arial"/>
                <a:ea typeface="Arial"/>
                <a:cs typeface="Arial"/>
              </a:rPr>
              <a:t>renderer.setAnimationLoop(() =&gt; {</a:t>
            </a:r>
          </a:p>
          <a:p xmlns:a="http://schemas.openxmlformats.org/drawingml/2006/main">
            <a:pPr>
              <a:defRPr sz="1575" b="0">
                <a:solidFill>
                  <a:srgbClr val="151515"/>
                </a:solidFill>
                <a:latin typeface="Arial"/>
                <a:ea typeface="Arial"/>
                <a:cs typeface="Arial"/>
              </a:defRPr>
            </a:pPr>
            <a:r>
              <a:rPr sz="1575" b="0">
                <a:solidFill>
                  <a:srgbClr val="151515"/>
                </a:solidFill>
                <a:latin typeface="Arial"/>
                <a:ea typeface="Arial"/>
                <a:cs typeface="Arial"/>
              </a:rPr>
              <a:t>  controls.update();</a:t>
            </a:r>
          </a:p>
          <a:p xmlns:a="http://schemas.openxmlformats.org/drawingml/2006/main">
            <a:pPr>
              <a:defRPr sz="1575" b="0">
                <a:solidFill>
                  <a:srgbClr val="151515"/>
                </a:solidFill>
                <a:latin typeface="Arial"/>
                <a:ea typeface="Arial"/>
                <a:cs typeface="Arial"/>
              </a:defRPr>
            </a:pPr>
            <a:r>
              <a:rPr sz="1575" b="0">
                <a:solidFill>
                  <a:srgbClr val="151515"/>
                </a:solidFill>
                <a:latin typeface="Arial"/>
                <a:ea typeface="Arial"/>
                <a:cs typeface="Arial"/>
              </a:rPr>
              <a:t>  renderer.render(scene, camera);</a:t>
            </a:r>
          </a:p>
          <a:p xmlns:a="http://schemas.openxmlformats.org/drawingml/2006/main">
            <a:pPr>
              <a:defRPr sz="1575" b="0">
                <a:solidFill>
                  <a:srgbClr val="151515"/>
                </a:solidFill>
                <a:latin typeface="Arial"/>
                <a:ea typeface="Arial"/>
                <a:cs typeface="Arial"/>
              </a:defRPr>
            </a:pPr>
            <a:r>
              <a:rPr sz="1575" b="0">
                <a:solidFill>
                  <a:srgbClr val="151515"/>
                </a:solidFill>
                <a:latin typeface="Arial"/>
                <a:ea typeface="Arial"/>
                <a:cs typeface="Arial"/>
              </a:rPr>
              <a:t>});</a:t>
            </a:r>
          </a:p>
        </p:txBody>
      </p:sp>
      <p:sp>
        <p:nvSpPr>
          <p:cNvPr id="6" name="">
            <a:extLst xmlns:a="http://schemas.openxmlformats.org/drawingml/2006/main">
              <a:ext uri="{FF2B5EF4-FFF2-40B4-BE49-F238E27FC236}">
                <a16:creationId xmlns:a16="http://schemas.microsoft.com/office/drawing/2014/main" id="{7E456368-408B-4FC2-A93E-CE45788093B0}"/>
              </a:ext>
            </a:extLst>
          </p:cNvPr>
          <p:cNvSpPr>
            <a:spLocks xmlns:a="http://schemas.openxmlformats.org/drawingml/2006/main" noGrp="1"/>
          </p:cNvSpPr>
          <p:nvPr/>
        </p:nvSpPr>
        <p:spPr>
          <a:xfrm xmlns:a="http://schemas.openxmlformats.org/drawingml/2006/main">
            <a:off x="609600" y="62293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961A86"/>
                </a:solidFill>
                <a:latin typeface="Arial"/>
                <a:ea typeface="Arial"/>
                <a:cs typeface="Arial"/>
              </a:defRPr>
            </a:defPPr>
          </a:lstStyle>
          <a:p xmlns:a="http://schemas.openxmlformats.org/drawingml/2006/main">
            <a:pPr>
              <a:defRPr sz="1500" b="0">
                <a:solidFill>
                  <a:srgbClr val="961A86"/>
                </a:solidFill>
                <a:latin typeface="Arial"/>
                <a:ea typeface="Arial"/>
                <a:cs typeface="Arial"/>
              </a:defRPr>
            </a:pPr>
            <a:r>
              <a:rPr sz="1500" b="0">
                <a:solidFill>
                  <a:srgbClr val="961A86"/>
                </a:solidFill>
                <a:latin typeface="Arial"/>
                <a:ea typeface="Arial"/>
                <a:cs typeface="Arial"/>
              </a:rPr>
              <a:t>Model loading, camera framing and material lighting are separate responsibilities.</a:t>
            </a:r>
          </a:p>
        </p:txBody>
      </p:sp>
    </p:spTree>
    <p:extLst>
      <p:ext uri="{BB962C8B-B14F-4D97-AF65-F5344CB8AC3E}">
        <p14:creationId xmlns:p14="http://schemas.microsoft.com/office/powerpoint/2010/main" val="3450647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2893047-AD85-443E-8B14-878B49505E56}"/>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LIGHTMETRICS   /   3D EXPLORATION</a:t>
            </a:r>
          </a:p>
        </p:txBody>
      </p:sp>
      <p:sp>
        <p:nvSpPr>
          <p:cNvPr id="2" name="">
            <a:extLst xmlns:a="http://schemas.openxmlformats.org/drawingml/2006/main">
              <a:ext uri="{FF2B5EF4-FFF2-40B4-BE49-F238E27FC236}">
                <a16:creationId xmlns:a16="http://schemas.microsoft.com/office/drawing/2014/main" id="{362F5E06-6696-4475-AC92-C7D3453AEEF2}"/>
              </a:ext>
            </a:extLst>
          </p:cNvPr>
          <p:cNvSpPr>
            <a:spLocks xmlns:a="http://schemas.openxmlformats.org/drawingml/2006/main" noGrp="1"/>
          </p:cNvSpPr>
          <p:nvPr/>
        </p:nvSpPr>
        <p:spPr>
          <a:xfrm xmlns:a="http://schemas.openxmlformats.org/drawingml/2006/main">
            <a:off x="11049000" y="2857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29</a:t>
            </a:r>
          </a:p>
        </p:txBody>
      </p:sp>
      <p:sp>
        <p:nvSpPr>
          <p:cNvPr id="3" name="">
            <a:extLst xmlns:a="http://schemas.openxmlformats.org/drawingml/2006/main">
              <a:ext uri="{FF2B5EF4-FFF2-40B4-BE49-F238E27FC236}">
                <a16:creationId xmlns:a16="http://schemas.microsoft.com/office/drawing/2014/main" id="{90CE8B8F-11CB-4E2E-B78A-614B17861F20}"/>
              </a:ext>
            </a:extLst>
          </p:cNvPr>
          <p:cNvSpPr>
            <a:spLocks xmlns:a="http://schemas.openxmlformats.org/drawingml/2006/main" noGrp="1"/>
          </p:cNvSpPr>
          <p:nvPr/>
        </p:nvSpPr>
        <p:spPr>
          <a:xfrm xmlns:a="http://schemas.openxmlformats.org/drawingml/2006/main">
            <a:off x="533400" y="89535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151515"/>
                </a:solidFill>
                <a:latin typeface="Arial"/>
                <a:ea typeface="Arial"/>
                <a:cs typeface="Arial"/>
              </a:defRPr>
            </a:defPPr>
          </a:lstStyle>
          <a:p xmlns:a="http://schemas.openxmlformats.org/drawingml/2006/main">
            <a:pPr>
              <a:defRPr sz="3300" b="0">
                <a:solidFill>
                  <a:srgbClr val="151515"/>
                </a:solidFill>
                <a:latin typeface="Arial"/>
                <a:ea typeface="Arial"/>
                <a:cs typeface="Arial"/>
              </a:defRPr>
            </a:pPr>
            <a:r>
              <a:rPr sz="3300" b="0">
                <a:solidFill>
                  <a:srgbClr val="151515"/>
                </a:solidFill>
                <a:latin typeface="Arial"/>
                <a:ea typeface="Arial"/>
                <a:cs typeface="Arial"/>
              </a:rPr>
              <a:t>Example: embedding a hosted viewer</a:t>
            </a:r>
          </a:p>
        </p:txBody>
      </p:sp>
      <p:sp>
        <p:nvSpPr>
          <p:cNvPr id="4" name="">
            <a:extLst xmlns:a="http://schemas.openxmlformats.org/drawingml/2006/main">
              <a:ext uri="{FF2B5EF4-FFF2-40B4-BE49-F238E27FC236}">
                <a16:creationId xmlns:a16="http://schemas.microsoft.com/office/drawing/2014/main" id="{E3F1D301-4D72-450A-951A-D473D8692E48}"/>
              </a:ext>
            </a:extLst>
          </p:cNvPr>
          <p:cNvSpPr>
            <a:spLocks xmlns:a="http://schemas.openxmlformats.org/drawingml/2006/main" noGrp="1"/>
          </p:cNvSpPr>
          <p:nvPr/>
        </p:nvSpPr>
        <p:spPr>
          <a:xfrm xmlns:a="http://schemas.openxmlformats.org/drawingml/2006/main">
            <a:off x="552450" y="16764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6666"/>
                </a:solidFill>
                <a:latin typeface="Arial"/>
                <a:ea typeface="Arial"/>
                <a:cs typeface="Arial"/>
              </a:defRPr>
            </a:defPPr>
          </a:lstStyle>
          <a:p xmlns:a="http://schemas.openxmlformats.org/drawingml/2006/main">
            <a:pPr>
              <a:defRPr sz="1875" b="0">
                <a:solidFill>
                  <a:srgbClr val="666666"/>
                </a:solidFill>
                <a:latin typeface="Arial"/>
                <a:ea typeface="Arial"/>
                <a:cs typeface="Arial"/>
              </a:defRPr>
            </a:pPr>
            <a:r>
              <a:rPr sz="1875" b="0">
                <a:solidFill>
                  <a:srgbClr val="666666"/>
                </a:solidFill>
                <a:latin typeface="Arial"/>
                <a:ea typeface="Arial"/>
                <a:cs typeface="Arial"/>
              </a:rPr>
              <a:t>An iframe can reuse a complete viewer across multiple pages.</a:t>
            </a:r>
          </a:p>
        </p:txBody>
      </p:sp>
      <p:sp>
        <p:nvSpPr>
          <p:cNvPr id="5" name="">
            <a:extLst xmlns:a="http://schemas.openxmlformats.org/drawingml/2006/main">
              <a:ext uri="{FF2B5EF4-FFF2-40B4-BE49-F238E27FC236}">
                <a16:creationId xmlns:a16="http://schemas.microsoft.com/office/drawing/2014/main" id="{D78DC71F-B873-4C7E-AC42-B0F2AF0C8348}"/>
              </a:ext>
            </a:extLst>
          </p:cNvPr>
          <p:cNvSpPr>
            <a:spLocks xmlns:a="http://schemas.openxmlformats.org/drawingml/2006/main" noGrp="1"/>
          </p:cNvSpPr>
          <p:nvPr/>
        </p:nvSpPr>
        <p:spPr>
          <a:xfrm xmlns:a="http://schemas.openxmlformats.org/drawingml/2006/main">
            <a:off x="609600" y="2400300"/>
            <a:ext cx="1095375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51515"/>
                </a:solidFill>
                <a:latin typeface="Arial"/>
                <a:ea typeface="Arial"/>
                <a:cs typeface="Arial"/>
              </a:defRPr>
            </a:defPPr>
          </a:lstStyle>
          <a:p xmlns:a="http://schemas.openxmlformats.org/drawingml/2006/main">
            <a:pPr>
              <a:defRPr sz="1575" b="0">
                <a:solidFill>
                  <a:srgbClr val="151515"/>
                </a:solidFill>
                <a:latin typeface="Arial"/>
                <a:ea typeface="Arial"/>
                <a:cs typeface="Arial"/>
              </a:defRPr>
            </a:pPr>
            <a:r>
              <a:rPr sz="1575" b="0">
                <a:solidFill>
                  <a:srgbClr val="151515"/>
                </a:solidFill>
                <a:latin typeface="Arial"/>
                <a:ea typeface="Arial"/>
                <a:cs typeface="Arial"/>
              </a:rPr>
              <a:t>&lt;iframe</a:t>
            </a:r>
          </a:p>
          <a:p xmlns:a="http://schemas.openxmlformats.org/drawingml/2006/main">
            <a:pPr>
              <a:defRPr sz="1575" b="0">
                <a:solidFill>
                  <a:srgbClr val="151515"/>
                </a:solidFill>
                <a:latin typeface="Arial"/>
                <a:ea typeface="Arial"/>
                <a:cs typeface="Arial"/>
              </a:defRPr>
            </a:pPr>
            <a:r>
              <a:rPr sz="1575" b="0">
                <a:solidFill>
                  <a:srgbClr val="151515"/>
                </a:solidFill>
                <a:latin typeface="Arial"/>
                <a:ea typeface="Arial"/>
                <a:cs typeface="Arial"/>
              </a:rPr>
              <a:t>  src="https://your-domain.example/viewer/"</a:t>
            </a:r>
          </a:p>
          <a:p xmlns:a="http://schemas.openxmlformats.org/drawingml/2006/main">
            <a:pPr>
              <a:defRPr sz="1575" b="0">
                <a:solidFill>
                  <a:srgbClr val="151515"/>
                </a:solidFill>
                <a:latin typeface="Arial"/>
                <a:ea typeface="Arial"/>
                <a:cs typeface="Arial"/>
              </a:defRPr>
            </a:pPr>
            <a:r>
              <a:rPr sz="1575" b="0">
                <a:solidFill>
                  <a:srgbClr val="151515"/>
                </a:solidFill>
                <a:latin typeface="Arial"/>
                <a:ea typeface="Arial"/>
                <a:cs typeface="Arial"/>
              </a:rPr>
              <a:t>  title="Interactive camera product viewer"</a:t>
            </a:r>
          </a:p>
          <a:p xmlns:a="http://schemas.openxmlformats.org/drawingml/2006/main">
            <a:pPr>
              <a:defRPr sz="1575" b="0">
                <a:solidFill>
                  <a:srgbClr val="151515"/>
                </a:solidFill>
                <a:latin typeface="Arial"/>
                <a:ea typeface="Arial"/>
                <a:cs typeface="Arial"/>
              </a:defRPr>
            </a:pPr>
            <a:r>
              <a:rPr sz="1575" b="0">
                <a:solidFill>
                  <a:srgbClr val="151515"/>
                </a:solidFill>
                <a:latin typeface="Arial"/>
                <a:ea typeface="Arial"/>
                <a:cs typeface="Arial"/>
              </a:rPr>
              <a:t>  loading="lazy"</a:t>
            </a:r>
          </a:p>
          <a:p xmlns:a="http://schemas.openxmlformats.org/drawingml/2006/main">
            <a:pPr>
              <a:defRPr sz="1575" b="0">
                <a:solidFill>
                  <a:srgbClr val="151515"/>
                </a:solidFill>
                <a:latin typeface="Arial"/>
                <a:ea typeface="Arial"/>
                <a:cs typeface="Arial"/>
              </a:defRPr>
            </a:pPr>
            <a:r>
              <a:rPr sz="1575" b="0">
                <a:solidFill>
                  <a:srgbClr val="151515"/>
                </a:solidFill>
                <a:latin typeface="Arial"/>
                <a:ea typeface="Arial"/>
                <a:cs typeface="Arial"/>
              </a:rPr>
              <a:t>  allow="fullscreen"</a:t>
            </a:r>
          </a:p>
          <a:p xmlns:a="http://schemas.openxmlformats.org/drawingml/2006/main">
            <a:pPr>
              <a:defRPr sz="1575" b="0">
                <a:solidFill>
                  <a:srgbClr val="151515"/>
                </a:solidFill>
                <a:latin typeface="Arial"/>
                <a:ea typeface="Arial"/>
                <a:cs typeface="Arial"/>
              </a:defRPr>
            </a:pPr>
            <a:r>
              <a:rPr sz="1575" b="0">
                <a:solidFill>
                  <a:srgbClr val="151515"/>
                </a:solidFill>
                <a:latin typeface="Arial"/>
                <a:ea typeface="Arial"/>
                <a:cs typeface="Arial"/>
              </a:rPr>
              <a:t>  style="width:100%; height:640px; border:0"&gt;</a:t>
            </a:r>
          </a:p>
          <a:p xmlns:a="http://schemas.openxmlformats.org/drawingml/2006/main">
            <a:pPr>
              <a:defRPr sz="1575" b="0">
                <a:solidFill>
                  <a:srgbClr val="151515"/>
                </a:solidFill>
                <a:latin typeface="Arial"/>
                <a:ea typeface="Arial"/>
                <a:cs typeface="Arial"/>
              </a:defRPr>
            </a:pPr>
            <a:r>
              <a:rPr sz="1575" b="0">
                <a:solidFill>
                  <a:srgbClr val="151515"/>
                </a:solidFill>
                <a:latin typeface="Arial"/>
                <a:ea typeface="Arial"/>
                <a:cs typeface="Arial"/>
              </a:rPr>
              <a:t>&lt;/iframe&gt;</a:t>
            </a:r>
          </a:p>
        </p:txBody>
      </p:sp>
      <p:sp>
        <p:nvSpPr>
          <p:cNvPr id="6" name="">
            <a:extLst xmlns:a="http://schemas.openxmlformats.org/drawingml/2006/main">
              <a:ext uri="{FF2B5EF4-FFF2-40B4-BE49-F238E27FC236}">
                <a16:creationId xmlns:a16="http://schemas.microsoft.com/office/drawing/2014/main" id="{28D02C74-9B8B-42AC-B2D8-5CA0A6E17F16}"/>
              </a:ext>
            </a:extLst>
          </p:cNvPr>
          <p:cNvSpPr>
            <a:spLocks xmlns:a="http://schemas.openxmlformats.org/drawingml/2006/main" noGrp="1"/>
          </p:cNvSpPr>
          <p:nvPr/>
        </p:nvSpPr>
        <p:spPr>
          <a:xfrm xmlns:a="http://schemas.openxmlformats.org/drawingml/2006/main">
            <a:off x="609600" y="62293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961A86"/>
                </a:solidFill>
                <a:latin typeface="Arial"/>
                <a:ea typeface="Arial"/>
                <a:cs typeface="Arial"/>
              </a:defRPr>
            </a:defPPr>
          </a:lstStyle>
          <a:p xmlns:a="http://schemas.openxmlformats.org/drawingml/2006/main">
            <a:pPr>
              <a:defRPr sz="1500" b="0">
                <a:solidFill>
                  <a:srgbClr val="961A86"/>
                </a:solidFill>
                <a:latin typeface="Arial"/>
                <a:ea typeface="Arial"/>
                <a:cs typeface="Arial"/>
              </a:defRPr>
            </a:pPr>
            <a:r>
              <a:rPr sz="1500" b="0">
                <a:solidFill>
                  <a:srgbClr val="961A86"/>
                </a:solidFill>
                <a:latin typeface="Arial"/>
                <a:ea typeface="Arial"/>
                <a:cs typeface="Arial"/>
              </a:rPr>
              <a:t>Use a public HTTPS URL for deployment. localhost works only on your own machine.</a:t>
            </a:r>
          </a:p>
        </p:txBody>
      </p:sp>
    </p:spTree>
    <p:extLst>
      <p:ext uri="{BB962C8B-B14F-4D97-AF65-F5344CB8AC3E}">
        <p14:creationId xmlns:p14="http://schemas.microsoft.com/office/powerpoint/2010/main" val="31429344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D1435B0-842B-463F-9CD9-7E7BD91535E9}"/>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LIGHTMETRICS   /   3D EXPLORATION</a:t>
            </a:r>
          </a:p>
        </p:txBody>
      </p:sp>
      <p:sp>
        <p:nvSpPr>
          <p:cNvPr id="2" name="">
            <a:extLst xmlns:a="http://schemas.openxmlformats.org/drawingml/2006/main">
              <a:ext uri="{FF2B5EF4-FFF2-40B4-BE49-F238E27FC236}">
                <a16:creationId xmlns:a16="http://schemas.microsoft.com/office/drawing/2014/main" id="{A47CA13D-C92D-4FC1-81D3-3C9645DC0F19}"/>
              </a:ext>
            </a:extLst>
          </p:cNvPr>
          <p:cNvSpPr>
            <a:spLocks xmlns:a="http://schemas.openxmlformats.org/drawingml/2006/main" noGrp="1"/>
          </p:cNvSpPr>
          <p:nvPr/>
        </p:nvSpPr>
        <p:spPr>
          <a:xfrm xmlns:a="http://schemas.openxmlformats.org/drawingml/2006/main">
            <a:off x="11049000" y="2857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30</a:t>
            </a:r>
          </a:p>
        </p:txBody>
      </p:sp>
      <p:sp>
        <p:nvSpPr>
          <p:cNvPr id="3" name="">
            <a:extLst xmlns:a="http://schemas.openxmlformats.org/drawingml/2006/main">
              <a:ext uri="{FF2B5EF4-FFF2-40B4-BE49-F238E27FC236}">
                <a16:creationId xmlns:a16="http://schemas.microsoft.com/office/drawing/2014/main" id="{EBA86F63-0661-4702-AAAA-0B37CD8E7370}"/>
              </a:ext>
            </a:extLst>
          </p:cNvPr>
          <p:cNvSpPr>
            <a:spLocks xmlns:a="http://schemas.openxmlformats.org/drawingml/2006/main" noGrp="1"/>
          </p:cNvSpPr>
          <p:nvPr/>
        </p:nvSpPr>
        <p:spPr>
          <a:xfrm xmlns:a="http://schemas.openxmlformats.org/drawingml/2006/main">
            <a:off x="533400" y="89535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151515"/>
                </a:solidFill>
                <a:latin typeface="Arial"/>
                <a:ea typeface="Arial"/>
                <a:cs typeface="Arial"/>
              </a:defRPr>
            </a:defPPr>
          </a:lstStyle>
          <a:p xmlns:a="http://schemas.openxmlformats.org/drawingml/2006/main">
            <a:pPr>
              <a:defRPr sz="3300" b="0">
                <a:solidFill>
                  <a:srgbClr val="151515"/>
                </a:solidFill>
                <a:latin typeface="Arial"/>
                <a:ea typeface="Arial"/>
                <a:cs typeface="Arial"/>
              </a:defRPr>
            </a:pPr>
            <a:r>
              <a:rPr sz="3300" b="0">
                <a:solidFill>
                  <a:srgbClr val="151515"/>
                </a:solidFill>
                <a:latin typeface="Arial"/>
                <a:ea typeface="Arial"/>
                <a:cs typeface="Arial"/>
              </a:rPr>
              <a:t>Official resources: assets and rendering</a:t>
            </a:r>
          </a:p>
        </p:txBody>
      </p:sp>
      <p:sp>
        <p:nvSpPr>
          <p:cNvPr id="4" name="">
            <a:extLst xmlns:a="http://schemas.openxmlformats.org/drawingml/2006/main">
              <a:ext uri="{FF2B5EF4-FFF2-40B4-BE49-F238E27FC236}">
                <a16:creationId xmlns:a16="http://schemas.microsoft.com/office/drawing/2014/main" id="{4F8ED617-167E-40BB-A066-40CEAE66B14B}"/>
              </a:ext>
            </a:extLst>
          </p:cNvPr>
          <p:cNvSpPr>
            <a:spLocks xmlns:a="http://schemas.openxmlformats.org/drawingml/2006/main" noGrp="1"/>
          </p:cNvSpPr>
          <p:nvPr/>
        </p:nvSpPr>
        <p:spPr>
          <a:xfrm xmlns:a="http://schemas.openxmlformats.org/drawingml/2006/main">
            <a:off x="552450" y="16764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6666"/>
                </a:solidFill>
                <a:latin typeface="Arial"/>
                <a:ea typeface="Arial"/>
                <a:cs typeface="Arial"/>
              </a:defRPr>
            </a:defPPr>
          </a:lstStyle>
          <a:p xmlns:a="http://schemas.openxmlformats.org/drawingml/2006/main">
            <a:pPr>
              <a:defRPr sz="1875" b="0">
                <a:solidFill>
                  <a:srgbClr val="666666"/>
                </a:solidFill>
                <a:latin typeface="Arial"/>
                <a:ea typeface="Arial"/>
                <a:cs typeface="Arial"/>
              </a:defRPr>
            </a:pPr>
            <a:r>
              <a:rPr sz="1875" b="0">
                <a:solidFill>
                  <a:srgbClr val="666666"/>
                </a:solidFill>
                <a:latin typeface="Arial"/>
                <a:ea typeface="Arial"/>
                <a:cs typeface="Arial"/>
              </a:rPr>
              <a:t>A starting library for continued learning.</a:t>
            </a:r>
          </a:p>
        </p:txBody>
      </p:sp>
      <p:sp>
        <p:nvSpPr>
          <p:cNvPr id="5" name="">
            <a:extLst xmlns:a="http://schemas.openxmlformats.org/drawingml/2006/main">
              <a:ext uri="{FF2B5EF4-FFF2-40B4-BE49-F238E27FC236}">
                <a16:creationId xmlns:a16="http://schemas.microsoft.com/office/drawing/2014/main" id="{1A2C635C-E522-4094-9709-7140F14CA4D9}"/>
              </a:ext>
            </a:extLst>
          </p:cNvPr>
          <p:cNvSpPr>
            <a:spLocks xmlns:a="http://schemas.openxmlformats.org/drawingml/2006/main" noGrp="1"/>
          </p:cNvSpPr>
          <p:nvPr/>
        </p:nvSpPr>
        <p:spPr>
          <a:xfrm xmlns:a="http://schemas.openxmlformats.org/drawingml/2006/main">
            <a:off x="552450" y="260032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Blender glTF export</a:t>
            </a:r>
          </a:p>
        </p:txBody>
      </p:sp>
      <p:sp>
        <p:nvSpPr>
          <p:cNvPr id="6" name="">
            <a:extLst xmlns:a="http://schemas.openxmlformats.org/drawingml/2006/main">
              <a:ext uri="{FF2B5EF4-FFF2-40B4-BE49-F238E27FC236}">
                <a16:creationId xmlns:a16="http://schemas.microsoft.com/office/drawing/2014/main" id="{0F62247C-3329-4179-B4FE-D8619EB7D56A}"/>
              </a:ext>
            </a:extLst>
          </p:cNvPr>
          <p:cNvSpPr>
            <a:spLocks xmlns:a="http://schemas.openxmlformats.org/drawingml/2006/main" noGrp="1"/>
          </p:cNvSpPr>
          <p:nvPr/>
        </p:nvSpPr>
        <p:spPr>
          <a:xfrm xmlns:a="http://schemas.openxmlformats.org/drawingml/2006/main">
            <a:off x="3886200" y="26003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docs.blender.org / glTF 2.0</a:t>
            </a:r>
          </a:p>
        </p:txBody>
      </p:sp>
      <p:sp>
        <p:nvSpPr>
          <p:cNvPr id="7" name="">
            <a:extLst xmlns:a="http://schemas.openxmlformats.org/drawingml/2006/main">
              <a:ext uri="{FF2B5EF4-FFF2-40B4-BE49-F238E27FC236}">
                <a16:creationId xmlns:a16="http://schemas.microsoft.com/office/drawing/2014/main" id="{8CD29A7A-CB2C-4B4A-9B01-6EC1BFD208A3}"/>
              </a:ext>
            </a:extLst>
          </p:cNvPr>
          <p:cNvSpPr>
            <a:spLocks xmlns:a="http://schemas.openxmlformats.org/drawingml/2006/main" noGrp="1"/>
          </p:cNvSpPr>
          <p:nvPr/>
        </p:nvSpPr>
        <p:spPr>
          <a:xfrm xmlns:a="http://schemas.openxmlformats.org/drawingml/2006/main">
            <a:off x="552450" y="332422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glTF resources</a:t>
            </a:r>
          </a:p>
        </p:txBody>
      </p:sp>
      <p:sp>
        <p:nvSpPr>
          <p:cNvPr id="8" name="">
            <a:extLst xmlns:a="http://schemas.openxmlformats.org/drawingml/2006/main">
              <a:ext uri="{FF2B5EF4-FFF2-40B4-BE49-F238E27FC236}">
                <a16:creationId xmlns:a16="http://schemas.microsoft.com/office/drawing/2014/main" id="{9863CAD6-C0BC-4057-9838-A8B5D3B9752F}"/>
              </a:ext>
            </a:extLst>
          </p:cNvPr>
          <p:cNvSpPr>
            <a:spLocks xmlns:a="http://schemas.openxmlformats.org/drawingml/2006/main" noGrp="1"/>
          </p:cNvSpPr>
          <p:nvPr/>
        </p:nvSpPr>
        <p:spPr>
          <a:xfrm xmlns:a="http://schemas.openxmlformats.org/drawingml/2006/main">
            <a:off x="3886200" y="33242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khronos.org/gltf</a:t>
            </a:r>
          </a:p>
        </p:txBody>
      </p:sp>
      <p:sp>
        <p:nvSpPr>
          <p:cNvPr id="9" name="">
            <a:extLst xmlns:a="http://schemas.openxmlformats.org/drawingml/2006/main">
              <a:ext uri="{FF2B5EF4-FFF2-40B4-BE49-F238E27FC236}">
                <a16:creationId xmlns:a16="http://schemas.microsoft.com/office/drawing/2014/main" id="{A9C43F90-BBD5-4DC4-8A4A-04858043D2E3}"/>
              </a:ext>
            </a:extLst>
          </p:cNvPr>
          <p:cNvSpPr>
            <a:spLocks xmlns:a="http://schemas.openxmlformats.org/drawingml/2006/main" noGrp="1"/>
          </p:cNvSpPr>
          <p:nvPr/>
        </p:nvSpPr>
        <p:spPr>
          <a:xfrm xmlns:a="http://schemas.openxmlformats.org/drawingml/2006/main">
            <a:off x="552450" y="404812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Three.js fundamentals</a:t>
            </a:r>
          </a:p>
        </p:txBody>
      </p:sp>
      <p:sp>
        <p:nvSpPr>
          <p:cNvPr id="10" name="">
            <a:extLst xmlns:a="http://schemas.openxmlformats.org/drawingml/2006/main">
              <a:ext uri="{FF2B5EF4-FFF2-40B4-BE49-F238E27FC236}">
                <a16:creationId xmlns:a16="http://schemas.microsoft.com/office/drawing/2014/main" id="{04A7D2D5-B0A6-4AC6-A2F6-B981BE18939C}"/>
              </a:ext>
            </a:extLst>
          </p:cNvPr>
          <p:cNvSpPr>
            <a:spLocks xmlns:a="http://schemas.openxmlformats.org/drawingml/2006/main" noGrp="1"/>
          </p:cNvSpPr>
          <p:nvPr/>
        </p:nvSpPr>
        <p:spPr>
          <a:xfrm xmlns:a="http://schemas.openxmlformats.org/drawingml/2006/main">
            <a:off x="3886200" y="40481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threejs.org / creating a scene</a:t>
            </a:r>
          </a:p>
        </p:txBody>
      </p:sp>
      <p:sp>
        <p:nvSpPr>
          <p:cNvPr id="11" name="">
            <a:extLst xmlns:a="http://schemas.openxmlformats.org/drawingml/2006/main">
              <a:ext uri="{FF2B5EF4-FFF2-40B4-BE49-F238E27FC236}">
                <a16:creationId xmlns:a16="http://schemas.microsoft.com/office/drawing/2014/main" id="{90A9E92E-A6BF-4F62-AFC4-22AFE3CB80D1}"/>
              </a:ext>
            </a:extLst>
          </p:cNvPr>
          <p:cNvSpPr>
            <a:spLocks xmlns:a="http://schemas.openxmlformats.org/drawingml/2006/main" noGrp="1"/>
          </p:cNvSpPr>
          <p:nvPr/>
        </p:nvSpPr>
        <p:spPr>
          <a:xfrm xmlns:a="http://schemas.openxmlformats.org/drawingml/2006/main">
            <a:off x="552450" y="477202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Loading and controls</a:t>
            </a:r>
          </a:p>
        </p:txBody>
      </p:sp>
      <p:sp>
        <p:nvSpPr>
          <p:cNvPr id="12" name="">
            <a:extLst xmlns:a="http://schemas.openxmlformats.org/drawingml/2006/main">
              <a:ext uri="{FF2B5EF4-FFF2-40B4-BE49-F238E27FC236}">
                <a16:creationId xmlns:a16="http://schemas.microsoft.com/office/drawing/2014/main" id="{02487D13-5882-43ED-8BD3-A0E8593E13EB}"/>
              </a:ext>
            </a:extLst>
          </p:cNvPr>
          <p:cNvSpPr>
            <a:spLocks xmlns:a="http://schemas.openxmlformats.org/drawingml/2006/main" noGrp="1"/>
          </p:cNvSpPr>
          <p:nvPr/>
        </p:nvSpPr>
        <p:spPr>
          <a:xfrm xmlns:a="http://schemas.openxmlformats.org/drawingml/2006/main">
            <a:off x="3886200" y="47720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GLTFLoader and OrbitControls documentation</a:t>
            </a:r>
          </a:p>
        </p:txBody>
      </p:sp>
      <p:sp>
        <p:nvSpPr>
          <p:cNvPr id="13" name="">
            <a:extLst xmlns:a="http://schemas.openxmlformats.org/drawingml/2006/main">
              <a:ext uri="{FF2B5EF4-FFF2-40B4-BE49-F238E27FC236}">
                <a16:creationId xmlns:a16="http://schemas.microsoft.com/office/drawing/2014/main" id="{D4A9DC2C-1041-47EB-A105-7E91A4B89945}"/>
              </a:ext>
            </a:extLst>
          </p:cNvPr>
          <p:cNvSpPr>
            <a:spLocks xmlns:a="http://schemas.openxmlformats.org/drawingml/2006/main" noGrp="1"/>
          </p:cNvSpPr>
          <p:nvPr/>
        </p:nvSpPr>
        <p:spPr>
          <a:xfrm xmlns:a="http://schemas.openxmlformats.org/drawingml/2006/main">
            <a:off x="552450" y="549592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Browser graphics</a:t>
            </a:r>
          </a:p>
        </p:txBody>
      </p:sp>
      <p:sp>
        <p:nvSpPr>
          <p:cNvPr id="14" name="">
            <a:extLst xmlns:a="http://schemas.openxmlformats.org/drawingml/2006/main">
              <a:ext uri="{FF2B5EF4-FFF2-40B4-BE49-F238E27FC236}">
                <a16:creationId xmlns:a16="http://schemas.microsoft.com/office/drawing/2014/main" id="{CD11A709-546C-4F81-9405-C4A56441696D}"/>
              </a:ext>
            </a:extLst>
          </p:cNvPr>
          <p:cNvSpPr>
            <a:spLocks xmlns:a="http://schemas.openxmlformats.org/drawingml/2006/main" noGrp="1"/>
          </p:cNvSpPr>
          <p:nvPr/>
        </p:nvSpPr>
        <p:spPr>
          <a:xfrm xmlns:a="http://schemas.openxmlformats.org/drawingml/2006/main">
            <a:off x="3886200" y="54959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MDN WebGL API and WebGPU API</a:t>
            </a:r>
          </a:p>
        </p:txBody>
      </p:sp>
    </p:spTree>
    <p:extLst>
      <p:ext uri="{BB962C8B-B14F-4D97-AF65-F5344CB8AC3E}">
        <p14:creationId xmlns:p14="http://schemas.microsoft.com/office/powerpoint/2010/main" val="4905578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647D382-9D69-4603-9859-25D80BF1A52F}"/>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LIGHTMETRICS   /   3D EXPLORATION</a:t>
            </a:r>
          </a:p>
        </p:txBody>
      </p:sp>
      <p:sp>
        <p:nvSpPr>
          <p:cNvPr id="2" name="">
            <a:extLst xmlns:a="http://schemas.openxmlformats.org/drawingml/2006/main">
              <a:ext uri="{FF2B5EF4-FFF2-40B4-BE49-F238E27FC236}">
                <a16:creationId xmlns:a16="http://schemas.microsoft.com/office/drawing/2014/main" id="{3EB7B0A6-37FB-4462-8801-3CA99B288B7F}"/>
              </a:ext>
            </a:extLst>
          </p:cNvPr>
          <p:cNvSpPr>
            <a:spLocks xmlns:a="http://schemas.openxmlformats.org/drawingml/2006/main" noGrp="1"/>
          </p:cNvSpPr>
          <p:nvPr/>
        </p:nvSpPr>
        <p:spPr>
          <a:xfrm xmlns:a="http://schemas.openxmlformats.org/drawingml/2006/main">
            <a:off x="11049000" y="2857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6262"/>
                </a:solidFill>
                <a:latin typeface="Arial"/>
                <a:ea typeface="Arial"/>
                <a:cs typeface="Arial"/>
              </a:defRPr>
            </a:defPPr>
          </a:lstStyle>
          <a:p xmlns:a="http://schemas.openxmlformats.org/drawingml/2006/main">
            <a:pPr>
              <a:defRPr sz="1125" b="0">
                <a:solidFill>
                  <a:srgbClr val="626262"/>
                </a:solidFill>
                <a:latin typeface="Arial"/>
                <a:ea typeface="Arial"/>
                <a:cs typeface="Arial"/>
              </a:defRPr>
            </a:pPr>
            <a:r>
              <a:rPr sz="1125" b="0">
                <a:solidFill>
                  <a:srgbClr val="626262"/>
                </a:solidFill>
                <a:latin typeface="Arial"/>
                <a:ea typeface="Arial"/>
                <a:cs typeface="Arial"/>
              </a:rPr>
              <a:t>31</a:t>
            </a:r>
          </a:p>
        </p:txBody>
      </p:sp>
      <p:sp>
        <p:nvSpPr>
          <p:cNvPr id="3" name="">
            <a:extLst xmlns:a="http://schemas.openxmlformats.org/drawingml/2006/main">
              <a:ext uri="{FF2B5EF4-FFF2-40B4-BE49-F238E27FC236}">
                <a16:creationId xmlns:a16="http://schemas.microsoft.com/office/drawing/2014/main" id="{56F6BE41-AF8A-43A7-9FE4-495586A0C65C}"/>
              </a:ext>
            </a:extLst>
          </p:cNvPr>
          <p:cNvSpPr>
            <a:spLocks xmlns:a="http://schemas.openxmlformats.org/drawingml/2006/main" noGrp="1"/>
          </p:cNvSpPr>
          <p:nvPr/>
        </p:nvSpPr>
        <p:spPr>
          <a:xfrm xmlns:a="http://schemas.openxmlformats.org/drawingml/2006/main">
            <a:off x="533400" y="89535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151515"/>
                </a:solidFill>
                <a:latin typeface="Arial"/>
                <a:ea typeface="Arial"/>
                <a:cs typeface="Arial"/>
              </a:defRPr>
            </a:defPPr>
          </a:lstStyle>
          <a:p xmlns:a="http://schemas.openxmlformats.org/drawingml/2006/main">
            <a:pPr>
              <a:defRPr sz="3300" b="0">
                <a:solidFill>
                  <a:srgbClr val="151515"/>
                </a:solidFill>
                <a:latin typeface="Arial"/>
                <a:ea typeface="Arial"/>
                <a:cs typeface="Arial"/>
              </a:defRPr>
            </a:pPr>
            <a:r>
              <a:rPr sz="3300" b="0">
                <a:solidFill>
                  <a:srgbClr val="151515"/>
                </a:solidFill>
                <a:latin typeface="Arial"/>
                <a:ea typeface="Arial"/>
                <a:cs typeface="Arial"/>
              </a:rPr>
              <a:t>Official resources: viewers and publishing</a:t>
            </a:r>
          </a:p>
        </p:txBody>
      </p:sp>
      <p:sp>
        <p:nvSpPr>
          <p:cNvPr id="4" name="">
            <a:extLst xmlns:a="http://schemas.openxmlformats.org/drawingml/2006/main">
              <a:ext uri="{FF2B5EF4-FFF2-40B4-BE49-F238E27FC236}">
                <a16:creationId xmlns:a16="http://schemas.microsoft.com/office/drawing/2014/main" id="{FE9C3AF1-E6C5-466E-BC1C-32E717E75D66}"/>
              </a:ext>
            </a:extLst>
          </p:cNvPr>
          <p:cNvSpPr>
            <a:spLocks xmlns:a="http://schemas.openxmlformats.org/drawingml/2006/main" noGrp="1"/>
          </p:cNvSpPr>
          <p:nvPr/>
        </p:nvSpPr>
        <p:spPr>
          <a:xfrm xmlns:a="http://schemas.openxmlformats.org/drawingml/2006/main">
            <a:off x="552450" y="16764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6666"/>
                </a:solidFill>
                <a:latin typeface="Arial"/>
                <a:ea typeface="Arial"/>
                <a:cs typeface="Arial"/>
              </a:defRPr>
            </a:defPPr>
          </a:lstStyle>
          <a:p xmlns:a="http://schemas.openxmlformats.org/drawingml/2006/main">
            <a:pPr>
              <a:defRPr sz="1875" b="0">
                <a:solidFill>
                  <a:srgbClr val="666666"/>
                </a:solidFill>
                <a:latin typeface="Arial"/>
                <a:ea typeface="Arial"/>
                <a:cs typeface="Arial"/>
              </a:defRPr>
            </a:pPr>
            <a:r>
              <a:rPr sz="1875" b="0">
                <a:solidFill>
                  <a:srgbClr val="666666"/>
                </a:solidFill>
                <a:latin typeface="Arial"/>
                <a:ea typeface="Arial"/>
                <a:cs typeface="Arial"/>
              </a:rPr>
              <a:t>Use the documentation for the versions you actually deploy.</a:t>
            </a:r>
          </a:p>
        </p:txBody>
      </p:sp>
      <p:sp>
        <p:nvSpPr>
          <p:cNvPr id="5" name="">
            <a:extLst xmlns:a="http://schemas.openxmlformats.org/drawingml/2006/main">
              <a:ext uri="{FF2B5EF4-FFF2-40B4-BE49-F238E27FC236}">
                <a16:creationId xmlns:a16="http://schemas.microsoft.com/office/drawing/2014/main" id="{B23A094A-B0E5-489B-B6EB-3CEC8C062A1C}"/>
              </a:ext>
            </a:extLst>
          </p:cNvPr>
          <p:cNvSpPr>
            <a:spLocks xmlns:a="http://schemas.openxmlformats.org/drawingml/2006/main" noGrp="1"/>
          </p:cNvSpPr>
          <p:nvPr/>
        </p:nvSpPr>
        <p:spPr>
          <a:xfrm xmlns:a="http://schemas.openxmlformats.org/drawingml/2006/main">
            <a:off x="552450" y="260032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Product viewer</a:t>
            </a:r>
          </a:p>
        </p:txBody>
      </p:sp>
      <p:sp>
        <p:nvSpPr>
          <p:cNvPr id="6" name="">
            <a:extLst xmlns:a="http://schemas.openxmlformats.org/drawingml/2006/main">
              <a:ext uri="{FF2B5EF4-FFF2-40B4-BE49-F238E27FC236}">
                <a16:creationId xmlns:a16="http://schemas.microsoft.com/office/drawing/2014/main" id="{6036E654-5850-4FCB-8F02-A1A1046EA7D8}"/>
              </a:ext>
            </a:extLst>
          </p:cNvPr>
          <p:cNvSpPr>
            <a:spLocks xmlns:a="http://schemas.openxmlformats.org/drawingml/2006/main" noGrp="1"/>
          </p:cNvSpPr>
          <p:nvPr/>
        </p:nvSpPr>
        <p:spPr>
          <a:xfrm xmlns:a="http://schemas.openxmlformats.org/drawingml/2006/main">
            <a:off x="3886200" y="26003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modelviewer.dev</a:t>
            </a:r>
          </a:p>
        </p:txBody>
      </p:sp>
      <p:sp>
        <p:nvSpPr>
          <p:cNvPr id="7" name="">
            <a:extLst xmlns:a="http://schemas.openxmlformats.org/drawingml/2006/main">
              <a:ext uri="{FF2B5EF4-FFF2-40B4-BE49-F238E27FC236}">
                <a16:creationId xmlns:a16="http://schemas.microsoft.com/office/drawing/2014/main" id="{D624CAF4-A2C4-4B32-BBBD-337908A0B91D}"/>
              </a:ext>
            </a:extLst>
          </p:cNvPr>
          <p:cNvSpPr>
            <a:spLocks xmlns:a="http://schemas.openxmlformats.org/drawingml/2006/main" noGrp="1"/>
          </p:cNvSpPr>
          <p:nvPr/>
        </p:nvSpPr>
        <p:spPr>
          <a:xfrm xmlns:a="http://schemas.openxmlformats.org/drawingml/2006/main">
            <a:off x="552450" y="332422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Visual authoring</a:t>
            </a:r>
          </a:p>
        </p:txBody>
      </p:sp>
      <p:sp>
        <p:nvSpPr>
          <p:cNvPr id="8" name="">
            <a:extLst xmlns:a="http://schemas.openxmlformats.org/drawingml/2006/main">
              <a:ext uri="{FF2B5EF4-FFF2-40B4-BE49-F238E27FC236}">
                <a16:creationId xmlns:a16="http://schemas.microsoft.com/office/drawing/2014/main" id="{8B8A8C59-C27A-4657-B91A-81A763E48340}"/>
              </a:ext>
            </a:extLst>
          </p:cNvPr>
          <p:cNvSpPr>
            <a:spLocks xmlns:a="http://schemas.openxmlformats.org/drawingml/2006/main" noGrp="1"/>
          </p:cNvSpPr>
          <p:nvPr/>
        </p:nvSpPr>
        <p:spPr>
          <a:xfrm xmlns:a="http://schemas.openxmlformats.org/drawingml/2006/main">
            <a:off x="3886200" y="33242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Spline Viewer documentation</a:t>
            </a:r>
          </a:p>
        </p:txBody>
      </p:sp>
      <p:sp>
        <p:nvSpPr>
          <p:cNvPr id="9" name="">
            <a:extLst xmlns:a="http://schemas.openxmlformats.org/drawingml/2006/main">
              <a:ext uri="{FF2B5EF4-FFF2-40B4-BE49-F238E27FC236}">
                <a16:creationId xmlns:a16="http://schemas.microsoft.com/office/drawing/2014/main" id="{2DFF74EF-BA6A-455C-BE4A-C6887809B36A}"/>
              </a:ext>
            </a:extLst>
          </p:cNvPr>
          <p:cNvSpPr>
            <a:spLocks xmlns:a="http://schemas.openxmlformats.org/drawingml/2006/main" noGrp="1"/>
          </p:cNvSpPr>
          <p:nvPr/>
        </p:nvSpPr>
        <p:spPr>
          <a:xfrm xmlns:a="http://schemas.openxmlformats.org/drawingml/2006/main">
            <a:off x="552450" y="404812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React integration</a:t>
            </a:r>
          </a:p>
        </p:txBody>
      </p:sp>
      <p:sp>
        <p:nvSpPr>
          <p:cNvPr id="10" name="">
            <a:extLst xmlns:a="http://schemas.openxmlformats.org/drawingml/2006/main">
              <a:ext uri="{FF2B5EF4-FFF2-40B4-BE49-F238E27FC236}">
                <a16:creationId xmlns:a16="http://schemas.microsoft.com/office/drawing/2014/main" id="{B084171E-B7A1-4B1C-9818-9B925C30A67E}"/>
              </a:ext>
            </a:extLst>
          </p:cNvPr>
          <p:cNvSpPr>
            <a:spLocks xmlns:a="http://schemas.openxmlformats.org/drawingml/2006/main" noGrp="1"/>
          </p:cNvSpPr>
          <p:nvPr/>
        </p:nvSpPr>
        <p:spPr>
          <a:xfrm xmlns:a="http://schemas.openxmlformats.org/drawingml/2006/main">
            <a:off x="3886200" y="40481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r3f.docs.pmnd.rs</a:t>
            </a:r>
          </a:p>
        </p:txBody>
      </p:sp>
      <p:sp>
        <p:nvSpPr>
          <p:cNvPr id="11" name="">
            <a:extLst xmlns:a="http://schemas.openxmlformats.org/drawingml/2006/main">
              <a:ext uri="{FF2B5EF4-FFF2-40B4-BE49-F238E27FC236}">
                <a16:creationId xmlns:a16="http://schemas.microsoft.com/office/drawing/2014/main" id="{E577C17E-9B47-491D-B2AC-4D0BC0370E82}"/>
              </a:ext>
            </a:extLst>
          </p:cNvPr>
          <p:cNvSpPr>
            <a:spLocks xmlns:a="http://schemas.openxmlformats.org/drawingml/2006/main" noGrp="1"/>
          </p:cNvSpPr>
          <p:nvPr/>
        </p:nvSpPr>
        <p:spPr>
          <a:xfrm xmlns:a="http://schemas.openxmlformats.org/drawingml/2006/main">
            <a:off x="552450" y="477202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Application engines</a:t>
            </a:r>
          </a:p>
        </p:txBody>
      </p:sp>
      <p:sp>
        <p:nvSpPr>
          <p:cNvPr id="12" name="">
            <a:extLst xmlns:a="http://schemas.openxmlformats.org/drawingml/2006/main">
              <a:ext uri="{FF2B5EF4-FFF2-40B4-BE49-F238E27FC236}">
                <a16:creationId xmlns:a16="http://schemas.microsoft.com/office/drawing/2014/main" id="{4BAEFB38-7B85-4163-9DD3-41F2E4560D14}"/>
              </a:ext>
            </a:extLst>
          </p:cNvPr>
          <p:cNvSpPr>
            <a:spLocks xmlns:a="http://schemas.openxmlformats.org/drawingml/2006/main" noGrp="1"/>
          </p:cNvSpPr>
          <p:nvPr/>
        </p:nvSpPr>
        <p:spPr>
          <a:xfrm xmlns:a="http://schemas.openxmlformats.org/drawingml/2006/main">
            <a:off x="3886200" y="47720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babylonjs.com and developer.playcanvas.com</a:t>
            </a:r>
          </a:p>
        </p:txBody>
      </p:sp>
      <p:sp>
        <p:nvSpPr>
          <p:cNvPr id="13" name="">
            <a:extLst xmlns:a="http://schemas.openxmlformats.org/drawingml/2006/main">
              <a:ext uri="{FF2B5EF4-FFF2-40B4-BE49-F238E27FC236}">
                <a16:creationId xmlns:a16="http://schemas.microsoft.com/office/drawing/2014/main" id="{912AA87C-C22D-40B6-9592-588C7EDC46B8}"/>
              </a:ext>
            </a:extLst>
          </p:cNvPr>
          <p:cNvSpPr>
            <a:spLocks xmlns:a="http://schemas.openxmlformats.org/drawingml/2006/main" noGrp="1"/>
          </p:cNvSpPr>
          <p:nvPr/>
        </p:nvSpPr>
        <p:spPr>
          <a:xfrm xmlns:a="http://schemas.openxmlformats.org/drawingml/2006/main">
            <a:off x="552450" y="549592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61A86"/>
                </a:solidFill>
                <a:latin typeface="Arial"/>
                <a:ea typeface="Arial"/>
                <a:cs typeface="Arial"/>
              </a:defRPr>
            </a:defPPr>
          </a:lstStyle>
          <a:p xmlns:a="http://schemas.openxmlformats.org/drawingml/2006/main">
            <a:pPr>
              <a:defRPr sz="2025" b="1">
                <a:solidFill>
                  <a:srgbClr val="961A86"/>
                </a:solidFill>
                <a:latin typeface="Arial"/>
                <a:ea typeface="Arial"/>
                <a:cs typeface="Arial"/>
              </a:defRPr>
            </a:pPr>
            <a:r>
              <a:rPr sz="2025" b="1">
                <a:solidFill>
                  <a:srgbClr val="961A86"/>
                </a:solidFill>
                <a:latin typeface="Arial"/>
                <a:ea typeface="Arial"/>
                <a:cs typeface="Arial"/>
              </a:rPr>
              <a:t>Website embedding</a:t>
            </a:r>
          </a:p>
        </p:txBody>
      </p:sp>
      <p:sp>
        <p:nvSpPr>
          <p:cNvPr id="14" name="">
            <a:extLst xmlns:a="http://schemas.openxmlformats.org/drawingml/2006/main">
              <a:ext uri="{FF2B5EF4-FFF2-40B4-BE49-F238E27FC236}">
                <a16:creationId xmlns:a16="http://schemas.microsoft.com/office/drawing/2014/main" id="{41EFA8F2-201E-4BA5-83A7-C61DA57D492D}"/>
              </a:ext>
            </a:extLst>
          </p:cNvPr>
          <p:cNvSpPr>
            <a:spLocks xmlns:a="http://schemas.openxmlformats.org/drawingml/2006/main" noGrp="1"/>
          </p:cNvSpPr>
          <p:nvPr/>
        </p:nvSpPr>
        <p:spPr>
          <a:xfrm xmlns:a="http://schemas.openxmlformats.org/drawingml/2006/main">
            <a:off x="3886200" y="54959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Webflow Custom code embed guide</a:t>
            </a:r>
          </a:p>
        </p:txBody>
      </p:sp>
    </p:spTree>
    <p:extLst>
      <p:ext uri="{BB962C8B-B14F-4D97-AF65-F5344CB8AC3E}">
        <p14:creationId xmlns:p14="http://schemas.microsoft.com/office/powerpoint/2010/main" val="1601451165"/>
      </p:ext>
    </p:extLst>
  </p:cSld>
</p:sld>
</file>

<file path=ppt/slides/slide32.xml><?xml version="1.0" encoding="utf-8"?>
<p:sld xmlns:p="http://schemas.openxmlformats.org/presentationml/2006/main">
  <p:cSld>
    <p:bg>
      <p:bgPr>
        <a:solidFill xmlns:a="http://schemas.openxmlformats.org/drawingml/2006/main">
          <a:srgbClr val="15151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F2311CF-8DDE-484F-B556-BF2C654BC884}"/>
              </a:ext>
            </a:extLst>
          </p:cNvPr>
          <p:cNvSpPr>
            <a:spLocks xmlns:a="http://schemas.openxmlformats.org/drawingml/2006/main" noGrp="1"/>
          </p:cNvSpPr>
          <p:nvPr/>
        </p:nvSpPr>
        <p:spPr>
          <a:xfrm xmlns:a="http://schemas.openxmlformats.org/drawingml/2006/main">
            <a:off x="533400" y="285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BBBBB"/>
                </a:solidFill>
                <a:latin typeface="Arial"/>
                <a:ea typeface="Arial"/>
                <a:cs typeface="Arial"/>
              </a:defRPr>
            </a:defPPr>
          </a:lstStyle>
          <a:p xmlns:a="http://schemas.openxmlformats.org/drawingml/2006/main">
            <a:pPr>
              <a:defRPr sz="1125" b="0">
                <a:solidFill>
                  <a:srgbClr val="BBBBBB"/>
                </a:solidFill>
                <a:latin typeface="Arial"/>
                <a:ea typeface="Arial"/>
                <a:cs typeface="Arial"/>
              </a:defRPr>
            </a:pPr>
            <a:r>
              <a:rPr sz="1125" b="0">
                <a:solidFill>
                  <a:srgbClr val="BBBBBB"/>
                </a:solidFill>
                <a:latin typeface="Arial"/>
                <a:ea typeface="Arial"/>
                <a:cs typeface="Arial"/>
              </a:rPr>
              <a:t>LIGHTMETRICS   /   3D EXPLORATION</a:t>
            </a:r>
          </a:p>
        </p:txBody>
      </p:sp>
      <p:sp>
        <p:nvSpPr>
          <p:cNvPr id="2" name="">
            <a:extLst xmlns:a="http://schemas.openxmlformats.org/drawingml/2006/main">
              <a:ext uri="{FF2B5EF4-FFF2-40B4-BE49-F238E27FC236}">
                <a16:creationId xmlns:a16="http://schemas.microsoft.com/office/drawing/2014/main" id="{9330C166-F7EE-41AD-B40E-11494288044A}"/>
              </a:ext>
            </a:extLst>
          </p:cNvPr>
          <p:cNvSpPr>
            <a:spLocks xmlns:a="http://schemas.openxmlformats.org/drawingml/2006/main" noGrp="1"/>
          </p:cNvSpPr>
          <p:nvPr/>
        </p:nvSpPr>
        <p:spPr>
          <a:xfrm xmlns:a="http://schemas.openxmlformats.org/drawingml/2006/main">
            <a:off x="11049000" y="2857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BBBBB"/>
                </a:solidFill>
                <a:latin typeface="Arial"/>
                <a:ea typeface="Arial"/>
                <a:cs typeface="Arial"/>
              </a:defRPr>
            </a:defPPr>
          </a:lstStyle>
          <a:p xmlns:a="http://schemas.openxmlformats.org/drawingml/2006/main">
            <a:pPr>
              <a:defRPr sz="1125" b="0">
                <a:solidFill>
                  <a:srgbClr val="BBBBBB"/>
                </a:solidFill>
                <a:latin typeface="Arial"/>
                <a:ea typeface="Arial"/>
                <a:cs typeface="Arial"/>
              </a:defRPr>
            </a:pPr>
            <a:r>
              <a:rPr sz="1125" b="0">
                <a:solidFill>
                  <a:srgbClr val="BBBBBB"/>
                </a:solidFill>
                <a:latin typeface="Arial"/>
                <a:ea typeface="Arial"/>
                <a:cs typeface="Arial"/>
              </a:rPr>
              <a:t>32</a:t>
            </a:r>
          </a:p>
        </p:txBody>
      </p:sp>
      <p:sp>
        <p:nvSpPr>
          <p:cNvPr id="3" name="">
            <a:extLst xmlns:a="http://schemas.openxmlformats.org/drawingml/2006/main">
              <a:ext uri="{FF2B5EF4-FFF2-40B4-BE49-F238E27FC236}">
                <a16:creationId xmlns:a16="http://schemas.microsoft.com/office/drawing/2014/main" id="{612E15FA-6FC1-415E-98CC-9B0A0EED660A}"/>
              </a:ext>
            </a:extLst>
          </p:cNvPr>
          <p:cNvSpPr>
            <a:spLocks xmlns:a="http://schemas.openxmlformats.org/drawingml/2006/main" noGrp="1"/>
          </p:cNvSpPr>
          <p:nvPr/>
        </p:nvSpPr>
        <p:spPr>
          <a:xfrm xmlns:a="http://schemas.openxmlformats.org/drawingml/2006/main">
            <a:off x="533400" y="89535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FFFFFF"/>
                </a:solidFill>
                <a:latin typeface="Arial"/>
                <a:ea typeface="Arial"/>
                <a:cs typeface="Arial"/>
              </a:defRPr>
            </a:defPPr>
          </a:lstStyle>
          <a:p xmlns:a="http://schemas.openxmlformats.org/drawingml/2006/main">
            <a:pPr>
              <a:defRPr sz="3300" b="0">
                <a:solidFill>
                  <a:srgbClr val="FFFFFF"/>
                </a:solidFill>
                <a:latin typeface="Arial"/>
                <a:ea typeface="Arial"/>
                <a:cs typeface="Arial"/>
              </a:defRPr>
            </a:pPr>
            <a:r>
              <a:rPr sz="3300" b="0">
                <a:solidFill>
                  <a:srgbClr val="FFFFFF"/>
                </a:solidFill>
                <a:latin typeface="Arial"/>
                <a:ea typeface="Arial"/>
                <a:cs typeface="Arial"/>
              </a:rPr>
              <a:t>The recommended starting point</a:t>
            </a:r>
          </a:p>
        </p:txBody>
      </p:sp>
      <p:sp>
        <p:nvSpPr>
          <p:cNvPr id="4" name="">
            <a:extLst xmlns:a="http://schemas.openxmlformats.org/drawingml/2006/main">
              <a:ext uri="{FF2B5EF4-FFF2-40B4-BE49-F238E27FC236}">
                <a16:creationId xmlns:a16="http://schemas.microsoft.com/office/drawing/2014/main" id="{B63481CF-6718-4CAD-8AF2-19CCADCC7B32}"/>
              </a:ext>
            </a:extLst>
          </p:cNvPr>
          <p:cNvSpPr>
            <a:spLocks xmlns:a="http://schemas.openxmlformats.org/drawingml/2006/main" noGrp="1"/>
          </p:cNvSpPr>
          <p:nvPr/>
        </p:nvSpPr>
        <p:spPr>
          <a:xfrm xmlns:a="http://schemas.openxmlformats.org/drawingml/2006/main">
            <a:off x="552450" y="16764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BBBBB"/>
                </a:solidFill>
                <a:latin typeface="Arial"/>
                <a:ea typeface="Arial"/>
                <a:cs typeface="Arial"/>
              </a:defRPr>
            </a:defPPr>
          </a:lstStyle>
          <a:p xmlns:a="http://schemas.openxmlformats.org/drawingml/2006/main">
            <a:pPr>
              <a:defRPr sz="1875" b="0">
                <a:solidFill>
                  <a:srgbClr val="BBBBBB"/>
                </a:solidFill>
                <a:latin typeface="Arial"/>
                <a:ea typeface="Arial"/>
                <a:cs typeface="Arial"/>
              </a:defRPr>
            </a:pPr>
            <a:r>
              <a:rPr sz="1875" b="0">
                <a:solidFill>
                  <a:srgbClr val="BBBBBB"/>
                </a:solidFill>
                <a:latin typeface="Arial"/>
                <a:ea typeface="Arial"/>
                <a:cs typeface="Arial"/>
              </a:rPr>
              <a:t>One approved model. One useful interaction. One tested website.</a:t>
            </a:r>
          </a:p>
        </p:txBody>
      </p:sp>
      <p:sp>
        <p:nvSpPr>
          <p:cNvPr id="5" name="">
            <a:extLst xmlns:a="http://schemas.openxmlformats.org/drawingml/2006/main">
              <a:ext uri="{FF2B5EF4-FFF2-40B4-BE49-F238E27FC236}">
                <a16:creationId xmlns:a16="http://schemas.microsoft.com/office/drawing/2014/main" id="{F895709F-2CD9-4790-ABE1-1C040339B048}"/>
              </a:ext>
            </a:extLst>
          </p:cNvPr>
          <p:cNvSpPr>
            <a:spLocks xmlns:a="http://schemas.openxmlformats.org/drawingml/2006/main" noGrp="1"/>
          </p:cNvSpPr>
          <p:nvPr/>
        </p:nvSpPr>
        <p:spPr>
          <a:xfrm xmlns:a="http://schemas.openxmlformats.org/drawingml/2006/main">
            <a:off x="552450" y="2600325"/>
            <a:ext cx="31432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D18AC7"/>
                </a:solidFill>
                <a:latin typeface="Arial"/>
                <a:ea typeface="Arial"/>
                <a:cs typeface="Arial"/>
              </a:defRPr>
            </a:defPPr>
          </a:lstStyle>
          <a:p xmlns:a="http://schemas.openxmlformats.org/drawingml/2006/main">
            <a:pPr>
              <a:defRPr sz="2025" b="1">
                <a:solidFill>
                  <a:srgbClr val="D18AC7"/>
                </a:solidFill>
                <a:latin typeface="Arial"/>
                <a:ea typeface="Arial"/>
                <a:cs typeface="Arial"/>
              </a:defRPr>
            </a:pPr>
            <a:r>
              <a:rPr sz="2025" b="1">
                <a:solidFill>
                  <a:srgbClr val="D18AC7"/>
                </a:solidFill>
                <a:latin typeface="Arial"/>
                <a:ea typeface="Arial"/>
                <a:cs typeface="Arial"/>
              </a:rPr>
              <a:t>For LightMetrics</a:t>
            </a:r>
          </a:p>
        </p:txBody>
      </p:sp>
      <p:sp>
        <p:nvSpPr>
          <p:cNvPr id="6" name="">
            <a:extLst xmlns:a="http://schemas.openxmlformats.org/drawingml/2006/main">
              <a:ext uri="{FF2B5EF4-FFF2-40B4-BE49-F238E27FC236}">
                <a16:creationId xmlns:a16="http://schemas.microsoft.com/office/drawing/2014/main" id="{45A4C1A1-DBD0-4D01-96EA-CB961E39E55A}"/>
              </a:ext>
            </a:extLst>
          </p:cNvPr>
          <p:cNvSpPr>
            <a:spLocks xmlns:a="http://schemas.openxmlformats.org/drawingml/2006/main" noGrp="1"/>
          </p:cNvSpPr>
          <p:nvPr/>
        </p:nvSpPr>
        <p:spPr>
          <a:xfrm xmlns:a="http://schemas.openxmlformats.org/drawingml/2006/main">
            <a:off x="3886200" y="2600325"/>
            <a:ext cx="77152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Refine the camera asset, then keep the existing Three.js viewer.</a:t>
            </a:r>
          </a:p>
        </p:txBody>
      </p:sp>
      <p:sp>
        <p:nvSpPr>
          <p:cNvPr id="7" name="">
            <a:extLst xmlns:a="http://schemas.openxmlformats.org/drawingml/2006/main">
              <a:ext uri="{FF2B5EF4-FFF2-40B4-BE49-F238E27FC236}">
                <a16:creationId xmlns:a16="http://schemas.microsoft.com/office/drawing/2014/main" id="{422EDD45-4B31-44F8-9DF1-5E6B42536BD4}"/>
              </a:ext>
            </a:extLst>
          </p:cNvPr>
          <p:cNvSpPr>
            <a:spLocks xmlns:a="http://schemas.openxmlformats.org/drawingml/2006/main" noGrp="1"/>
          </p:cNvSpPr>
          <p:nvPr/>
        </p:nvSpPr>
        <p:spPr>
          <a:xfrm xmlns:a="http://schemas.openxmlformats.org/drawingml/2006/main">
            <a:off x="552450" y="3771900"/>
            <a:ext cx="31432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D18AC7"/>
                </a:solidFill>
                <a:latin typeface="Arial"/>
                <a:ea typeface="Arial"/>
                <a:cs typeface="Arial"/>
              </a:defRPr>
            </a:defPPr>
          </a:lstStyle>
          <a:p xmlns:a="http://schemas.openxmlformats.org/drawingml/2006/main">
            <a:pPr>
              <a:defRPr sz="2025" b="1">
                <a:solidFill>
                  <a:srgbClr val="D18AC7"/>
                </a:solidFill>
                <a:latin typeface="Arial"/>
                <a:ea typeface="Arial"/>
                <a:cs typeface="Arial"/>
              </a:defRPr>
            </a:pPr>
            <a:r>
              <a:rPr sz="2025" b="1">
                <a:solidFill>
                  <a:srgbClr val="D18AC7"/>
                </a:solidFill>
                <a:latin typeface="Arial"/>
                <a:ea typeface="Arial"/>
                <a:cs typeface="Arial"/>
              </a:rPr>
              <a:t>For a simple new product embed</a:t>
            </a:r>
          </a:p>
        </p:txBody>
      </p:sp>
      <p:sp>
        <p:nvSpPr>
          <p:cNvPr id="8" name="">
            <a:extLst xmlns:a="http://schemas.openxmlformats.org/drawingml/2006/main">
              <a:ext uri="{FF2B5EF4-FFF2-40B4-BE49-F238E27FC236}">
                <a16:creationId xmlns:a16="http://schemas.microsoft.com/office/drawing/2014/main" id="{348DEFC5-05CB-4806-97A8-4EA297E2DC71}"/>
              </a:ext>
            </a:extLst>
          </p:cNvPr>
          <p:cNvSpPr>
            <a:spLocks xmlns:a="http://schemas.openxmlformats.org/drawingml/2006/main" noGrp="1"/>
          </p:cNvSpPr>
          <p:nvPr/>
        </p:nvSpPr>
        <p:spPr>
          <a:xfrm xmlns:a="http://schemas.openxmlformats.org/drawingml/2006/main">
            <a:off x="3886200" y="3771900"/>
            <a:ext cx="77152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Try model-viewer before building custom infrastructure.</a:t>
            </a:r>
          </a:p>
        </p:txBody>
      </p:sp>
      <p:sp>
        <p:nvSpPr>
          <p:cNvPr id="9" name="">
            <a:extLst xmlns:a="http://schemas.openxmlformats.org/drawingml/2006/main">
              <a:ext uri="{FF2B5EF4-FFF2-40B4-BE49-F238E27FC236}">
                <a16:creationId xmlns:a16="http://schemas.microsoft.com/office/drawing/2014/main" id="{D9679C4F-CBCD-49AE-9425-06E840301131}"/>
              </a:ext>
            </a:extLst>
          </p:cNvPr>
          <p:cNvSpPr>
            <a:spLocks xmlns:a="http://schemas.openxmlformats.org/drawingml/2006/main" noGrp="1"/>
          </p:cNvSpPr>
          <p:nvPr/>
        </p:nvSpPr>
        <p:spPr>
          <a:xfrm xmlns:a="http://schemas.openxmlformats.org/drawingml/2006/main">
            <a:off x="552450" y="4943475"/>
            <a:ext cx="31432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D18AC7"/>
                </a:solidFill>
                <a:latin typeface="Arial"/>
                <a:ea typeface="Arial"/>
                <a:cs typeface="Arial"/>
              </a:defRPr>
            </a:defPPr>
          </a:lstStyle>
          <a:p xmlns:a="http://schemas.openxmlformats.org/drawingml/2006/main">
            <a:pPr>
              <a:defRPr sz="2025" b="1">
                <a:solidFill>
                  <a:srgbClr val="D18AC7"/>
                </a:solidFill>
                <a:latin typeface="Arial"/>
                <a:ea typeface="Arial"/>
                <a:cs typeface="Arial"/>
              </a:defRPr>
            </a:pPr>
            <a:r>
              <a:rPr sz="2025" b="1">
                <a:solidFill>
                  <a:srgbClr val="D18AC7"/>
                </a:solidFill>
                <a:latin typeface="Arial"/>
                <a:ea typeface="Arial"/>
                <a:cs typeface="Arial"/>
              </a:rPr>
              <a:t>For more ambitious experiences</a:t>
            </a:r>
          </a:p>
        </p:txBody>
      </p:sp>
      <p:sp>
        <p:nvSpPr>
          <p:cNvPr id="10" name="">
            <a:extLst xmlns:a="http://schemas.openxmlformats.org/drawingml/2006/main">
              <a:ext uri="{FF2B5EF4-FFF2-40B4-BE49-F238E27FC236}">
                <a16:creationId xmlns:a16="http://schemas.microsoft.com/office/drawing/2014/main" id="{D6A4DB47-6A36-434A-9EA0-8A2BB509EA8C}"/>
              </a:ext>
            </a:extLst>
          </p:cNvPr>
          <p:cNvSpPr>
            <a:spLocks xmlns:a="http://schemas.openxmlformats.org/drawingml/2006/main" noGrp="1"/>
          </p:cNvSpPr>
          <p:nvPr/>
        </p:nvSpPr>
        <p:spPr>
          <a:xfrm xmlns:a="http://schemas.openxmlformats.org/drawingml/2006/main">
            <a:off x="3886200" y="4943475"/>
            <a:ext cx="77152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Select the engine after prototyping the hardest interaction.</a:t>
            </a:r>
          </a:p>
        </p:txBody>
      </p:sp>
    </p:spTree>
    <p:extLst>
      <p:ext uri="{BB962C8B-B14F-4D97-AF65-F5344CB8AC3E}">
        <p14:creationId xmlns:p14="http://schemas.microsoft.com/office/powerpoint/2010/main" val="1452356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2026-10-09T05:57:33.0170000Z</dcterms:created>
  <dcterms:modified xsi:type="dcterms:W3CDTF">2026-10-09T05:57:33.0170000Z</dcterms:modified>
</coreProperties>
</file>